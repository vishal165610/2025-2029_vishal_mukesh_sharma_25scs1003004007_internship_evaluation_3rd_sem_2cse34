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Edurack is a live EdTech startup; you were the core full stack developer who took it from code to production at www.edurack.in.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short personal introduction: your role as core developer, what you owned, and the stack you worked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Edurack does in one breath: CBT mock tests, weakness analysis, and a mentor marketplace for NEET, JEE, CUET and IPMAT.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gap in the market, then show how each part of the platform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heart of your contribution. Walk through each responsibility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user type has its own portal, with its own login and dashboard. This is why role-based access control mattered so much in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palette on the right mirrors the real exam status colours used in the platform. Emphasise that grading is done on the server so answers can never be read from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student journey across the top, then explain what mentors get underneath. This module needed the most database design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security point: the client never decides the price. The server looks it up, creates the order, and only unlocks content after verifying the payment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built in from the start, not added later. Highlight that secrets and hashing happen only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portals keep the business running: admins operate the platform, promoters bring in students, and the intern hub runs Edurack's own internship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the whole codebase is TypeScript, with server functions replacing a separate REST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talks only to server functions. Every third-party service is reached from the server, so secrets never reach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counted from the source code. The exams are NEET, JEE, CUET and IPMAT; revenue streams are batches, sessions, and standalone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or two of these to tell as a short story. The SES to Resend migration is a good example of designing an interface so a vendor can be swapped without touching callers.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outcome back to something concrete you built during the internship.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the audience to visit www.edurack.in and ask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1.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E14"/>
        </a:solidFill>
      </p:bgPr>
    </p:bg>
    <p:spTree>
      <p:nvGrpSpPr>
        <p:cNvPr id="1" name=""/>
        <p:cNvGrpSpPr/>
        <p:nvPr/>
      </p:nvGrpSpPr>
      <p:grpSpPr>
        <a:xfrm>
          <a:off x="0" y="0"/>
          <a:ext cx="0" cy="0"/>
          <a:chOff x="0" y="0"/>
          <a:chExt cx="0" cy="0"/>
        </a:xfrm>
      </p:grpSpPr>
      <p:sp>
        <p:nvSpPr>
          <p:cNvPr id="2" name="Shape 0"/>
          <p:cNvSpPr/>
          <p:nvPr/>
        </p:nvSpPr>
        <p:spPr>
          <a:xfrm>
            <a:off x="7589520" y="822960"/>
            <a:ext cx="4023360" cy="5212080"/>
          </a:xfrm>
          <a:prstGeom prst="roundRect">
            <a:avLst>
              <a:gd name="adj" fmla="val 9091"/>
            </a:avLst>
          </a:prstGeom>
          <a:solidFill>
            <a:srgbClr val="11161E"/>
          </a:solidFill>
          <a:ln w="9525">
            <a:solidFill>
              <a:srgbClr val="1F2A37"/>
            </a:solidFill>
            <a:prstDash val="solid"/>
          </a:ln>
        </p:spPr>
      </p:sp>
      <p:pic>
        <p:nvPicPr>
          <p:cNvPr id="3" name="Image 0" descr="logo2x.png">    </p:cNvPr>
          <p:cNvPicPr>
            <a:picLocks noChangeAspect="1"/>
          </p:cNvPicPr>
          <p:nvPr/>
        </p:nvPicPr>
        <p:blipFill>
          <a:blip r:embed="rId1"/>
          <a:stretch>
            <a:fillRect/>
          </a:stretch>
        </p:blipFill>
        <p:spPr>
          <a:xfrm>
            <a:off x="8549640" y="1234440"/>
            <a:ext cx="2103120" cy="2382926"/>
          </a:xfrm>
          <a:prstGeom prst="rect">
            <a:avLst/>
          </a:prstGeom>
        </p:spPr>
      </p:pic>
      <p:sp>
        <p:nvSpPr>
          <p:cNvPr id="4" name="Text 1"/>
          <p:cNvSpPr txBox="1"/>
          <p:nvPr/>
        </p:nvSpPr>
        <p:spPr>
          <a:xfrm>
            <a:off x="7589520" y="3977640"/>
            <a:ext cx="4023360" cy="457200"/>
          </a:xfrm>
          <a:prstGeom prst="rect">
            <a:avLst/>
          </a:prstGeom>
          <a:noFill/>
          <a:ln/>
        </p:spPr>
        <p:txBody>
          <a:bodyPr wrap="square" lIns="0" tIns="0" rIns="0" bIns="0" rtlCol="0" anchor="t"/>
          <a:lstStyle/>
          <a:p>
            <a:pPr algn="ctr" indent="0" marL="0">
              <a:buNone/>
            </a:pPr>
            <a:r>
              <a:rPr lang="en-US" sz="2600" b="1" dirty="0">
                <a:solidFill>
                  <a:srgbClr val="ECEFF2"/>
                </a:solidFill>
                <a:latin typeface="Arial" pitchFamily="34" charset="0"/>
                <a:ea typeface="Arial" pitchFamily="34" charset="-122"/>
                <a:cs typeface="Arial" pitchFamily="34" charset="-120"/>
              </a:rPr>
              <a:t>edurack.in</a:t>
            </a:r>
            <a:endParaRPr lang="en-US" sz="2600" dirty="0"/>
          </a:p>
        </p:txBody>
      </p:sp>
      <p:sp>
        <p:nvSpPr>
          <p:cNvPr id="5" name="Text 2"/>
          <p:cNvSpPr txBox="1"/>
          <p:nvPr/>
        </p:nvSpPr>
        <p:spPr>
          <a:xfrm>
            <a:off x="7863840" y="4572000"/>
            <a:ext cx="3474720" cy="914400"/>
          </a:xfrm>
          <a:prstGeom prst="rect">
            <a:avLst/>
          </a:prstGeom>
          <a:noFill/>
          <a:ln/>
        </p:spPr>
        <p:txBody>
          <a:bodyPr wrap="square" lIns="0" tIns="0" rIns="0" bIns="0" rtlCol="0" anchor="t"/>
          <a:lstStyle/>
          <a:p>
            <a:pPr algn="ctr" indent="0" marL="0">
              <a:buNone/>
            </a:pPr>
            <a:r>
              <a:rPr lang="en-US" sz="1400" dirty="0">
                <a:solidFill>
                  <a:srgbClr val="85919B"/>
                </a:solidFill>
                <a:latin typeface="Calibri" pitchFamily="34" charset="0"/>
                <a:ea typeface="Calibri" pitchFamily="34" charset="-122"/>
                <a:cs typeface="Calibri" pitchFamily="34" charset="-120"/>
              </a:rPr>
              <a:t>Take the Test. Know Your Weaknesses.</a:t>
            </a:r>
            <a:endParaRPr lang="en-US" sz="1400" dirty="0"/>
          </a:p>
          <a:p>
            <a:pPr algn="ctr" indent="0" marL="0">
              <a:buNone/>
            </a:pPr>
            <a:r>
              <a:rPr lang="en-US" sz="1400" dirty="0">
                <a:solidFill>
                  <a:srgbClr val="85919B"/>
                </a:solidFill>
                <a:latin typeface="Calibri" pitchFamily="34" charset="0"/>
                <a:ea typeface="Calibri" pitchFamily="34" charset="-122"/>
                <a:cs typeface="Calibri" pitchFamily="34" charset="-120"/>
              </a:rPr>
              <a:t>Find the Right Mentor.</a:t>
            </a:r>
            <a:endParaRPr lang="en-US" sz="1400" dirty="0"/>
          </a:p>
        </p:txBody>
      </p:sp>
      <p:sp>
        <p:nvSpPr>
          <p:cNvPr id="6" name="Shape 3"/>
          <p:cNvSpPr/>
          <p:nvPr/>
        </p:nvSpPr>
        <p:spPr>
          <a:xfrm>
            <a:off x="548640" y="960120"/>
            <a:ext cx="2504359" cy="365760"/>
          </a:xfrm>
          <a:prstGeom prst="roundRect">
            <a:avLst>
              <a:gd name="adj" fmla="val 50000"/>
            </a:avLst>
          </a:prstGeom>
          <a:solidFill>
            <a:srgbClr val="1A2B39"/>
          </a:solidFill>
          <a:ln w="9525">
            <a:solidFill>
              <a:srgbClr val="1A2B39"/>
            </a:solidFill>
            <a:prstDash val="solid"/>
          </a:ln>
        </p:spPr>
      </p:sp>
      <p:sp>
        <p:nvSpPr>
          <p:cNvPr id="7" name="Text 4"/>
          <p:cNvSpPr txBox="1"/>
          <p:nvPr/>
        </p:nvSpPr>
        <p:spPr>
          <a:xfrm>
            <a:off x="548640" y="960120"/>
            <a:ext cx="2504359" cy="365760"/>
          </a:xfrm>
          <a:prstGeom prst="rect">
            <a:avLst/>
          </a:prstGeom>
          <a:noFill/>
          <a:ln/>
        </p:spPr>
        <p:txBody>
          <a:bodyPr wrap="square" lIns="0" tIns="0" rIns="0" bIns="0" rtlCol="0" anchor="ctr"/>
          <a:lstStyle/>
          <a:p>
            <a:pPr algn="ctr" indent="0" marL="0">
              <a:buNone/>
            </a:pPr>
            <a:r>
              <a:rPr lang="en-US" sz="1100" b="1" dirty="0">
                <a:solidFill>
                  <a:srgbClr val="499FE3"/>
                </a:solidFill>
                <a:latin typeface="Calibri" pitchFamily="34" charset="0"/>
                <a:ea typeface="Calibri" pitchFamily="34" charset="-122"/>
                <a:cs typeface="Calibri" pitchFamily="34" charset="-120"/>
              </a:rPr>
              <a:t>PROJECT INTERNSHIP PRESENTATION</a:t>
            </a:r>
            <a:endParaRPr lang="en-US" sz="1100" dirty="0"/>
          </a:p>
        </p:txBody>
      </p:sp>
      <p:sp>
        <p:nvSpPr>
          <p:cNvPr id="8" name="Text 5"/>
          <p:cNvSpPr txBox="1"/>
          <p:nvPr/>
        </p:nvSpPr>
        <p:spPr>
          <a:xfrm>
            <a:off x="548640" y="1737360"/>
            <a:ext cx="6766560" cy="914400"/>
          </a:xfrm>
          <a:prstGeom prst="rect">
            <a:avLst/>
          </a:prstGeom>
          <a:noFill/>
          <a:ln/>
        </p:spPr>
        <p:txBody>
          <a:bodyPr wrap="square" lIns="0" tIns="0" rIns="0" bIns="0" rtlCol="0" anchor="t"/>
          <a:lstStyle/>
          <a:p>
            <a:pPr algn="l" indent="0" marL="0">
              <a:buNone/>
            </a:pPr>
            <a:r>
              <a:rPr lang="en-US" sz="5600" b="1" dirty="0">
                <a:solidFill>
                  <a:srgbClr val="ECEFF2"/>
                </a:solidFill>
                <a:latin typeface="Arial" pitchFamily="34" charset="0"/>
                <a:ea typeface="Arial" pitchFamily="34" charset="-122"/>
                <a:cs typeface="Arial" pitchFamily="34" charset="-120"/>
              </a:rPr>
              <a:t>Building Edurack</a:t>
            </a:r>
            <a:endParaRPr lang="en-US" sz="5600" dirty="0"/>
          </a:p>
        </p:txBody>
      </p:sp>
      <p:sp>
        <p:nvSpPr>
          <p:cNvPr id="9" name="Text 6"/>
          <p:cNvSpPr txBox="1"/>
          <p:nvPr/>
        </p:nvSpPr>
        <p:spPr>
          <a:xfrm>
            <a:off x="548640" y="2788920"/>
            <a:ext cx="6400800" cy="1097280"/>
          </a:xfrm>
          <a:prstGeom prst="rect">
            <a:avLst/>
          </a:prstGeom>
          <a:noFill/>
          <a:ln/>
        </p:spPr>
        <p:txBody>
          <a:bodyPr wrap="square" lIns="0" tIns="0" rIns="0" bIns="0" rtlCol="0" anchor="t"/>
          <a:lstStyle/>
          <a:p>
            <a:pPr algn="l" indent="0" marL="0">
              <a:buNone/>
            </a:pPr>
            <a:r>
              <a:rPr lang="en-US" sz="2200" dirty="0">
                <a:solidFill>
                  <a:srgbClr val="85919B"/>
                </a:solidFill>
                <a:latin typeface="Calibri" pitchFamily="34" charset="0"/>
                <a:ea typeface="Calibri" pitchFamily="34" charset="-122"/>
                <a:cs typeface="Calibri" pitchFamily="34" charset="-120"/>
              </a:rPr>
              <a:t>From first commit to a live EdTech platform for NEET, JEE, CUET and IPMAT aspirants</a:t>
            </a:r>
            <a:endParaRPr lang="en-US" sz="2200" dirty="0"/>
          </a:p>
        </p:txBody>
      </p:sp>
      <p:pic>
        <p:nvPicPr>
          <p:cNvPr id="10" name="Image 1" descr="photo_round.png">    </p:cNvPr>
          <p:cNvPicPr>
            <a:picLocks noChangeAspect="1"/>
          </p:cNvPicPr>
          <p:nvPr/>
        </p:nvPicPr>
        <p:blipFill>
          <a:blip r:embed="rId2"/>
          <a:stretch>
            <a:fillRect/>
          </a:stretch>
        </p:blipFill>
        <p:spPr>
          <a:xfrm>
            <a:off x="548640" y="4617720"/>
            <a:ext cx="1143000" cy="1143000"/>
          </a:xfrm>
          <a:prstGeom prst="rect">
            <a:avLst/>
          </a:prstGeom>
        </p:spPr>
      </p:pic>
      <p:sp>
        <p:nvSpPr>
          <p:cNvPr id="11" name="Text 7"/>
          <p:cNvSpPr txBox="1"/>
          <p:nvPr/>
        </p:nvSpPr>
        <p:spPr>
          <a:xfrm>
            <a:off x="1965960" y="4846320"/>
            <a:ext cx="4572000" cy="411480"/>
          </a:xfrm>
          <a:prstGeom prst="rect">
            <a:avLst/>
          </a:prstGeom>
          <a:noFill/>
          <a:ln/>
        </p:spPr>
        <p:txBody>
          <a:bodyPr wrap="square" lIns="0" tIns="0" rIns="0" bIns="0" rtlCol="0" anchor="t"/>
          <a:lstStyle/>
          <a:p>
            <a:pPr algn="l" indent="0" marL="0">
              <a:buNone/>
            </a:pPr>
            <a:r>
              <a:rPr lang="en-US" sz="2400" b="1" dirty="0">
                <a:solidFill>
                  <a:srgbClr val="ECEFF2"/>
                </a:solidFill>
                <a:latin typeface="Arial" pitchFamily="34" charset="0"/>
                <a:ea typeface="Arial" pitchFamily="34" charset="-122"/>
                <a:cs typeface="Arial" pitchFamily="34" charset="-120"/>
              </a:rPr>
              <a:t>Vishal</a:t>
            </a:r>
            <a:endParaRPr lang="en-US" sz="2400" dirty="0"/>
          </a:p>
        </p:txBody>
      </p:sp>
      <p:sp>
        <p:nvSpPr>
          <p:cNvPr id="12" name="Text 8"/>
          <p:cNvSpPr txBox="1"/>
          <p:nvPr/>
        </p:nvSpPr>
        <p:spPr>
          <a:xfrm>
            <a:off x="1965960" y="5285232"/>
            <a:ext cx="5029200" cy="320040"/>
          </a:xfrm>
          <a:prstGeom prst="rect">
            <a:avLst/>
          </a:prstGeom>
          <a:noFill/>
          <a:ln/>
        </p:spPr>
        <p:txBody>
          <a:bodyPr wrap="square" lIns="0" tIns="0" rIns="0" bIns="0" rtlCol="0" anchor="t"/>
          <a:lstStyle/>
          <a:p>
            <a:pPr algn="l" indent="0" marL="0">
              <a:buNone/>
            </a:pPr>
            <a:r>
              <a:rPr lang="en-US" sz="1500" b="1" dirty="0">
                <a:solidFill>
                  <a:srgbClr val="499FE3"/>
                </a:solidFill>
                <a:latin typeface="Calibri" pitchFamily="34" charset="0"/>
                <a:ea typeface="Calibri" pitchFamily="34" charset="-122"/>
                <a:cs typeface="Calibri" pitchFamily="34" charset="-120"/>
              </a:rPr>
              <a:t>Core Full Stack Developer  ·  Edurack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ABOUT ME</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My Profile</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91640"/>
            <a:ext cx="3566160" cy="4434840"/>
          </a:xfrm>
          <a:prstGeom prst="roundRect">
            <a:avLst>
              <a:gd name="adj" fmla="val 5641"/>
            </a:avLst>
          </a:prstGeom>
          <a:solidFill>
            <a:srgbClr val="D2ECFC"/>
          </a:solidFill>
          <a:ln w="12700">
            <a:solidFill>
              <a:srgbClr val="D2ECFC"/>
            </a:solidFill>
            <a:prstDash val="solid"/>
          </a:ln>
          <a:effectLst>
            <a:outerShdw sx="100000" sy="100000" kx="0" ky="0" algn="bl" rotWithShape="0" blurRad="127000" dist="25400" dir="5400000">
              <a:srgbClr val="0F172A">
                <a:alpha val="9000"/>
              </a:srgbClr>
            </a:outerShdw>
          </a:effectLst>
        </p:spPr>
      </p:sp>
      <p:pic>
        <p:nvPicPr>
          <p:cNvPr id="8" name="Image 1" descr="photo_round.png">    </p:cNvPr>
          <p:cNvPicPr>
            <a:picLocks noChangeAspect="1"/>
          </p:cNvPicPr>
          <p:nvPr/>
        </p:nvPicPr>
        <p:blipFill>
          <a:blip r:embed="rId2"/>
          <a:stretch>
            <a:fillRect/>
          </a:stretch>
        </p:blipFill>
        <p:spPr>
          <a:xfrm>
            <a:off x="822960" y="1965960"/>
            <a:ext cx="3017520" cy="3017520"/>
          </a:xfrm>
          <a:prstGeom prst="rect">
            <a:avLst/>
          </a:prstGeom>
        </p:spPr>
      </p:pic>
      <p:sp>
        <p:nvSpPr>
          <p:cNvPr id="9" name="Text 5"/>
          <p:cNvSpPr txBox="1"/>
          <p:nvPr/>
        </p:nvSpPr>
        <p:spPr>
          <a:xfrm>
            <a:off x="822960" y="5138928"/>
            <a:ext cx="3017520" cy="457200"/>
          </a:xfrm>
          <a:prstGeom prst="rect">
            <a:avLst/>
          </a:prstGeom>
          <a:noFill/>
          <a:ln/>
        </p:spPr>
        <p:txBody>
          <a:bodyPr wrap="square" lIns="0" tIns="0" rIns="0" bIns="0" rtlCol="0" anchor="t"/>
          <a:lstStyle/>
          <a:p>
            <a:pPr algn="l" indent="0" marL="0">
              <a:buNone/>
            </a:pPr>
            <a:r>
              <a:rPr lang="en-US" sz="2600" b="1" dirty="0">
                <a:solidFill>
                  <a:srgbClr val="131B26"/>
                </a:solidFill>
                <a:latin typeface="Arial" pitchFamily="34" charset="0"/>
                <a:ea typeface="Arial" pitchFamily="34" charset="-122"/>
                <a:cs typeface="Arial" pitchFamily="34" charset="-120"/>
              </a:rPr>
              <a:t>Vishal</a:t>
            </a:r>
            <a:endParaRPr lang="en-US" sz="2600" dirty="0"/>
          </a:p>
        </p:txBody>
      </p:sp>
      <p:sp>
        <p:nvSpPr>
          <p:cNvPr id="10" name="Text 6"/>
          <p:cNvSpPr txBox="1"/>
          <p:nvPr/>
        </p:nvSpPr>
        <p:spPr>
          <a:xfrm>
            <a:off x="822960" y="5596128"/>
            <a:ext cx="3017520" cy="320040"/>
          </a:xfrm>
          <a:prstGeom prst="rect">
            <a:avLst/>
          </a:prstGeom>
          <a:noFill/>
          <a:ln/>
        </p:spPr>
        <p:txBody>
          <a:bodyPr wrap="square" lIns="0" tIns="0" rIns="0" bIns="0" rtlCol="0" anchor="t"/>
          <a:lstStyle/>
          <a:p>
            <a:pPr algn="l" indent="0" marL="0">
              <a:buNone/>
            </a:pPr>
            <a:r>
              <a:rPr lang="en-US" sz="1500" b="1" dirty="0">
                <a:solidFill>
                  <a:srgbClr val="004E90"/>
                </a:solidFill>
                <a:latin typeface="Calibri" pitchFamily="34" charset="0"/>
                <a:ea typeface="Calibri" pitchFamily="34" charset="-122"/>
                <a:cs typeface="Calibri" pitchFamily="34" charset="-120"/>
              </a:rPr>
              <a:t>Core Full Stack Developer</a:t>
            </a:r>
            <a:endParaRPr lang="en-US" sz="1500" dirty="0"/>
          </a:p>
        </p:txBody>
      </p:sp>
      <p:sp>
        <p:nvSpPr>
          <p:cNvPr id="11" name="Shape 7"/>
          <p:cNvSpPr/>
          <p:nvPr/>
        </p:nvSpPr>
        <p:spPr>
          <a:xfrm>
            <a:off x="4526280" y="1691640"/>
            <a:ext cx="3520440" cy="1188720"/>
          </a:xfrm>
          <a:prstGeom prst="roundRect">
            <a:avLst>
              <a:gd name="adj" fmla="val 16923"/>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12" name="Shape 8"/>
          <p:cNvSpPr/>
          <p:nvPr/>
        </p:nvSpPr>
        <p:spPr>
          <a:xfrm>
            <a:off x="4754880" y="1984248"/>
            <a:ext cx="640080" cy="640080"/>
          </a:xfrm>
          <a:prstGeom prst="ellipse">
            <a:avLst/>
          </a:prstGeom>
          <a:solidFill>
            <a:srgbClr val="D2ECFC"/>
          </a:solidFill>
          <a:ln w="12700">
            <a:solidFill>
              <a:srgbClr val="D2ECFC"/>
            </a:solidFill>
            <a:prstDash val="solid"/>
          </a:ln>
        </p:spPr>
      </p:sp>
      <p:pic>
        <p:nvPicPr>
          <p:cNvPr id="13" name="Image 2" descr="preencoded.png">    </p:cNvPr>
          <p:cNvPicPr>
            <a:picLocks noChangeAspect="1"/>
          </p:cNvPicPr>
          <p:nvPr/>
        </p:nvPicPr>
        <p:blipFill>
          <a:blip r:embed="rId3"/>
          <a:stretch>
            <a:fillRect/>
          </a:stretch>
        </p:blipFill>
        <p:spPr>
          <a:xfrm>
            <a:off x="4914900" y="2144268"/>
            <a:ext cx="320040" cy="320040"/>
          </a:xfrm>
          <a:prstGeom prst="rect">
            <a:avLst/>
          </a:prstGeom>
        </p:spPr>
      </p:pic>
      <p:sp>
        <p:nvSpPr>
          <p:cNvPr id="14" name="Text 9"/>
          <p:cNvSpPr txBox="1"/>
          <p:nvPr/>
        </p:nvSpPr>
        <p:spPr>
          <a:xfrm>
            <a:off x="5577840" y="1938528"/>
            <a:ext cx="2331720" cy="228600"/>
          </a:xfrm>
          <a:prstGeom prst="rect">
            <a:avLst/>
          </a:prstGeom>
          <a:noFill/>
          <a:ln/>
        </p:spPr>
        <p:txBody>
          <a:bodyPr wrap="square" lIns="0" tIns="0" rIns="0" bIns="0" rtlCol="0" anchor="t"/>
          <a:lstStyle/>
          <a:p>
            <a:pPr algn="l" indent="0" marL="0">
              <a:buNone/>
            </a:pPr>
            <a:r>
              <a:rPr lang="en-US" sz="1000" b="1" spc="200" kern="0" dirty="0">
                <a:solidFill>
                  <a:srgbClr val="606A74"/>
                </a:solidFill>
                <a:latin typeface="Calibri" pitchFamily="34" charset="0"/>
                <a:ea typeface="Calibri" pitchFamily="34" charset="-122"/>
                <a:cs typeface="Calibri" pitchFamily="34" charset="-120"/>
              </a:rPr>
              <a:t>ROLE</a:t>
            </a:r>
            <a:endParaRPr lang="en-US" sz="1000" dirty="0"/>
          </a:p>
        </p:txBody>
      </p:sp>
      <p:sp>
        <p:nvSpPr>
          <p:cNvPr id="15" name="Text 10"/>
          <p:cNvSpPr txBox="1"/>
          <p:nvPr/>
        </p:nvSpPr>
        <p:spPr>
          <a:xfrm>
            <a:off x="5577840" y="2194560"/>
            <a:ext cx="2331720" cy="640080"/>
          </a:xfrm>
          <a:prstGeom prst="rect">
            <a:avLst/>
          </a:prstGeom>
          <a:noFill/>
          <a:ln/>
        </p:spPr>
        <p:txBody>
          <a:bodyPr wrap="square" lIns="0" tIns="0" rIns="0" bIns="0" rtlCol="0" anchor="t"/>
          <a:lstStyle/>
          <a:p>
            <a:pPr algn="l" indent="0" marL="0">
              <a:buNone/>
            </a:pPr>
            <a:r>
              <a:rPr lang="en-US" sz="1400" b="1" dirty="0">
                <a:solidFill>
                  <a:srgbClr val="131B26"/>
                </a:solidFill>
                <a:latin typeface="Calibri" pitchFamily="34" charset="0"/>
                <a:ea typeface="Calibri" pitchFamily="34" charset="-122"/>
                <a:cs typeface="Calibri" pitchFamily="34" charset="-120"/>
              </a:rPr>
              <a:t>Core Full Stack Developer</a:t>
            </a:r>
            <a:endParaRPr lang="en-US" sz="1400" dirty="0"/>
          </a:p>
        </p:txBody>
      </p:sp>
      <p:sp>
        <p:nvSpPr>
          <p:cNvPr id="16" name="Shape 11"/>
          <p:cNvSpPr/>
          <p:nvPr/>
        </p:nvSpPr>
        <p:spPr>
          <a:xfrm>
            <a:off x="8229600" y="1691640"/>
            <a:ext cx="3520440" cy="1188720"/>
          </a:xfrm>
          <a:prstGeom prst="roundRect">
            <a:avLst>
              <a:gd name="adj" fmla="val 16923"/>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17" name="Shape 12"/>
          <p:cNvSpPr/>
          <p:nvPr/>
        </p:nvSpPr>
        <p:spPr>
          <a:xfrm>
            <a:off x="8458200" y="1984248"/>
            <a:ext cx="640080" cy="640080"/>
          </a:xfrm>
          <a:prstGeom prst="ellipse">
            <a:avLst/>
          </a:prstGeom>
          <a:solidFill>
            <a:srgbClr val="C7EEEA"/>
          </a:solidFill>
          <a:ln w="12700">
            <a:solidFill>
              <a:srgbClr val="C7EEEA"/>
            </a:solidFill>
            <a:prstDash val="solid"/>
          </a:ln>
        </p:spPr>
      </p:sp>
      <p:pic>
        <p:nvPicPr>
          <p:cNvPr id="18" name="Image 3" descr="preencoded.png">    </p:cNvPr>
          <p:cNvPicPr>
            <a:picLocks noChangeAspect="1"/>
          </p:cNvPicPr>
          <p:nvPr/>
        </p:nvPicPr>
        <p:blipFill>
          <a:blip r:embed="rId4"/>
          <a:stretch>
            <a:fillRect/>
          </a:stretch>
        </p:blipFill>
        <p:spPr>
          <a:xfrm>
            <a:off x="8618220" y="2144268"/>
            <a:ext cx="320040" cy="320040"/>
          </a:xfrm>
          <a:prstGeom prst="rect">
            <a:avLst/>
          </a:prstGeom>
        </p:spPr>
      </p:pic>
      <p:sp>
        <p:nvSpPr>
          <p:cNvPr id="19" name="Text 13"/>
          <p:cNvSpPr txBox="1"/>
          <p:nvPr/>
        </p:nvSpPr>
        <p:spPr>
          <a:xfrm>
            <a:off x="9281160" y="1938528"/>
            <a:ext cx="2331720" cy="228600"/>
          </a:xfrm>
          <a:prstGeom prst="rect">
            <a:avLst/>
          </a:prstGeom>
          <a:noFill/>
          <a:ln/>
        </p:spPr>
        <p:txBody>
          <a:bodyPr wrap="square" lIns="0" tIns="0" rIns="0" bIns="0" rtlCol="0" anchor="t"/>
          <a:lstStyle/>
          <a:p>
            <a:pPr algn="l" indent="0" marL="0">
              <a:buNone/>
            </a:pPr>
            <a:r>
              <a:rPr lang="en-US" sz="1000" b="1" spc="200" kern="0" dirty="0">
                <a:solidFill>
                  <a:srgbClr val="606A74"/>
                </a:solidFill>
                <a:latin typeface="Calibri" pitchFamily="34" charset="0"/>
                <a:ea typeface="Calibri" pitchFamily="34" charset="-122"/>
                <a:cs typeface="Calibri" pitchFamily="34" charset="-120"/>
              </a:rPr>
              <a:t>ORGANIZATION</a:t>
            </a:r>
            <a:endParaRPr lang="en-US" sz="1000" dirty="0"/>
          </a:p>
        </p:txBody>
      </p:sp>
      <p:sp>
        <p:nvSpPr>
          <p:cNvPr id="20" name="Text 14"/>
          <p:cNvSpPr txBox="1"/>
          <p:nvPr/>
        </p:nvSpPr>
        <p:spPr>
          <a:xfrm>
            <a:off x="9281160" y="2194560"/>
            <a:ext cx="2331720" cy="640080"/>
          </a:xfrm>
          <a:prstGeom prst="rect">
            <a:avLst/>
          </a:prstGeom>
          <a:noFill/>
          <a:ln/>
        </p:spPr>
        <p:txBody>
          <a:bodyPr wrap="square" lIns="0" tIns="0" rIns="0" bIns="0" rtlCol="0" anchor="t"/>
          <a:lstStyle/>
          <a:p>
            <a:pPr algn="l" indent="0" marL="0">
              <a:buNone/>
            </a:pPr>
            <a:r>
              <a:rPr lang="en-US" sz="1400" b="1" dirty="0">
                <a:solidFill>
                  <a:srgbClr val="131B26"/>
                </a:solidFill>
                <a:latin typeface="Calibri" pitchFamily="34" charset="0"/>
                <a:ea typeface="Calibri" pitchFamily="34" charset="-122"/>
                <a:cs typeface="Calibri" pitchFamily="34" charset="-120"/>
              </a:rPr>
              <a:t>Edurack – EdTech startup</a:t>
            </a:r>
            <a:endParaRPr lang="en-US" sz="1400" dirty="0"/>
          </a:p>
        </p:txBody>
      </p:sp>
      <p:sp>
        <p:nvSpPr>
          <p:cNvPr id="21" name="Shape 15"/>
          <p:cNvSpPr/>
          <p:nvPr/>
        </p:nvSpPr>
        <p:spPr>
          <a:xfrm>
            <a:off x="4526280" y="3063240"/>
            <a:ext cx="3520440" cy="1188720"/>
          </a:xfrm>
          <a:prstGeom prst="roundRect">
            <a:avLst>
              <a:gd name="adj" fmla="val 16923"/>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2" name="Shape 16"/>
          <p:cNvSpPr/>
          <p:nvPr/>
        </p:nvSpPr>
        <p:spPr>
          <a:xfrm>
            <a:off x="4754880" y="3355848"/>
            <a:ext cx="640080" cy="640080"/>
          </a:xfrm>
          <a:prstGeom prst="ellipse">
            <a:avLst/>
          </a:prstGeom>
          <a:solidFill>
            <a:srgbClr val="EDDEF9"/>
          </a:solidFill>
          <a:ln w="12700">
            <a:solidFill>
              <a:srgbClr val="EDDEF9"/>
            </a:solidFill>
            <a:prstDash val="solid"/>
          </a:ln>
        </p:spPr>
      </p:sp>
      <p:pic>
        <p:nvPicPr>
          <p:cNvPr id="23" name="Image 4" descr="preencoded.png">    </p:cNvPr>
          <p:cNvPicPr>
            <a:picLocks noChangeAspect="1"/>
          </p:cNvPicPr>
          <p:nvPr/>
        </p:nvPicPr>
        <p:blipFill>
          <a:blip r:embed="rId5"/>
          <a:stretch>
            <a:fillRect/>
          </a:stretch>
        </p:blipFill>
        <p:spPr>
          <a:xfrm>
            <a:off x="4914900" y="3515868"/>
            <a:ext cx="320040" cy="320040"/>
          </a:xfrm>
          <a:prstGeom prst="rect">
            <a:avLst/>
          </a:prstGeom>
        </p:spPr>
      </p:pic>
      <p:sp>
        <p:nvSpPr>
          <p:cNvPr id="24" name="Text 17"/>
          <p:cNvSpPr txBox="1"/>
          <p:nvPr/>
        </p:nvSpPr>
        <p:spPr>
          <a:xfrm>
            <a:off x="5577840" y="3310128"/>
            <a:ext cx="2331720" cy="228600"/>
          </a:xfrm>
          <a:prstGeom prst="rect">
            <a:avLst/>
          </a:prstGeom>
          <a:noFill/>
          <a:ln/>
        </p:spPr>
        <p:txBody>
          <a:bodyPr wrap="square" lIns="0" tIns="0" rIns="0" bIns="0" rtlCol="0" anchor="t"/>
          <a:lstStyle/>
          <a:p>
            <a:pPr algn="l" indent="0" marL="0">
              <a:buNone/>
            </a:pPr>
            <a:r>
              <a:rPr lang="en-US" sz="1000" b="1" spc="200" kern="0" dirty="0">
                <a:solidFill>
                  <a:srgbClr val="606A74"/>
                </a:solidFill>
                <a:latin typeface="Calibri" pitchFamily="34" charset="0"/>
                <a:ea typeface="Calibri" pitchFamily="34" charset="-122"/>
                <a:cs typeface="Calibri" pitchFamily="34" charset="-120"/>
              </a:rPr>
              <a:t>FOCUS</a:t>
            </a:r>
            <a:endParaRPr lang="en-US" sz="1000" dirty="0"/>
          </a:p>
        </p:txBody>
      </p:sp>
      <p:sp>
        <p:nvSpPr>
          <p:cNvPr id="25" name="Text 18"/>
          <p:cNvSpPr txBox="1"/>
          <p:nvPr/>
        </p:nvSpPr>
        <p:spPr>
          <a:xfrm>
            <a:off x="5577840" y="3566160"/>
            <a:ext cx="2331720" cy="640080"/>
          </a:xfrm>
          <a:prstGeom prst="rect">
            <a:avLst/>
          </a:prstGeom>
          <a:noFill/>
          <a:ln/>
        </p:spPr>
        <p:txBody>
          <a:bodyPr wrap="square" lIns="0" tIns="0" rIns="0" bIns="0" rtlCol="0" anchor="t"/>
          <a:lstStyle/>
          <a:p>
            <a:pPr algn="l" indent="0" marL="0">
              <a:buNone/>
            </a:pPr>
            <a:r>
              <a:rPr lang="en-US" sz="1400" b="1" dirty="0">
                <a:solidFill>
                  <a:srgbClr val="131B26"/>
                </a:solidFill>
                <a:latin typeface="Calibri" pitchFamily="34" charset="0"/>
                <a:ea typeface="Calibri" pitchFamily="34" charset="-122"/>
                <a:cs typeface="Calibri" pitchFamily="34" charset="-120"/>
              </a:rPr>
              <a:t>End-to-end product development</a:t>
            </a:r>
            <a:endParaRPr lang="en-US" sz="1400" dirty="0"/>
          </a:p>
        </p:txBody>
      </p:sp>
      <p:sp>
        <p:nvSpPr>
          <p:cNvPr id="26" name="Shape 19"/>
          <p:cNvSpPr/>
          <p:nvPr/>
        </p:nvSpPr>
        <p:spPr>
          <a:xfrm>
            <a:off x="8229600" y="3063240"/>
            <a:ext cx="3520440" cy="1188720"/>
          </a:xfrm>
          <a:prstGeom prst="roundRect">
            <a:avLst>
              <a:gd name="adj" fmla="val 16923"/>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7" name="Shape 20"/>
          <p:cNvSpPr/>
          <p:nvPr/>
        </p:nvSpPr>
        <p:spPr>
          <a:xfrm>
            <a:off x="8458200" y="3355848"/>
            <a:ext cx="640080" cy="640080"/>
          </a:xfrm>
          <a:prstGeom prst="ellipse">
            <a:avLst/>
          </a:prstGeom>
          <a:solidFill>
            <a:srgbClr val="CBEFD6"/>
          </a:solidFill>
          <a:ln w="12700">
            <a:solidFill>
              <a:srgbClr val="CBEFD6"/>
            </a:solidFill>
            <a:prstDash val="solid"/>
          </a:ln>
        </p:spPr>
      </p:sp>
      <p:pic>
        <p:nvPicPr>
          <p:cNvPr id="28" name="Image 5" descr="preencoded.png">    </p:cNvPr>
          <p:cNvPicPr>
            <a:picLocks noChangeAspect="1"/>
          </p:cNvPicPr>
          <p:nvPr/>
        </p:nvPicPr>
        <p:blipFill>
          <a:blip r:embed="rId6"/>
          <a:stretch>
            <a:fillRect/>
          </a:stretch>
        </p:blipFill>
        <p:spPr>
          <a:xfrm>
            <a:off x="8618220" y="3515868"/>
            <a:ext cx="320040" cy="320040"/>
          </a:xfrm>
          <a:prstGeom prst="rect">
            <a:avLst/>
          </a:prstGeom>
        </p:spPr>
      </p:pic>
      <p:sp>
        <p:nvSpPr>
          <p:cNvPr id="29" name="Text 21"/>
          <p:cNvSpPr txBox="1"/>
          <p:nvPr/>
        </p:nvSpPr>
        <p:spPr>
          <a:xfrm>
            <a:off x="9281160" y="3310128"/>
            <a:ext cx="2331720" cy="228600"/>
          </a:xfrm>
          <a:prstGeom prst="rect">
            <a:avLst/>
          </a:prstGeom>
          <a:noFill/>
          <a:ln/>
        </p:spPr>
        <p:txBody>
          <a:bodyPr wrap="square" lIns="0" tIns="0" rIns="0" bIns="0" rtlCol="0" anchor="t"/>
          <a:lstStyle/>
          <a:p>
            <a:pPr algn="l" indent="0" marL="0">
              <a:buNone/>
            </a:pPr>
            <a:r>
              <a:rPr lang="en-US" sz="1000" b="1" spc="200" kern="0" dirty="0">
                <a:solidFill>
                  <a:srgbClr val="606A74"/>
                </a:solidFill>
                <a:latin typeface="Calibri" pitchFamily="34" charset="0"/>
                <a:ea typeface="Calibri" pitchFamily="34" charset="-122"/>
                <a:cs typeface="Calibri" pitchFamily="34" charset="-120"/>
              </a:rPr>
              <a:t>OUTCOME</a:t>
            </a:r>
            <a:endParaRPr lang="en-US" sz="1000" dirty="0"/>
          </a:p>
        </p:txBody>
      </p:sp>
      <p:sp>
        <p:nvSpPr>
          <p:cNvPr id="30" name="Text 22"/>
          <p:cNvSpPr txBox="1"/>
          <p:nvPr/>
        </p:nvSpPr>
        <p:spPr>
          <a:xfrm>
            <a:off x="9281160" y="3566160"/>
            <a:ext cx="2331720" cy="640080"/>
          </a:xfrm>
          <a:prstGeom prst="rect">
            <a:avLst/>
          </a:prstGeom>
          <a:noFill/>
          <a:ln/>
        </p:spPr>
        <p:txBody>
          <a:bodyPr wrap="square" lIns="0" tIns="0" rIns="0" bIns="0" rtlCol="0" anchor="t"/>
          <a:lstStyle/>
          <a:p>
            <a:pPr algn="l" indent="0" marL="0">
              <a:buNone/>
            </a:pPr>
            <a:r>
              <a:rPr lang="en-US" sz="1400" b="1" dirty="0">
                <a:solidFill>
                  <a:srgbClr val="131B26"/>
                </a:solidFill>
                <a:latin typeface="Calibri" pitchFamily="34" charset="0"/>
                <a:ea typeface="Calibri" pitchFamily="34" charset="-122"/>
                <a:cs typeface="Calibri" pitchFamily="34" charset="-120"/>
              </a:rPr>
              <a:t>Platform launched and live in production</a:t>
            </a:r>
            <a:endParaRPr lang="en-US" sz="1400" dirty="0"/>
          </a:p>
        </p:txBody>
      </p:sp>
      <p:sp>
        <p:nvSpPr>
          <p:cNvPr id="31" name="Shape 23"/>
          <p:cNvSpPr/>
          <p:nvPr/>
        </p:nvSpPr>
        <p:spPr>
          <a:xfrm>
            <a:off x="4526280" y="4480560"/>
            <a:ext cx="7223760" cy="1645920"/>
          </a:xfrm>
          <a:prstGeom prst="roundRect">
            <a:avLst>
              <a:gd name="adj" fmla="val 12222"/>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32" name="Text 24"/>
          <p:cNvSpPr txBox="1"/>
          <p:nvPr/>
        </p:nvSpPr>
        <p:spPr>
          <a:xfrm>
            <a:off x="4800600" y="4681728"/>
            <a:ext cx="4572000" cy="228600"/>
          </a:xfrm>
          <a:prstGeom prst="rect">
            <a:avLst/>
          </a:prstGeom>
          <a:noFill/>
          <a:ln/>
        </p:spPr>
        <p:txBody>
          <a:bodyPr wrap="square" lIns="0" tIns="0" rIns="0" bIns="0" rtlCol="0" anchor="t"/>
          <a:lstStyle/>
          <a:p>
            <a:pPr algn="l" indent="0" marL="0">
              <a:buNone/>
            </a:pPr>
            <a:r>
              <a:rPr lang="en-US" sz="1000" b="1" spc="200" kern="0" dirty="0">
                <a:solidFill>
                  <a:srgbClr val="606A74"/>
                </a:solidFill>
                <a:latin typeface="Calibri" pitchFamily="34" charset="0"/>
                <a:ea typeface="Calibri" pitchFamily="34" charset="-122"/>
                <a:cs typeface="Calibri" pitchFamily="34" charset="-120"/>
              </a:rPr>
              <a:t>CORE SKILLS APPLIED</a:t>
            </a:r>
            <a:endParaRPr lang="en-US" sz="1000" dirty="0"/>
          </a:p>
        </p:txBody>
      </p:sp>
      <p:sp>
        <p:nvSpPr>
          <p:cNvPr id="33" name="Shape 25"/>
          <p:cNvSpPr/>
          <p:nvPr/>
        </p:nvSpPr>
        <p:spPr>
          <a:xfrm>
            <a:off x="4800600" y="5047488"/>
            <a:ext cx="753466" cy="329184"/>
          </a:xfrm>
          <a:prstGeom prst="roundRect">
            <a:avLst>
              <a:gd name="adj" fmla="val 50000"/>
            </a:avLst>
          </a:prstGeom>
          <a:solidFill>
            <a:srgbClr val="DDEEFB"/>
          </a:solidFill>
          <a:ln w="9525">
            <a:solidFill>
              <a:srgbClr val="D2ECFC"/>
            </a:solidFill>
            <a:prstDash val="solid"/>
          </a:ln>
        </p:spPr>
      </p:sp>
      <p:sp>
        <p:nvSpPr>
          <p:cNvPr id="34" name="Text 26"/>
          <p:cNvSpPr txBox="1"/>
          <p:nvPr/>
        </p:nvSpPr>
        <p:spPr>
          <a:xfrm>
            <a:off x="4800600" y="5047488"/>
            <a:ext cx="753466" cy="329184"/>
          </a:xfrm>
          <a:prstGeom prst="rect">
            <a:avLst/>
          </a:prstGeom>
          <a:noFill/>
          <a:ln/>
        </p:spPr>
        <p:txBody>
          <a:bodyPr wrap="square" lIns="0" tIns="0" rIns="0" bIns="0" rtlCol="0" anchor="ctr"/>
          <a:lstStyle/>
          <a:p>
            <a:pPr algn="ctr" indent="0" marL="0">
              <a:buNone/>
            </a:pPr>
            <a:r>
              <a:rPr lang="en-US" sz="1200" b="1" dirty="0">
                <a:solidFill>
                  <a:srgbClr val="004E90"/>
                </a:solidFill>
                <a:latin typeface="Calibri" pitchFamily="34" charset="0"/>
                <a:ea typeface="Calibri" pitchFamily="34" charset="-122"/>
                <a:cs typeface="Calibri" pitchFamily="34" charset="-120"/>
              </a:rPr>
              <a:t>React</a:t>
            </a:r>
            <a:endParaRPr lang="en-US" sz="1200" dirty="0"/>
          </a:p>
        </p:txBody>
      </p:sp>
      <p:sp>
        <p:nvSpPr>
          <p:cNvPr id="35" name="Shape 27"/>
          <p:cNvSpPr/>
          <p:nvPr/>
        </p:nvSpPr>
        <p:spPr>
          <a:xfrm>
            <a:off x="5663794" y="5047488"/>
            <a:ext cx="1095451" cy="329184"/>
          </a:xfrm>
          <a:prstGeom prst="roundRect">
            <a:avLst>
              <a:gd name="adj" fmla="val 50000"/>
            </a:avLst>
          </a:prstGeom>
          <a:solidFill>
            <a:srgbClr val="DDEEFB"/>
          </a:solidFill>
          <a:ln w="9525">
            <a:solidFill>
              <a:srgbClr val="D2ECFC"/>
            </a:solidFill>
            <a:prstDash val="solid"/>
          </a:ln>
        </p:spPr>
      </p:sp>
      <p:sp>
        <p:nvSpPr>
          <p:cNvPr id="36" name="Text 28"/>
          <p:cNvSpPr txBox="1"/>
          <p:nvPr/>
        </p:nvSpPr>
        <p:spPr>
          <a:xfrm>
            <a:off x="5663794" y="5047488"/>
            <a:ext cx="1095451" cy="329184"/>
          </a:xfrm>
          <a:prstGeom prst="rect">
            <a:avLst/>
          </a:prstGeom>
          <a:noFill/>
          <a:ln/>
        </p:spPr>
        <p:txBody>
          <a:bodyPr wrap="square" lIns="0" tIns="0" rIns="0" bIns="0" rtlCol="0" anchor="ctr"/>
          <a:lstStyle/>
          <a:p>
            <a:pPr algn="ctr" indent="0" marL="0">
              <a:buNone/>
            </a:pPr>
            <a:r>
              <a:rPr lang="en-US" sz="1200" b="1" dirty="0">
                <a:solidFill>
                  <a:srgbClr val="004E90"/>
                </a:solidFill>
                <a:latin typeface="Calibri" pitchFamily="34" charset="0"/>
                <a:ea typeface="Calibri" pitchFamily="34" charset="-122"/>
                <a:cs typeface="Calibri" pitchFamily="34" charset="-120"/>
              </a:rPr>
              <a:t>TypeScript</a:t>
            </a:r>
            <a:endParaRPr lang="en-US" sz="1200" dirty="0"/>
          </a:p>
        </p:txBody>
      </p:sp>
      <p:sp>
        <p:nvSpPr>
          <p:cNvPr id="37" name="Shape 29"/>
          <p:cNvSpPr/>
          <p:nvPr/>
        </p:nvSpPr>
        <p:spPr>
          <a:xfrm>
            <a:off x="6868973" y="5047488"/>
            <a:ext cx="1369040" cy="329184"/>
          </a:xfrm>
          <a:prstGeom prst="roundRect">
            <a:avLst>
              <a:gd name="adj" fmla="val 50000"/>
            </a:avLst>
          </a:prstGeom>
          <a:solidFill>
            <a:srgbClr val="DDEEFB"/>
          </a:solidFill>
          <a:ln w="9525">
            <a:solidFill>
              <a:srgbClr val="D2ECFC"/>
            </a:solidFill>
            <a:prstDash val="solid"/>
          </a:ln>
        </p:spPr>
      </p:sp>
      <p:sp>
        <p:nvSpPr>
          <p:cNvPr id="38" name="Text 30"/>
          <p:cNvSpPr txBox="1"/>
          <p:nvPr/>
        </p:nvSpPr>
        <p:spPr>
          <a:xfrm>
            <a:off x="6868973" y="5047488"/>
            <a:ext cx="1369040" cy="329184"/>
          </a:xfrm>
          <a:prstGeom prst="rect">
            <a:avLst/>
          </a:prstGeom>
          <a:noFill/>
          <a:ln/>
        </p:spPr>
        <p:txBody>
          <a:bodyPr wrap="square" lIns="0" tIns="0" rIns="0" bIns="0" rtlCol="0" anchor="ctr"/>
          <a:lstStyle/>
          <a:p>
            <a:pPr algn="ctr" indent="0" marL="0">
              <a:buNone/>
            </a:pPr>
            <a:r>
              <a:rPr lang="en-US" sz="1200" b="1" dirty="0">
                <a:solidFill>
                  <a:srgbClr val="004E90"/>
                </a:solidFill>
                <a:latin typeface="Calibri" pitchFamily="34" charset="0"/>
                <a:ea typeface="Calibri" pitchFamily="34" charset="-122"/>
                <a:cs typeface="Calibri" pitchFamily="34" charset="-120"/>
              </a:rPr>
              <a:t>TanStack Start</a:t>
            </a:r>
            <a:endParaRPr lang="en-US" sz="1200" dirty="0"/>
          </a:p>
        </p:txBody>
      </p:sp>
      <p:sp>
        <p:nvSpPr>
          <p:cNvPr id="39" name="Shape 31"/>
          <p:cNvSpPr/>
          <p:nvPr/>
        </p:nvSpPr>
        <p:spPr>
          <a:xfrm>
            <a:off x="8347740" y="5047488"/>
            <a:ext cx="1232245" cy="329184"/>
          </a:xfrm>
          <a:prstGeom prst="roundRect">
            <a:avLst>
              <a:gd name="adj" fmla="val 50000"/>
            </a:avLst>
          </a:prstGeom>
          <a:solidFill>
            <a:srgbClr val="DDEEFB"/>
          </a:solidFill>
          <a:ln w="9525">
            <a:solidFill>
              <a:srgbClr val="D2ECFC"/>
            </a:solidFill>
            <a:prstDash val="solid"/>
          </a:ln>
        </p:spPr>
      </p:sp>
      <p:sp>
        <p:nvSpPr>
          <p:cNvPr id="40" name="Text 32"/>
          <p:cNvSpPr txBox="1"/>
          <p:nvPr/>
        </p:nvSpPr>
        <p:spPr>
          <a:xfrm>
            <a:off x="8347740" y="5047488"/>
            <a:ext cx="1232245" cy="329184"/>
          </a:xfrm>
          <a:prstGeom prst="rect">
            <a:avLst/>
          </a:prstGeom>
          <a:noFill/>
          <a:ln/>
        </p:spPr>
        <p:txBody>
          <a:bodyPr wrap="square" lIns="0" tIns="0" rIns="0" bIns="0" rtlCol="0" anchor="ctr"/>
          <a:lstStyle/>
          <a:p>
            <a:pPr algn="ctr" indent="0" marL="0">
              <a:buNone/>
            </a:pPr>
            <a:r>
              <a:rPr lang="en-US" sz="1200" b="1" dirty="0">
                <a:solidFill>
                  <a:srgbClr val="004E90"/>
                </a:solidFill>
                <a:latin typeface="Calibri" pitchFamily="34" charset="0"/>
                <a:ea typeface="Calibri" pitchFamily="34" charset="-122"/>
                <a:cs typeface="Calibri" pitchFamily="34" charset="-120"/>
              </a:rPr>
              <a:t>Tailwind CSS</a:t>
            </a:r>
            <a:endParaRPr lang="en-US" sz="1200" dirty="0"/>
          </a:p>
        </p:txBody>
      </p:sp>
      <p:sp>
        <p:nvSpPr>
          <p:cNvPr id="41" name="Shape 33"/>
          <p:cNvSpPr/>
          <p:nvPr/>
        </p:nvSpPr>
        <p:spPr>
          <a:xfrm>
            <a:off x="9689714" y="5047488"/>
            <a:ext cx="890260" cy="329184"/>
          </a:xfrm>
          <a:prstGeom prst="roundRect">
            <a:avLst>
              <a:gd name="adj" fmla="val 50000"/>
            </a:avLst>
          </a:prstGeom>
          <a:solidFill>
            <a:srgbClr val="DDEEFB"/>
          </a:solidFill>
          <a:ln w="9525">
            <a:solidFill>
              <a:srgbClr val="D2ECFC"/>
            </a:solidFill>
            <a:prstDash val="solid"/>
          </a:ln>
        </p:spPr>
      </p:sp>
      <p:sp>
        <p:nvSpPr>
          <p:cNvPr id="42" name="Text 34"/>
          <p:cNvSpPr txBox="1"/>
          <p:nvPr/>
        </p:nvSpPr>
        <p:spPr>
          <a:xfrm>
            <a:off x="9689714" y="5047488"/>
            <a:ext cx="890260" cy="329184"/>
          </a:xfrm>
          <a:prstGeom prst="rect">
            <a:avLst/>
          </a:prstGeom>
          <a:noFill/>
          <a:ln/>
        </p:spPr>
        <p:txBody>
          <a:bodyPr wrap="square" lIns="0" tIns="0" rIns="0" bIns="0" rtlCol="0" anchor="ctr"/>
          <a:lstStyle/>
          <a:p>
            <a:pPr algn="ctr" indent="0" marL="0">
              <a:buNone/>
            </a:pPr>
            <a:r>
              <a:rPr lang="en-US" sz="1200" b="1" dirty="0">
                <a:solidFill>
                  <a:srgbClr val="004E90"/>
                </a:solidFill>
                <a:latin typeface="Calibri" pitchFamily="34" charset="0"/>
                <a:ea typeface="Calibri" pitchFamily="34" charset="-122"/>
                <a:cs typeface="Calibri" pitchFamily="34" charset="-120"/>
              </a:rPr>
              <a:t>MongoDB</a:t>
            </a:r>
            <a:endParaRPr lang="en-US" sz="1200" dirty="0"/>
          </a:p>
        </p:txBody>
      </p:sp>
      <p:sp>
        <p:nvSpPr>
          <p:cNvPr id="43" name="Shape 35"/>
          <p:cNvSpPr/>
          <p:nvPr/>
        </p:nvSpPr>
        <p:spPr>
          <a:xfrm>
            <a:off x="4800600" y="5550408"/>
            <a:ext cx="1300643" cy="329184"/>
          </a:xfrm>
          <a:prstGeom prst="roundRect">
            <a:avLst>
              <a:gd name="adj" fmla="val 50000"/>
            </a:avLst>
          </a:prstGeom>
          <a:solidFill>
            <a:srgbClr val="DDEEFB"/>
          </a:solidFill>
          <a:ln w="9525">
            <a:solidFill>
              <a:srgbClr val="D2ECFC"/>
            </a:solidFill>
            <a:prstDash val="solid"/>
          </a:ln>
        </p:spPr>
      </p:sp>
      <p:sp>
        <p:nvSpPr>
          <p:cNvPr id="44" name="Text 36"/>
          <p:cNvSpPr txBox="1"/>
          <p:nvPr/>
        </p:nvSpPr>
        <p:spPr>
          <a:xfrm>
            <a:off x="4800600" y="5550408"/>
            <a:ext cx="1300643" cy="329184"/>
          </a:xfrm>
          <a:prstGeom prst="rect">
            <a:avLst/>
          </a:prstGeom>
          <a:noFill/>
          <a:ln/>
        </p:spPr>
        <p:txBody>
          <a:bodyPr wrap="square" lIns="0" tIns="0" rIns="0" bIns="0" rtlCol="0" anchor="ctr"/>
          <a:lstStyle/>
          <a:p>
            <a:pPr algn="ctr" indent="0" marL="0">
              <a:buNone/>
            </a:pPr>
            <a:r>
              <a:rPr lang="en-US" sz="1200" b="1" dirty="0">
                <a:solidFill>
                  <a:srgbClr val="004E90"/>
                </a:solidFill>
                <a:latin typeface="Calibri" pitchFamily="34" charset="0"/>
                <a:ea typeface="Calibri" pitchFamily="34" charset="-122"/>
                <a:cs typeface="Calibri" pitchFamily="34" charset="-120"/>
              </a:rPr>
              <a:t>Firebase Auth</a:t>
            </a:r>
            <a:endParaRPr lang="en-US" sz="1200" dirty="0"/>
          </a:p>
        </p:txBody>
      </p:sp>
      <p:sp>
        <p:nvSpPr>
          <p:cNvPr id="45" name="Shape 37"/>
          <p:cNvSpPr/>
          <p:nvPr/>
        </p:nvSpPr>
        <p:spPr>
          <a:xfrm>
            <a:off x="6210971" y="5550408"/>
            <a:ext cx="821863" cy="329184"/>
          </a:xfrm>
          <a:prstGeom prst="roundRect">
            <a:avLst>
              <a:gd name="adj" fmla="val 50000"/>
            </a:avLst>
          </a:prstGeom>
          <a:solidFill>
            <a:srgbClr val="DDEEFB"/>
          </a:solidFill>
          <a:ln w="9525">
            <a:solidFill>
              <a:srgbClr val="D2ECFC"/>
            </a:solidFill>
            <a:prstDash val="solid"/>
          </a:ln>
        </p:spPr>
      </p:sp>
      <p:sp>
        <p:nvSpPr>
          <p:cNvPr id="46" name="Text 38"/>
          <p:cNvSpPr txBox="1"/>
          <p:nvPr/>
        </p:nvSpPr>
        <p:spPr>
          <a:xfrm>
            <a:off x="6210971" y="5550408"/>
            <a:ext cx="821863" cy="329184"/>
          </a:xfrm>
          <a:prstGeom prst="rect">
            <a:avLst/>
          </a:prstGeom>
          <a:noFill/>
          <a:ln/>
        </p:spPr>
        <p:txBody>
          <a:bodyPr wrap="square" lIns="0" tIns="0" rIns="0" bIns="0" rtlCol="0" anchor="ctr"/>
          <a:lstStyle/>
          <a:p>
            <a:pPr algn="ctr" indent="0" marL="0">
              <a:buNone/>
            </a:pPr>
            <a:r>
              <a:rPr lang="en-US" sz="1200" b="1" dirty="0">
                <a:solidFill>
                  <a:srgbClr val="004E90"/>
                </a:solidFill>
                <a:latin typeface="Calibri" pitchFamily="34" charset="0"/>
                <a:ea typeface="Calibri" pitchFamily="34" charset="-122"/>
                <a:cs typeface="Calibri" pitchFamily="34" charset="-120"/>
              </a:rPr>
              <a:t>AWS S3</a:t>
            </a:r>
            <a:endParaRPr lang="en-US" sz="1200" dirty="0"/>
          </a:p>
        </p:txBody>
      </p:sp>
      <p:sp>
        <p:nvSpPr>
          <p:cNvPr id="47" name="Shape 39"/>
          <p:cNvSpPr/>
          <p:nvPr/>
        </p:nvSpPr>
        <p:spPr>
          <a:xfrm>
            <a:off x="7142561" y="5550408"/>
            <a:ext cx="958657" cy="329184"/>
          </a:xfrm>
          <a:prstGeom prst="roundRect">
            <a:avLst>
              <a:gd name="adj" fmla="val 50000"/>
            </a:avLst>
          </a:prstGeom>
          <a:solidFill>
            <a:srgbClr val="DDEEFB"/>
          </a:solidFill>
          <a:ln w="9525">
            <a:solidFill>
              <a:srgbClr val="D2ECFC"/>
            </a:solidFill>
            <a:prstDash val="solid"/>
          </a:ln>
        </p:spPr>
      </p:sp>
      <p:sp>
        <p:nvSpPr>
          <p:cNvPr id="48" name="Text 40"/>
          <p:cNvSpPr txBox="1"/>
          <p:nvPr/>
        </p:nvSpPr>
        <p:spPr>
          <a:xfrm>
            <a:off x="7142561" y="5550408"/>
            <a:ext cx="958657" cy="329184"/>
          </a:xfrm>
          <a:prstGeom prst="rect">
            <a:avLst/>
          </a:prstGeom>
          <a:noFill/>
          <a:ln/>
        </p:spPr>
        <p:txBody>
          <a:bodyPr wrap="square" lIns="0" tIns="0" rIns="0" bIns="0" rtlCol="0" anchor="ctr"/>
          <a:lstStyle/>
          <a:p>
            <a:pPr algn="ctr" indent="0" marL="0">
              <a:buNone/>
            </a:pPr>
            <a:r>
              <a:rPr lang="en-US" sz="1200" b="1" dirty="0">
                <a:solidFill>
                  <a:srgbClr val="004E90"/>
                </a:solidFill>
                <a:latin typeface="Calibri" pitchFamily="34" charset="0"/>
                <a:ea typeface="Calibri" pitchFamily="34" charset="-122"/>
                <a:cs typeface="Calibri" pitchFamily="34" charset="-120"/>
              </a:rPr>
              <a:t>Razorpay</a:t>
            </a:r>
            <a:endParaRPr lang="en-US" sz="1200" dirty="0"/>
          </a:p>
        </p:txBody>
      </p:sp>
      <p:sp>
        <p:nvSpPr>
          <p:cNvPr id="49" name="Shape 41"/>
          <p:cNvSpPr/>
          <p:nvPr/>
        </p:nvSpPr>
        <p:spPr>
          <a:xfrm>
            <a:off x="8210946" y="5550408"/>
            <a:ext cx="821863" cy="329184"/>
          </a:xfrm>
          <a:prstGeom prst="roundRect">
            <a:avLst>
              <a:gd name="adj" fmla="val 50000"/>
            </a:avLst>
          </a:prstGeom>
          <a:solidFill>
            <a:srgbClr val="DDEEFB"/>
          </a:solidFill>
          <a:ln w="9525">
            <a:solidFill>
              <a:srgbClr val="D2ECFC"/>
            </a:solidFill>
            <a:prstDash val="solid"/>
          </a:ln>
        </p:spPr>
      </p:sp>
      <p:sp>
        <p:nvSpPr>
          <p:cNvPr id="50" name="Text 42"/>
          <p:cNvSpPr txBox="1"/>
          <p:nvPr/>
        </p:nvSpPr>
        <p:spPr>
          <a:xfrm>
            <a:off x="8210946" y="5550408"/>
            <a:ext cx="821863" cy="329184"/>
          </a:xfrm>
          <a:prstGeom prst="rect">
            <a:avLst/>
          </a:prstGeom>
          <a:noFill/>
          <a:ln/>
        </p:spPr>
        <p:txBody>
          <a:bodyPr wrap="square" lIns="0" tIns="0" rIns="0" bIns="0" rtlCol="0" anchor="ctr"/>
          <a:lstStyle/>
          <a:p>
            <a:pPr algn="ctr" indent="0" marL="0">
              <a:buNone/>
            </a:pPr>
            <a:r>
              <a:rPr lang="en-US" sz="1200" b="1" dirty="0">
                <a:solidFill>
                  <a:srgbClr val="004E90"/>
                </a:solidFill>
                <a:latin typeface="Calibri" pitchFamily="34" charset="0"/>
                <a:ea typeface="Calibri" pitchFamily="34" charset="-122"/>
                <a:cs typeface="Calibri" pitchFamily="34" charset="-120"/>
              </a:rPr>
              <a:t>GitHub</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THE ORGANIZATION</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About Edurack</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3</a:t>
            </a:r>
            <a:endParaRPr lang="en-US" sz="1000" dirty="0"/>
          </a:p>
        </p:txBody>
      </p:sp>
      <p:sp>
        <p:nvSpPr>
          <p:cNvPr id="7" name="Text 4"/>
          <p:cNvSpPr txBox="1"/>
          <p:nvPr/>
        </p:nvSpPr>
        <p:spPr>
          <a:xfrm>
            <a:off x="548640" y="1600200"/>
            <a:ext cx="6400800" cy="914400"/>
          </a:xfrm>
          <a:prstGeom prst="rect">
            <a:avLst/>
          </a:prstGeom>
          <a:noFill/>
          <a:ln/>
        </p:spPr>
        <p:txBody>
          <a:bodyPr wrap="square" lIns="0" tIns="0" rIns="0" bIns="0" rtlCol="0" anchor="t"/>
          <a:lstStyle/>
          <a:p>
            <a:pPr algn="l" indent="0" marL="0">
              <a:buNone/>
            </a:pPr>
            <a:r>
              <a:rPr lang="en-US" sz="1600" dirty="0">
                <a:solidFill>
                  <a:srgbClr val="606A74"/>
                </a:solidFill>
                <a:latin typeface="Calibri" pitchFamily="34" charset="0"/>
                <a:ea typeface="Calibri" pitchFamily="34" charset="-122"/>
                <a:cs typeface="Calibri" pitchFamily="34" charset="-120"/>
              </a:rPr>
              <a:t>Edurack helps competitive-exam aspirants practise with realistic mock tests, understand exactly where they are weak, and learn from mentors who have already cleared the exam.</a:t>
            </a:r>
            <a:endParaRPr lang="en-US" sz="1600" dirty="0"/>
          </a:p>
        </p:txBody>
      </p:sp>
      <p:sp>
        <p:nvSpPr>
          <p:cNvPr id="8" name="Shape 5"/>
          <p:cNvSpPr/>
          <p:nvPr/>
        </p:nvSpPr>
        <p:spPr>
          <a:xfrm>
            <a:off x="548640" y="2606040"/>
            <a:ext cx="731520" cy="731520"/>
          </a:xfrm>
          <a:prstGeom prst="ellipse">
            <a:avLst/>
          </a:prstGeom>
          <a:solidFill>
            <a:srgbClr val="D2ECFC"/>
          </a:solidFill>
          <a:ln w="12700">
            <a:solidFill>
              <a:srgbClr val="D2ECFC"/>
            </a:solidFill>
            <a:prstDash val="solid"/>
          </a:ln>
        </p:spPr>
      </p:sp>
      <p:pic>
        <p:nvPicPr>
          <p:cNvPr id="9" name="Image 1" descr="preencoded.png">    </p:cNvPr>
          <p:cNvPicPr>
            <a:picLocks noChangeAspect="1"/>
          </p:cNvPicPr>
          <p:nvPr/>
        </p:nvPicPr>
        <p:blipFill>
          <a:blip r:embed="rId2"/>
          <a:stretch>
            <a:fillRect/>
          </a:stretch>
        </p:blipFill>
        <p:spPr>
          <a:xfrm>
            <a:off x="731520" y="2788920"/>
            <a:ext cx="365760" cy="365760"/>
          </a:xfrm>
          <a:prstGeom prst="rect">
            <a:avLst/>
          </a:prstGeom>
        </p:spPr>
      </p:pic>
      <p:sp>
        <p:nvSpPr>
          <p:cNvPr id="10" name="Text 6"/>
          <p:cNvSpPr txBox="1"/>
          <p:nvPr/>
        </p:nvSpPr>
        <p:spPr>
          <a:xfrm>
            <a:off x="1508760" y="2624328"/>
            <a:ext cx="5303520" cy="32004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Take the Test</a:t>
            </a:r>
            <a:endParaRPr lang="en-US" sz="1800" dirty="0"/>
          </a:p>
        </p:txBody>
      </p:sp>
      <p:sp>
        <p:nvSpPr>
          <p:cNvPr id="11" name="Text 7"/>
          <p:cNvSpPr txBox="1"/>
          <p:nvPr/>
        </p:nvSpPr>
        <p:spPr>
          <a:xfrm>
            <a:off x="1508760" y="2990088"/>
            <a:ext cx="5394960" cy="365760"/>
          </a:xfrm>
          <a:prstGeom prst="rect">
            <a:avLst/>
          </a:prstGeom>
          <a:noFill/>
          <a:ln/>
        </p:spPr>
        <p:txBody>
          <a:bodyPr wrap="square" lIns="0" tIns="0" rIns="0" bIns="0" rtlCol="0" anchor="t"/>
          <a:lstStyle/>
          <a:p>
            <a:pPr algn="l" indent="0" marL="0">
              <a:buNone/>
            </a:pPr>
            <a:r>
              <a:rPr lang="en-US" sz="1400" dirty="0">
                <a:solidFill>
                  <a:srgbClr val="606A74"/>
                </a:solidFill>
                <a:latin typeface="Calibri" pitchFamily="34" charset="0"/>
                <a:ea typeface="Calibri" pitchFamily="34" charset="-122"/>
                <a:cs typeface="Calibri" pitchFamily="34" charset="-120"/>
              </a:rPr>
              <a:t>Computer-based mock tests that mirror the real exam interface.</a:t>
            </a:r>
            <a:endParaRPr lang="en-US" sz="1400" dirty="0"/>
          </a:p>
        </p:txBody>
      </p:sp>
      <p:sp>
        <p:nvSpPr>
          <p:cNvPr id="12" name="Shape 8"/>
          <p:cNvSpPr/>
          <p:nvPr/>
        </p:nvSpPr>
        <p:spPr>
          <a:xfrm>
            <a:off x="548640" y="3630168"/>
            <a:ext cx="731520" cy="731520"/>
          </a:xfrm>
          <a:prstGeom prst="ellipse">
            <a:avLst/>
          </a:prstGeom>
          <a:solidFill>
            <a:srgbClr val="CBEFD6"/>
          </a:solidFill>
          <a:ln w="12700">
            <a:solidFill>
              <a:srgbClr val="CBEFD6"/>
            </a:solidFill>
            <a:prstDash val="solid"/>
          </a:ln>
        </p:spPr>
      </p:sp>
      <p:pic>
        <p:nvPicPr>
          <p:cNvPr id="13" name="Image 2" descr="preencoded.png">    </p:cNvPr>
          <p:cNvPicPr>
            <a:picLocks noChangeAspect="1"/>
          </p:cNvPicPr>
          <p:nvPr/>
        </p:nvPicPr>
        <p:blipFill>
          <a:blip r:embed="rId3"/>
          <a:stretch>
            <a:fillRect/>
          </a:stretch>
        </p:blipFill>
        <p:spPr>
          <a:xfrm>
            <a:off x="731520" y="3813048"/>
            <a:ext cx="365760" cy="365760"/>
          </a:xfrm>
          <a:prstGeom prst="rect">
            <a:avLst/>
          </a:prstGeom>
        </p:spPr>
      </p:pic>
      <p:sp>
        <p:nvSpPr>
          <p:cNvPr id="14" name="Text 9"/>
          <p:cNvSpPr txBox="1"/>
          <p:nvPr/>
        </p:nvSpPr>
        <p:spPr>
          <a:xfrm>
            <a:off x="1508760" y="3648456"/>
            <a:ext cx="5303520" cy="32004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Know Your Weaknesses</a:t>
            </a:r>
            <a:endParaRPr lang="en-US" sz="1800" dirty="0"/>
          </a:p>
        </p:txBody>
      </p:sp>
      <p:sp>
        <p:nvSpPr>
          <p:cNvPr id="15" name="Text 10"/>
          <p:cNvSpPr txBox="1"/>
          <p:nvPr/>
        </p:nvSpPr>
        <p:spPr>
          <a:xfrm>
            <a:off x="1508760" y="4014216"/>
            <a:ext cx="5394960" cy="365760"/>
          </a:xfrm>
          <a:prstGeom prst="rect">
            <a:avLst/>
          </a:prstGeom>
          <a:noFill/>
          <a:ln/>
        </p:spPr>
        <p:txBody>
          <a:bodyPr wrap="square" lIns="0" tIns="0" rIns="0" bIns="0" rtlCol="0" anchor="t"/>
          <a:lstStyle/>
          <a:p>
            <a:pPr algn="l" indent="0" marL="0">
              <a:buNone/>
            </a:pPr>
            <a:r>
              <a:rPr lang="en-US" sz="1400" dirty="0">
                <a:solidFill>
                  <a:srgbClr val="606A74"/>
                </a:solidFill>
                <a:latin typeface="Calibri" pitchFamily="34" charset="0"/>
                <a:ea typeface="Calibri" pitchFamily="34" charset="-122"/>
                <a:cs typeface="Calibri" pitchFamily="34" charset="-120"/>
              </a:rPr>
              <a:t>Subject-wise performance analysis after every attempt.</a:t>
            </a:r>
            <a:endParaRPr lang="en-US" sz="1400" dirty="0"/>
          </a:p>
        </p:txBody>
      </p:sp>
      <p:sp>
        <p:nvSpPr>
          <p:cNvPr id="16" name="Shape 11"/>
          <p:cNvSpPr/>
          <p:nvPr/>
        </p:nvSpPr>
        <p:spPr>
          <a:xfrm>
            <a:off x="548640" y="4654296"/>
            <a:ext cx="731520" cy="731520"/>
          </a:xfrm>
          <a:prstGeom prst="ellipse">
            <a:avLst/>
          </a:prstGeom>
          <a:solidFill>
            <a:srgbClr val="EDDEF9"/>
          </a:solidFill>
          <a:ln w="12700">
            <a:solidFill>
              <a:srgbClr val="EDDEF9"/>
            </a:solidFill>
            <a:prstDash val="solid"/>
          </a:ln>
        </p:spPr>
      </p:sp>
      <p:pic>
        <p:nvPicPr>
          <p:cNvPr id="17" name="Image 3" descr="preencoded.png">    </p:cNvPr>
          <p:cNvPicPr>
            <a:picLocks noChangeAspect="1"/>
          </p:cNvPicPr>
          <p:nvPr/>
        </p:nvPicPr>
        <p:blipFill>
          <a:blip r:embed="rId4"/>
          <a:stretch>
            <a:fillRect/>
          </a:stretch>
        </p:blipFill>
        <p:spPr>
          <a:xfrm>
            <a:off x="731520" y="4837176"/>
            <a:ext cx="365760" cy="365760"/>
          </a:xfrm>
          <a:prstGeom prst="rect">
            <a:avLst/>
          </a:prstGeom>
        </p:spPr>
      </p:pic>
      <p:sp>
        <p:nvSpPr>
          <p:cNvPr id="18" name="Text 12"/>
          <p:cNvSpPr txBox="1"/>
          <p:nvPr/>
        </p:nvSpPr>
        <p:spPr>
          <a:xfrm>
            <a:off x="1508760" y="4672584"/>
            <a:ext cx="5303520" cy="32004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Find the Right Mentor</a:t>
            </a:r>
            <a:endParaRPr lang="en-US" sz="1800" dirty="0"/>
          </a:p>
        </p:txBody>
      </p:sp>
      <p:sp>
        <p:nvSpPr>
          <p:cNvPr id="19" name="Text 13"/>
          <p:cNvSpPr txBox="1"/>
          <p:nvPr/>
        </p:nvSpPr>
        <p:spPr>
          <a:xfrm>
            <a:off x="1508760" y="5038344"/>
            <a:ext cx="5394960" cy="365760"/>
          </a:xfrm>
          <a:prstGeom prst="rect">
            <a:avLst/>
          </a:prstGeom>
          <a:noFill/>
          <a:ln/>
        </p:spPr>
        <p:txBody>
          <a:bodyPr wrap="square" lIns="0" tIns="0" rIns="0" bIns="0" rtlCol="0" anchor="t"/>
          <a:lstStyle/>
          <a:p>
            <a:pPr algn="l" indent="0" marL="0">
              <a:buNone/>
            </a:pPr>
            <a:r>
              <a:rPr lang="en-US" sz="1400" dirty="0">
                <a:solidFill>
                  <a:srgbClr val="606A74"/>
                </a:solidFill>
                <a:latin typeface="Calibri" pitchFamily="34" charset="0"/>
                <a:ea typeface="Calibri" pitchFamily="34" charset="-122"/>
                <a:cs typeface="Calibri" pitchFamily="34" charset="-120"/>
              </a:rPr>
              <a:t>A marketplace of mentors running live batches and sessions.</a:t>
            </a:r>
            <a:endParaRPr lang="en-US" sz="1400" dirty="0"/>
          </a:p>
        </p:txBody>
      </p:sp>
      <p:sp>
        <p:nvSpPr>
          <p:cNvPr id="20" name="Text 14"/>
          <p:cNvSpPr txBox="1"/>
          <p:nvPr/>
        </p:nvSpPr>
        <p:spPr>
          <a:xfrm>
            <a:off x="548640" y="5806440"/>
            <a:ext cx="6583680" cy="457200"/>
          </a:xfrm>
          <a:prstGeom prst="rect">
            <a:avLst/>
          </a:prstGeom>
          <a:noFill/>
          <a:ln/>
        </p:spPr>
        <p:txBody>
          <a:bodyPr wrap="square" lIns="0" tIns="0" rIns="0" bIns="0" rtlCol="0" anchor="t"/>
          <a:lstStyle/>
          <a:p>
            <a:pPr algn="l" indent="0" marL="0">
              <a:buNone/>
            </a:pPr>
            <a:r>
              <a:rPr lang="en-US" sz="1200" i="1" dirty="0">
                <a:solidFill>
                  <a:srgbClr val="606A74"/>
                </a:solidFill>
                <a:latin typeface="Calibri" pitchFamily="34" charset="0"/>
                <a:ea typeface="Calibri" pitchFamily="34" charset="-122"/>
                <a:cs typeface="Calibri" pitchFamily="34" charset="-120"/>
              </a:rPr>
              <a:t>Launched 10 September 2026  ·  Founded by Vishal Sharma, Tarun Yadav and Archita Priyadarshinee</a:t>
            </a:r>
            <a:endParaRPr lang="en-US" sz="1200" dirty="0"/>
          </a:p>
        </p:txBody>
      </p:sp>
      <p:sp>
        <p:nvSpPr>
          <p:cNvPr id="21" name="Shape 15"/>
          <p:cNvSpPr/>
          <p:nvPr/>
        </p:nvSpPr>
        <p:spPr>
          <a:xfrm>
            <a:off x="7498080" y="1600200"/>
            <a:ext cx="4114800" cy="4526280"/>
          </a:xfrm>
          <a:prstGeom prst="roundRect">
            <a:avLst>
              <a:gd name="adj" fmla="val 7778"/>
            </a:avLst>
          </a:prstGeom>
          <a:solidFill>
            <a:srgbClr val="D2ECFC"/>
          </a:solidFill>
          <a:ln w="12700">
            <a:solidFill>
              <a:srgbClr val="D2ECFC"/>
            </a:solidFill>
            <a:prstDash val="solid"/>
          </a:ln>
          <a:effectLst>
            <a:outerShdw sx="100000" sy="100000" kx="0" ky="0" algn="bl" rotWithShape="0" blurRad="127000" dist="25400" dir="5400000">
              <a:srgbClr val="0F172A">
                <a:alpha val="9000"/>
              </a:srgbClr>
            </a:outerShdw>
          </a:effectLst>
        </p:spPr>
      </p:sp>
      <p:pic>
        <p:nvPicPr>
          <p:cNvPr id="22" name="Image 4" descr="logo2x.png">    </p:cNvPr>
          <p:cNvPicPr>
            <a:picLocks noChangeAspect="1"/>
          </p:cNvPicPr>
          <p:nvPr/>
        </p:nvPicPr>
        <p:blipFill>
          <a:blip r:embed="rId5"/>
          <a:stretch>
            <a:fillRect/>
          </a:stretch>
        </p:blipFill>
        <p:spPr>
          <a:xfrm>
            <a:off x="8915400" y="1874520"/>
            <a:ext cx="1280160" cy="1450238"/>
          </a:xfrm>
          <a:prstGeom prst="rect">
            <a:avLst/>
          </a:prstGeom>
        </p:spPr>
      </p:pic>
      <p:sp>
        <p:nvSpPr>
          <p:cNvPr id="23" name="Text 16"/>
          <p:cNvSpPr txBox="1"/>
          <p:nvPr/>
        </p:nvSpPr>
        <p:spPr>
          <a:xfrm>
            <a:off x="7498080" y="3520440"/>
            <a:ext cx="4114800" cy="274320"/>
          </a:xfrm>
          <a:prstGeom prst="rect">
            <a:avLst/>
          </a:prstGeom>
          <a:noFill/>
          <a:ln/>
        </p:spPr>
        <p:txBody>
          <a:bodyPr wrap="square" lIns="0" tIns="0" rIns="0" bIns="0" rtlCol="0" anchor="t"/>
          <a:lstStyle/>
          <a:p>
            <a:pPr algn="ctr" indent="0" marL="0">
              <a:buNone/>
            </a:pPr>
            <a:r>
              <a:rPr lang="en-US" sz="1200" b="1" spc="200" kern="0" dirty="0">
                <a:solidFill>
                  <a:srgbClr val="004E90"/>
                </a:solidFill>
                <a:latin typeface="Calibri" pitchFamily="34" charset="0"/>
                <a:ea typeface="Calibri" pitchFamily="34" charset="-122"/>
                <a:cs typeface="Calibri" pitchFamily="34" charset="-120"/>
              </a:rPr>
              <a:t>Built for</a:t>
            </a:r>
            <a:endParaRPr lang="en-US" sz="1200" dirty="0"/>
          </a:p>
        </p:txBody>
      </p:sp>
      <p:sp>
        <p:nvSpPr>
          <p:cNvPr id="24" name="Shape 17"/>
          <p:cNvSpPr/>
          <p:nvPr/>
        </p:nvSpPr>
        <p:spPr>
          <a:xfrm>
            <a:off x="7772400" y="3931920"/>
            <a:ext cx="1691640" cy="896112"/>
          </a:xfrm>
          <a:prstGeom prst="roundRect">
            <a:avLst>
              <a:gd name="adj" fmla="val 18367"/>
            </a:avLst>
          </a:prstGeom>
          <a:solidFill>
            <a:srgbClr val="FFFFFF"/>
          </a:solidFill>
          <a:ln w="9525">
            <a:solidFill>
              <a:srgbClr val="D2ECFC"/>
            </a:solidFill>
            <a:prstDash val="solid"/>
          </a:ln>
        </p:spPr>
      </p:sp>
      <p:sp>
        <p:nvSpPr>
          <p:cNvPr id="25" name="Text 18"/>
          <p:cNvSpPr txBox="1"/>
          <p:nvPr/>
        </p:nvSpPr>
        <p:spPr>
          <a:xfrm>
            <a:off x="7772400" y="4059936"/>
            <a:ext cx="1691640" cy="365760"/>
          </a:xfrm>
          <a:prstGeom prst="rect">
            <a:avLst/>
          </a:prstGeom>
          <a:noFill/>
          <a:ln/>
        </p:spPr>
        <p:txBody>
          <a:bodyPr wrap="square" lIns="0" tIns="0" rIns="0" bIns="0" rtlCol="0" anchor="t"/>
          <a:lstStyle/>
          <a:p>
            <a:pPr algn="ctr" indent="0" marL="0">
              <a:buNone/>
            </a:pPr>
            <a:r>
              <a:rPr lang="en-US" sz="2000" b="1" dirty="0">
                <a:solidFill>
                  <a:srgbClr val="004E90"/>
                </a:solidFill>
                <a:latin typeface="Arial" pitchFamily="34" charset="0"/>
                <a:ea typeface="Arial" pitchFamily="34" charset="-122"/>
                <a:cs typeface="Arial" pitchFamily="34" charset="-120"/>
              </a:rPr>
              <a:t>NEET</a:t>
            </a:r>
            <a:endParaRPr lang="en-US" sz="2000" dirty="0"/>
          </a:p>
        </p:txBody>
      </p:sp>
      <p:sp>
        <p:nvSpPr>
          <p:cNvPr id="26" name="Text 19"/>
          <p:cNvSpPr txBox="1"/>
          <p:nvPr/>
        </p:nvSpPr>
        <p:spPr>
          <a:xfrm>
            <a:off x="7772400" y="4462272"/>
            <a:ext cx="1691640" cy="274320"/>
          </a:xfrm>
          <a:prstGeom prst="rect">
            <a:avLst/>
          </a:prstGeom>
          <a:noFill/>
          <a:ln/>
        </p:spPr>
        <p:txBody>
          <a:bodyPr wrap="square" lIns="0" tIns="0" rIns="0" bIns="0" rtlCol="0" anchor="t"/>
          <a:lstStyle/>
          <a:p>
            <a:pPr algn="ctr" indent="0" marL="0">
              <a:buNone/>
            </a:pPr>
            <a:r>
              <a:rPr lang="en-US" sz="1100" dirty="0">
                <a:solidFill>
                  <a:srgbClr val="606A74"/>
                </a:solidFill>
                <a:latin typeface="Calibri" pitchFamily="34" charset="0"/>
                <a:ea typeface="Calibri" pitchFamily="34" charset="-122"/>
                <a:cs typeface="Calibri" pitchFamily="34" charset="-120"/>
              </a:rPr>
              <a:t>Medical</a:t>
            </a:r>
            <a:endParaRPr lang="en-US" sz="1100" dirty="0"/>
          </a:p>
        </p:txBody>
      </p:sp>
      <p:sp>
        <p:nvSpPr>
          <p:cNvPr id="27" name="Shape 20"/>
          <p:cNvSpPr/>
          <p:nvPr/>
        </p:nvSpPr>
        <p:spPr>
          <a:xfrm>
            <a:off x="9601200" y="3931920"/>
            <a:ext cx="1691640" cy="896112"/>
          </a:xfrm>
          <a:prstGeom prst="roundRect">
            <a:avLst>
              <a:gd name="adj" fmla="val 18367"/>
            </a:avLst>
          </a:prstGeom>
          <a:solidFill>
            <a:srgbClr val="FFFFFF"/>
          </a:solidFill>
          <a:ln w="9525">
            <a:solidFill>
              <a:srgbClr val="D2ECFC"/>
            </a:solidFill>
            <a:prstDash val="solid"/>
          </a:ln>
        </p:spPr>
      </p:sp>
      <p:sp>
        <p:nvSpPr>
          <p:cNvPr id="28" name="Text 21"/>
          <p:cNvSpPr txBox="1"/>
          <p:nvPr/>
        </p:nvSpPr>
        <p:spPr>
          <a:xfrm>
            <a:off x="9601200" y="4059936"/>
            <a:ext cx="1691640" cy="365760"/>
          </a:xfrm>
          <a:prstGeom prst="rect">
            <a:avLst/>
          </a:prstGeom>
          <a:noFill/>
          <a:ln/>
        </p:spPr>
        <p:txBody>
          <a:bodyPr wrap="square" lIns="0" tIns="0" rIns="0" bIns="0" rtlCol="0" anchor="t"/>
          <a:lstStyle/>
          <a:p>
            <a:pPr algn="ctr" indent="0" marL="0">
              <a:buNone/>
            </a:pPr>
            <a:r>
              <a:rPr lang="en-US" sz="2000" b="1" dirty="0">
                <a:solidFill>
                  <a:srgbClr val="004E90"/>
                </a:solidFill>
                <a:latin typeface="Arial" pitchFamily="34" charset="0"/>
                <a:ea typeface="Arial" pitchFamily="34" charset="-122"/>
                <a:cs typeface="Arial" pitchFamily="34" charset="-120"/>
              </a:rPr>
              <a:t>JEE</a:t>
            </a:r>
            <a:endParaRPr lang="en-US" sz="2000" dirty="0"/>
          </a:p>
        </p:txBody>
      </p:sp>
      <p:sp>
        <p:nvSpPr>
          <p:cNvPr id="29" name="Text 22"/>
          <p:cNvSpPr txBox="1"/>
          <p:nvPr/>
        </p:nvSpPr>
        <p:spPr>
          <a:xfrm>
            <a:off x="9601200" y="4462272"/>
            <a:ext cx="1691640" cy="274320"/>
          </a:xfrm>
          <a:prstGeom prst="rect">
            <a:avLst/>
          </a:prstGeom>
          <a:noFill/>
          <a:ln/>
        </p:spPr>
        <p:txBody>
          <a:bodyPr wrap="square" lIns="0" tIns="0" rIns="0" bIns="0" rtlCol="0" anchor="t"/>
          <a:lstStyle/>
          <a:p>
            <a:pPr algn="ctr" indent="0" marL="0">
              <a:buNone/>
            </a:pPr>
            <a:r>
              <a:rPr lang="en-US" sz="1100" dirty="0">
                <a:solidFill>
                  <a:srgbClr val="606A74"/>
                </a:solidFill>
                <a:latin typeface="Calibri" pitchFamily="34" charset="0"/>
                <a:ea typeface="Calibri" pitchFamily="34" charset="-122"/>
                <a:cs typeface="Calibri" pitchFamily="34" charset="-120"/>
              </a:rPr>
              <a:t>Main &amp; Advanced</a:t>
            </a:r>
            <a:endParaRPr lang="en-US" sz="1100" dirty="0"/>
          </a:p>
        </p:txBody>
      </p:sp>
      <p:sp>
        <p:nvSpPr>
          <p:cNvPr id="30" name="Shape 23"/>
          <p:cNvSpPr/>
          <p:nvPr/>
        </p:nvSpPr>
        <p:spPr>
          <a:xfrm>
            <a:off x="7772400" y="4983480"/>
            <a:ext cx="1691640" cy="896112"/>
          </a:xfrm>
          <a:prstGeom prst="roundRect">
            <a:avLst>
              <a:gd name="adj" fmla="val 18367"/>
            </a:avLst>
          </a:prstGeom>
          <a:solidFill>
            <a:srgbClr val="FFFFFF"/>
          </a:solidFill>
          <a:ln w="9525">
            <a:solidFill>
              <a:srgbClr val="D2ECFC"/>
            </a:solidFill>
            <a:prstDash val="solid"/>
          </a:ln>
        </p:spPr>
      </p:sp>
      <p:sp>
        <p:nvSpPr>
          <p:cNvPr id="31" name="Text 24"/>
          <p:cNvSpPr txBox="1"/>
          <p:nvPr/>
        </p:nvSpPr>
        <p:spPr>
          <a:xfrm>
            <a:off x="7772400" y="5111496"/>
            <a:ext cx="1691640" cy="365760"/>
          </a:xfrm>
          <a:prstGeom prst="rect">
            <a:avLst/>
          </a:prstGeom>
          <a:noFill/>
          <a:ln/>
        </p:spPr>
        <p:txBody>
          <a:bodyPr wrap="square" lIns="0" tIns="0" rIns="0" bIns="0" rtlCol="0" anchor="t"/>
          <a:lstStyle/>
          <a:p>
            <a:pPr algn="ctr" indent="0" marL="0">
              <a:buNone/>
            </a:pPr>
            <a:r>
              <a:rPr lang="en-US" sz="2000" b="1" dirty="0">
                <a:solidFill>
                  <a:srgbClr val="004E90"/>
                </a:solidFill>
                <a:latin typeface="Arial" pitchFamily="34" charset="0"/>
                <a:ea typeface="Arial" pitchFamily="34" charset="-122"/>
                <a:cs typeface="Arial" pitchFamily="34" charset="-120"/>
              </a:rPr>
              <a:t>CUET</a:t>
            </a:r>
            <a:endParaRPr lang="en-US" sz="2000" dirty="0"/>
          </a:p>
        </p:txBody>
      </p:sp>
      <p:sp>
        <p:nvSpPr>
          <p:cNvPr id="32" name="Text 25"/>
          <p:cNvSpPr txBox="1"/>
          <p:nvPr/>
        </p:nvSpPr>
        <p:spPr>
          <a:xfrm>
            <a:off x="7772400" y="5513832"/>
            <a:ext cx="1691640" cy="274320"/>
          </a:xfrm>
          <a:prstGeom prst="rect">
            <a:avLst/>
          </a:prstGeom>
          <a:noFill/>
          <a:ln/>
        </p:spPr>
        <p:txBody>
          <a:bodyPr wrap="square" lIns="0" tIns="0" rIns="0" bIns="0" rtlCol="0" anchor="t"/>
          <a:lstStyle/>
          <a:p>
            <a:pPr algn="ctr" indent="0" marL="0">
              <a:buNone/>
            </a:pPr>
            <a:r>
              <a:rPr lang="en-US" sz="1100" dirty="0">
                <a:solidFill>
                  <a:srgbClr val="606A74"/>
                </a:solidFill>
                <a:latin typeface="Calibri" pitchFamily="34" charset="0"/>
                <a:ea typeface="Calibri" pitchFamily="34" charset="-122"/>
                <a:cs typeface="Calibri" pitchFamily="34" charset="-120"/>
              </a:rPr>
              <a:t>Undergraduate</a:t>
            </a:r>
            <a:endParaRPr lang="en-US" sz="1100" dirty="0"/>
          </a:p>
        </p:txBody>
      </p:sp>
      <p:sp>
        <p:nvSpPr>
          <p:cNvPr id="33" name="Shape 26"/>
          <p:cNvSpPr/>
          <p:nvPr/>
        </p:nvSpPr>
        <p:spPr>
          <a:xfrm>
            <a:off x="9601200" y="4983480"/>
            <a:ext cx="1691640" cy="896112"/>
          </a:xfrm>
          <a:prstGeom prst="roundRect">
            <a:avLst>
              <a:gd name="adj" fmla="val 18367"/>
            </a:avLst>
          </a:prstGeom>
          <a:solidFill>
            <a:srgbClr val="FFFFFF"/>
          </a:solidFill>
          <a:ln w="9525">
            <a:solidFill>
              <a:srgbClr val="D2ECFC"/>
            </a:solidFill>
            <a:prstDash val="solid"/>
          </a:ln>
        </p:spPr>
      </p:sp>
      <p:sp>
        <p:nvSpPr>
          <p:cNvPr id="34" name="Text 27"/>
          <p:cNvSpPr txBox="1"/>
          <p:nvPr/>
        </p:nvSpPr>
        <p:spPr>
          <a:xfrm>
            <a:off x="9601200" y="5111496"/>
            <a:ext cx="1691640" cy="365760"/>
          </a:xfrm>
          <a:prstGeom prst="rect">
            <a:avLst/>
          </a:prstGeom>
          <a:noFill/>
          <a:ln/>
        </p:spPr>
        <p:txBody>
          <a:bodyPr wrap="square" lIns="0" tIns="0" rIns="0" bIns="0" rtlCol="0" anchor="t"/>
          <a:lstStyle/>
          <a:p>
            <a:pPr algn="ctr" indent="0" marL="0">
              <a:buNone/>
            </a:pPr>
            <a:r>
              <a:rPr lang="en-US" sz="2000" b="1" dirty="0">
                <a:solidFill>
                  <a:srgbClr val="004E90"/>
                </a:solidFill>
                <a:latin typeface="Arial" pitchFamily="34" charset="0"/>
                <a:ea typeface="Arial" pitchFamily="34" charset="-122"/>
                <a:cs typeface="Arial" pitchFamily="34" charset="-120"/>
              </a:rPr>
              <a:t>IPMAT</a:t>
            </a:r>
            <a:endParaRPr lang="en-US" sz="2000" dirty="0"/>
          </a:p>
        </p:txBody>
      </p:sp>
      <p:sp>
        <p:nvSpPr>
          <p:cNvPr id="35" name="Text 28"/>
          <p:cNvSpPr txBox="1"/>
          <p:nvPr/>
        </p:nvSpPr>
        <p:spPr>
          <a:xfrm>
            <a:off x="9601200" y="5513832"/>
            <a:ext cx="1691640" cy="274320"/>
          </a:xfrm>
          <a:prstGeom prst="rect">
            <a:avLst/>
          </a:prstGeom>
          <a:noFill/>
          <a:ln/>
        </p:spPr>
        <p:txBody>
          <a:bodyPr wrap="square" lIns="0" tIns="0" rIns="0" bIns="0" rtlCol="0" anchor="t"/>
          <a:lstStyle/>
          <a:p>
            <a:pPr algn="ctr" indent="0" marL="0">
              <a:buNone/>
            </a:pPr>
            <a:r>
              <a:rPr lang="en-US" sz="1100" dirty="0">
                <a:solidFill>
                  <a:srgbClr val="606A74"/>
                </a:solidFill>
                <a:latin typeface="Calibri" pitchFamily="34" charset="0"/>
                <a:ea typeface="Calibri" pitchFamily="34" charset="-122"/>
                <a:cs typeface="Calibri" pitchFamily="34" charset="-120"/>
              </a:rPr>
              <a:t>Management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WHY THIS PROJECT</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The Problem and Our Solution</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548640" y="1691640"/>
            <a:ext cx="5440680" cy="4434840"/>
          </a:xfrm>
          <a:prstGeom prst="roundRect">
            <a:avLst>
              <a:gd name="adj" fmla="val 4536"/>
            </a:avLst>
          </a:prstGeom>
          <a:solidFill>
            <a:srgbClr val="FFD6CD"/>
          </a:solidFill>
          <a:ln w="12700">
            <a:solidFill>
              <a:srgbClr val="FFD6CD"/>
            </a:solidFill>
            <a:prstDash val="solid"/>
          </a:ln>
          <a:effectLst>
            <a:outerShdw sx="100000" sy="100000" kx="0" ky="0" algn="bl" rotWithShape="0" blurRad="127000" dist="25400" dir="5400000">
              <a:srgbClr val="0F172A">
                <a:alpha val="9000"/>
              </a:srgbClr>
            </a:outerShdw>
          </a:effectLst>
        </p:spPr>
      </p:sp>
      <p:sp>
        <p:nvSpPr>
          <p:cNvPr id="8" name="Shape 5"/>
          <p:cNvSpPr/>
          <p:nvPr/>
        </p:nvSpPr>
        <p:spPr>
          <a:xfrm>
            <a:off x="868680" y="196596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1005840" y="2103120"/>
            <a:ext cx="274320" cy="274320"/>
          </a:xfrm>
          <a:prstGeom prst="rect">
            <a:avLst/>
          </a:prstGeom>
        </p:spPr>
      </p:pic>
      <p:sp>
        <p:nvSpPr>
          <p:cNvPr id="10" name="Text 6"/>
          <p:cNvSpPr txBox="1"/>
          <p:nvPr/>
        </p:nvSpPr>
        <p:spPr>
          <a:xfrm>
            <a:off x="1600200" y="2084832"/>
            <a:ext cx="3657600" cy="365760"/>
          </a:xfrm>
          <a:prstGeom prst="rect">
            <a:avLst/>
          </a:prstGeom>
          <a:noFill/>
          <a:ln/>
        </p:spPr>
        <p:txBody>
          <a:bodyPr wrap="square" lIns="0" tIns="0" rIns="0" bIns="0" rtlCol="0" anchor="t"/>
          <a:lstStyle/>
          <a:p>
            <a:pPr algn="l" indent="0" marL="0">
              <a:buNone/>
            </a:pPr>
            <a:r>
              <a:rPr lang="en-US" sz="2200" b="1" dirty="0">
                <a:solidFill>
                  <a:srgbClr val="131B26"/>
                </a:solidFill>
                <a:latin typeface="Arial" pitchFamily="34" charset="0"/>
                <a:ea typeface="Arial" pitchFamily="34" charset="-122"/>
                <a:cs typeface="Arial" pitchFamily="34" charset="-120"/>
              </a:rPr>
              <a:t>The problem</a:t>
            </a:r>
            <a:endParaRPr lang="en-US" sz="2200" dirty="0"/>
          </a:p>
        </p:txBody>
      </p:sp>
      <p:sp>
        <p:nvSpPr>
          <p:cNvPr id="11" name="Text 7"/>
          <p:cNvSpPr txBox="1"/>
          <p:nvPr/>
        </p:nvSpPr>
        <p:spPr>
          <a:xfrm>
            <a:off x="868680" y="2788920"/>
            <a:ext cx="4800600" cy="3108960"/>
          </a:xfrm>
          <a:prstGeom prst="rect">
            <a:avLst/>
          </a:prstGeom>
          <a:noFill/>
          <a:ln/>
        </p:spPr>
        <p:txBody>
          <a:bodyPr wrap="square" lIns="0" tIns="0" rIns="0" bIns="0" rtlCol="0" anchor="t"/>
          <a:lstStyle/>
          <a:p>
            <a:pPr marL="177800" indent="-177800">
              <a:spcAft>
                <a:spcPts val="1600"/>
              </a:spcAft>
              <a:buSzPct val="100000"/>
              <a:buChar char="•"/>
            </a:pPr>
            <a:r>
              <a:rPr lang="en-US" sz="1600" b="1" dirty="0">
                <a:solidFill>
                  <a:srgbClr val="131B26"/>
                </a:solidFill>
                <a:latin typeface="Calibri" pitchFamily="34" charset="0"/>
                <a:ea typeface="Calibri" pitchFamily="34" charset="-122"/>
                <a:cs typeface="Calibri" pitchFamily="34" charset="-120"/>
              </a:rPr>
              <a:t>Unrealistic practice. </a:t>
            </a:r>
            <a:pPr indent="0" marL="0">
              <a:spcAft>
                <a:spcPts val="1600"/>
              </a:spcAft>
              <a:buNone/>
            </a:pPr>
            <a:r>
              <a:rPr lang="en-US" sz="1600" dirty="0">
                <a:solidFill>
                  <a:srgbClr val="131B26"/>
                </a:solidFill>
                <a:latin typeface="Calibri" pitchFamily="34" charset="0"/>
                <a:ea typeface="Calibri" pitchFamily="34" charset="-122"/>
                <a:cs typeface="Calibri" pitchFamily="34" charset="-120"/>
              </a:rPr>
              <a:t>Many mock-test tools do not feel like the real computer-based exam.</a:t>
            </a:r>
            <a:endParaRPr lang="en-US" sz="1600" dirty="0"/>
          </a:p>
          <a:p>
            <a:pPr marL="177800" indent="-177800">
              <a:spcAft>
                <a:spcPts val="1600"/>
              </a:spcAft>
              <a:buSzPct val="100000"/>
              <a:buChar char="•"/>
            </a:pPr>
            <a:r>
              <a:rPr lang="en-US" sz="1600" b="1" dirty="0">
                <a:solidFill>
                  <a:srgbClr val="131B26"/>
                </a:solidFill>
                <a:latin typeface="Calibri" pitchFamily="34" charset="0"/>
                <a:ea typeface="Calibri" pitchFamily="34" charset="-122"/>
                <a:cs typeface="Calibri" pitchFamily="34" charset="-120"/>
              </a:rPr>
              <a:t>Scores without insight. </a:t>
            </a:r>
            <a:pPr indent="0" marL="0">
              <a:spcAft>
                <a:spcPts val="1600"/>
              </a:spcAft>
              <a:buNone/>
            </a:pPr>
            <a:r>
              <a:rPr lang="en-US" sz="1600" dirty="0">
                <a:solidFill>
                  <a:srgbClr val="131B26"/>
                </a:solidFill>
                <a:latin typeface="Calibri" pitchFamily="34" charset="0"/>
                <a:ea typeface="Calibri" pitchFamily="34" charset="-122"/>
                <a:cs typeface="Calibri" pitchFamily="34" charset="-120"/>
              </a:rPr>
              <a:t>Students see a number but not which subjects or topics are dragging it down.</a:t>
            </a:r>
            <a:endParaRPr lang="en-US" sz="1600" dirty="0"/>
          </a:p>
          <a:p>
            <a:pPr marL="177800" indent="-177800">
              <a:spcAft>
                <a:spcPts val="1600"/>
              </a:spcAft>
              <a:buSzPct val="100000"/>
              <a:buChar char="•"/>
            </a:pPr>
            <a:r>
              <a:rPr lang="en-US" sz="1600" b="1" dirty="0">
                <a:solidFill>
                  <a:srgbClr val="131B26"/>
                </a:solidFill>
                <a:latin typeface="Calibri" pitchFamily="34" charset="0"/>
                <a:ea typeface="Calibri" pitchFamily="34" charset="-122"/>
                <a:cs typeface="Calibri" pitchFamily="34" charset="-120"/>
              </a:rPr>
              <a:t>Hard to find guidance. </a:t>
            </a:r>
            <a:pPr indent="0" marL="0">
              <a:spcAft>
                <a:spcPts val="1600"/>
              </a:spcAft>
              <a:buNone/>
            </a:pPr>
            <a:r>
              <a:rPr lang="en-US" sz="1600" dirty="0">
                <a:solidFill>
                  <a:srgbClr val="131B26"/>
                </a:solidFill>
                <a:latin typeface="Calibri" pitchFamily="34" charset="0"/>
                <a:ea typeface="Calibri" pitchFamily="34" charset="-122"/>
                <a:cs typeface="Calibri" pitchFamily="34" charset="-120"/>
              </a:rPr>
              <a:t>Aspirants struggle to find trustworthy mentors who have cleared the exam.</a:t>
            </a:r>
            <a:endParaRPr lang="en-US" sz="1600" dirty="0"/>
          </a:p>
          <a:p>
            <a:pPr marL="177800" indent="-177800">
              <a:spcAft>
                <a:spcPts val="1600"/>
              </a:spcAft>
              <a:buSzPct val="100000"/>
              <a:buChar char="•"/>
            </a:pPr>
            <a:r>
              <a:rPr lang="en-US" sz="1600" b="1" dirty="0">
                <a:solidFill>
                  <a:srgbClr val="131B26"/>
                </a:solidFill>
                <a:latin typeface="Calibri" pitchFamily="34" charset="0"/>
                <a:ea typeface="Calibri" pitchFamily="34" charset="-122"/>
                <a:cs typeface="Calibri" pitchFamily="34" charset="-120"/>
              </a:rPr>
              <a:t>No home for mentors. </a:t>
            </a:r>
            <a:pPr indent="0" marL="0">
              <a:spcAft>
                <a:spcPts val="1600"/>
              </a:spcAft>
              <a:buNone/>
            </a:pPr>
            <a:r>
              <a:rPr lang="en-US" sz="1600" dirty="0">
                <a:solidFill>
                  <a:srgbClr val="131B26"/>
                </a:solidFill>
                <a:latin typeface="Calibri" pitchFamily="34" charset="0"/>
                <a:ea typeface="Calibri" pitchFamily="34" charset="-122"/>
                <a:cs typeface="Calibri" pitchFamily="34" charset="-120"/>
              </a:rPr>
              <a:t>Mentors lack one place to run batches, host lectures, and get paid.</a:t>
            </a:r>
            <a:endParaRPr lang="en-US" sz="1600" dirty="0"/>
          </a:p>
        </p:txBody>
      </p:sp>
      <p:sp>
        <p:nvSpPr>
          <p:cNvPr id="12" name="Shape 8"/>
          <p:cNvSpPr/>
          <p:nvPr/>
        </p:nvSpPr>
        <p:spPr>
          <a:xfrm>
            <a:off x="6199632" y="1691640"/>
            <a:ext cx="5440680" cy="4434840"/>
          </a:xfrm>
          <a:prstGeom prst="roundRect">
            <a:avLst>
              <a:gd name="adj" fmla="val 4536"/>
            </a:avLst>
          </a:prstGeom>
          <a:solidFill>
            <a:srgbClr val="CBEFD6"/>
          </a:solidFill>
          <a:ln w="12700">
            <a:solidFill>
              <a:srgbClr val="CBEFD6"/>
            </a:solidFill>
            <a:prstDash val="solid"/>
          </a:ln>
          <a:effectLst>
            <a:outerShdw sx="100000" sy="100000" kx="0" ky="0" algn="bl" rotWithShape="0" blurRad="127000" dist="25400" dir="5400000">
              <a:srgbClr val="0F172A">
                <a:alpha val="9000"/>
              </a:srgbClr>
            </a:outerShdw>
          </a:effectLst>
        </p:spPr>
      </p:sp>
      <p:sp>
        <p:nvSpPr>
          <p:cNvPr id="13" name="Shape 9"/>
          <p:cNvSpPr/>
          <p:nvPr/>
        </p:nvSpPr>
        <p:spPr>
          <a:xfrm>
            <a:off x="6519672" y="196596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656832" y="2103120"/>
            <a:ext cx="274320" cy="274320"/>
          </a:xfrm>
          <a:prstGeom prst="rect">
            <a:avLst/>
          </a:prstGeom>
        </p:spPr>
      </p:pic>
      <p:sp>
        <p:nvSpPr>
          <p:cNvPr id="15" name="Text 10"/>
          <p:cNvSpPr txBox="1"/>
          <p:nvPr/>
        </p:nvSpPr>
        <p:spPr>
          <a:xfrm>
            <a:off x="7251192" y="2084832"/>
            <a:ext cx="3657600" cy="365760"/>
          </a:xfrm>
          <a:prstGeom prst="rect">
            <a:avLst/>
          </a:prstGeom>
          <a:noFill/>
          <a:ln/>
        </p:spPr>
        <p:txBody>
          <a:bodyPr wrap="square" lIns="0" tIns="0" rIns="0" bIns="0" rtlCol="0" anchor="t"/>
          <a:lstStyle/>
          <a:p>
            <a:pPr algn="l" indent="0" marL="0">
              <a:buNone/>
            </a:pPr>
            <a:r>
              <a:rPr lang="en-US" sz="2200" b="1" dirty="0">
                <a:solidFill>
                  <a:srgbClr val="131B26"/>
                </a:solidFill>
                <a:latin typeface="Arial" pitchFamily="34" charset="0"/>
                <a:ea typeface="Arial" pitchFamily="34" charset="-122"/>
                <a:cs typeface="Arial" pitchFamily="34" charset="-120"/>
              </a:rPr>
              <a:t>What we built</a:t>
            </a:r>
            <a:endParaRPr lang="en-US" sz="2200" dirty="0"/>
          </a:p>
        </p:txBody>
      </p:sp>
      <p:sp>
        <p:nvSpPr>
          <p:cNvPr id="16" name="Text 11"/>
          <p:cNvSpPr txBox="1"/>
          <p:nvPr/>
        </p:nvSpPr>
        <p:spPr>
          <a:xfrm>
            <a:off x="6519672" y="2788920"/>
            <a:ext cx="4800600" cy="3108960"/>
          </a:xfrm>
          <a:prstGeom prst="rect">
            <a:avLst/>
          </a:prstGeom>
          <a:noFill/>
          <a:ln/>
        </p:spPr>
        <p:txBody>
          <a:bodyPr wrap="square" lIns="0" tIns="0" rIns="0" bIns="0" rtlCol="0" anchor="t"/>
          <a:lstStyle/>
          <a:p>
            <a:pPr marL="177800" indent="-177800">
              <a:spcAft>
                <a:spcPts val="1600"/>
              </a:spcAft>
              <a:buSzPct val="100000"/>
              <a:buChar char="•"/>
            </a:pPr>
            <a:r>
              <a:rPr lang="en-US" sz="1600" b="1" dirty="0">
                <a:solidFill>
                  <a:srgbClr val="131B26"/>
                </a:solidFill>
                <a:latin typeface="Calibri" pitchFamily="34" charset="0"/>
                <a:ea typeface="Calibri" pitchFamily="34" charset="-122"/>
                <a:cs typeface="Calibri" pitchFamily="34" charset="-120"/>
              </a:rPr>
              <a:t>A real CBT engine. </a:t>
            </a:r>
            <a:pPr indent="0" marL="0">
              <a:spcAft>
                <a:spcPts val="1600"/>
              </a:spcAft>
              <a:buNone/>
            </a:pPr>
            <a:r>
              <a:rPr lang="en-US" sz="1600" dirty="0">
                <a:solidFill>
                  <a:srgbClr val="131B26"/>
                </a:solidFill>
                <a:latin typeface="Calibri" pitchFamily="34" charset="0"/>
                <a:ea typeface="Calibri" pitchFamily="34" charset="-122"/>
                <a:cs typeface="Calibri" pitchFamily="34" charset="-120"/>
              </a:rPr>
              <a:t>Timed tests with question palette, marking, and secure server-side grading.</a:t>
            </a:r>
            <a:endParaRPr lang="en-US" sz="1600" dirty="0"/>
          </a:p>
          <a:p>
            <a:pPr marL="177800" indent="-177800">
              <a:spcAft>
                <a:spcPts val="1600"/>
              </a:spcAft>
              <a:buSzPct val="100000"/>
              <a:buChar char="•"/>
            </a:pPr>
            <a:r>
              <a:rPr lang="en-US" sz="1600" b="1" dirty="0">
                <a:solidFill>
                  <a:srgbClr val="131B26"/>
                </a:solidFill>
                <a:latin typeface="Calibri" pitchFamily="34" charset="0"/>
                <a:ea typeface="Calibri" pitchFamily="34" charset="-122"/>
                <a:cs typeface="Calibri" pitchFamily="34" charset="-120"/>
              </a:rPr>
              <a:t>Actionable analytics. </a:t>
            </a:r>
            <a:pPr indent="0" marL="0">
              <a:spcAft>
                <a:spcPts val="1600"/>
              </a:spcAft>
              <a:buNone/>
            </a:pPr>
            <a:r>
              <a:rPr lang="en-US" sz="1600" dirty="0">
                <a:solidFill>
                  <a:srgbClr val="131B26"/>
                </a:solidFill>
                <a:latin typeface="Calibri" pitchFamily="34" charset="0"/>
                <a:ea typeface="Calibri" pitchFamily="34" charset="-122"/>
                <a:cs typeface="Calibri" pitchFamily="34" charset="-120"/>
              </a:rPr>
              <a:t>Result and subject-wise breakdowns plus mentor recommendations.</a:t>
            </a:r>
            <a:endParaRPr lang="en-US" sz="1600" dirty="0"/>
          </a:p>
          <a:p>
            <a:pPr marL="177800" indent="-177800">
              <a:spcAft>
                <a:spcPts val="1600"/>
              </a:spcAft>
              <a:buSzPct val="100000"/>
              <a:buChar char="•"/>
            </a:pPr>
            <a:r>
              <a:rPr lang="en-US" sz="1600" b="1" dirty="0">
                <a:solidFill>
                  <a:srgbClr val="131B26"/>
                </a:solidFill>
                <a:latin typeface="Calibri" pitchFamily="34" charset="0"/>
                <a:ea typeface="Calibri" pitchFamily="34" charset="-122"/>
                <a:cs typeface="Calibri" pitchFamily="34" charset="-120"/>
              </a:rPr>
              <a:t>A mentor marketplace. </a:t>
            </a:r>
            <a:pPr indent="0" marL="0">
              <a:spcAft>
                <a:spcPts val="1600"/>
              </a:spcAft>
              <a:buNone/>
            </a:pPr>
            <a:r>
              <a:rPr lang="en-US" sz="1600" dirty="0">
                <a:solidFill>
                  <a:srgbClr val="131B26"/>
                </a:solidFill>
                <a:latin typeface="Calibri" pitchFamily="34" charset="0"/>
                <a:ea typeface="Calibri" pitchFamily="34" charset="-122"/>
                <a:cs typeface="Calibri" pitchFamily="34" charset="-120"/>
              </a:rPr>
              <a:t>Batches, lectures, chat, sessions, and test series in one hub.</a:t>
            </a:r>
            <a:endParaRPr lang="en-US" sz="1600" dirty="0"/>
          </a:p>
          <a:p>
            <a:pPr marL="177800" indent="-177800">
              <a:spcAft>
                <a:spcPts val="1600"/>
              </a:spcAft>
              <a:buSzPct val="100000"/>
              <a:buChar char="•"/>
            </a:pPr>
            <a:r>
              <a:rPr lang="en-US" sz="1600" b="1" dirty="0">
                <a:solidFill>
                  <a:srgbClr val="131B26"/>
                </a:solidFill>
                <a:latin typeface="Calibri" pitchFamily="34" charset="0"/>
                <a:ea typeface="Calibri" pitchFamily="34" charset="-122"/>
                <a:cs typeface="Calibri" pitchFamily="34" charset="-120"/>
              </a:rPr>
              <a:t>A complete business layer. </a:t>
            </a:r>
            <a:pPr indent="0" marL="0">
              <a:spcAft>
                <a:spcPts val="1600"/>
              </a:spcAft>
              <a:buNone/>
            </a:pPr>
            <a:r>
              <a:rPr lang="en-US" sz="1600" dirty="0">
                <a:solidFill>
                  <a:srgbClr val="131B26"/>
                </a:solidFill>
                <a:latin typeface="Calibri" pitchFamily="34" charset="0"/>
                <a:ea typeface="Calibri" pitchFamily="34" charset="-122"/>
                <a:cs typeface="Calibri" pitchFamily="34" charset="-120"/>
              </a:rPr>
              <a:t>Payments, promoters, admin tools, and email, all production-ready.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CONTRIBUTION</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My Role and Responsibilities</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91640"/>
            <a:ext cx="3566160" cy="2103120"/>
          </a:xfrm>
          <a:prstGeom prst="roundRect">
            <a:avLst>
              <a:gd name="adj" fmla="val 9565"/>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8" name="Shape 5"/>
          <p:cNvSpPr/>
          <p:nvPr/>
        </p:nvSpPr>
        <p:spPr>
          <a:xfrm>
            <a:off x="822960" y="1965960"/>
            <a:ext cx="640080" cy="640080"/>
          </a:xfrm>
          <a:prstGeom prst="ellipse">
            <a:avLst/>
          </a:prstGeom>
          <a:solidFill>
            <a:srgbClr val="D2ECFC"/>
          </a:solidFill>
          <a:ln w="12700">
            <a:solidFill>
              <a:srgbClr val="D2ECFC"/>
            </a:solidFill>
            <a:prstDash val="solid"/>
          </a:ln>
        </p:spPr>
      </p:sp>
      <p:pic>
        <p:nvPicPr>
          <p:cNvPr id="9" name="Image 1" descr="preencoded.png">    </p:cNvPr>
          <p:cNvPicPr>
            <a:picLocks noChangeAspect="1"/>
          </p:cNvPicPr>
          <p:nvPr/>
        </p:nvPicPr>
        <p:blipFill>
          <a:blip r:embed="rId2"/>
          <a:stretch>
            <a:fillRect/>
          </a:stretch>
        </p:blipFill>
        <p:spPr>
          <a:xfrm>
            <a:off x="982980" y="2125980"/>
            <a:ext cx="320040" cy="320040"/>
          </a:xfrm>
          <a:prstGeom prst="rect">
            <a:avLst/>
          </a:prstGeom>
        </p:spPr>
      </p:pic>
      <p:sp>
        <p:nvSpPr>
          <p:cNvPr id="10" name="Text 6"/>
          <p:cNvSpPr txBox="1"/>
          <p:nvPr/>
        </p:nvSpPr>
        <p:spPr>
          <a:xfrm>
            <a:off x="822960" y="2743200"/>
            <a:ext cx="3017520" cy="32004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Architecture &amp; Data</a:t>
            </a:r>
            <a:endParaRPr lang="en-US" sz="1800" dirty="0"/>
          </a:p>
        </p:txBody>
      </p:sp>
      <p:sp>
        <p:nvSpPr>
          <p:cNvPr id="11" name="Text 7"/>
          <p:cNvSpPr txBox="1"/>
          <p:nvPr/>
        </p:nvSpPr>
        <p:spPr>
          <a:xfrm>
            <a:off x="822960" y="3108960"/>
            <a:ext cx="3017520" cy="59436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Designed the platform structure and a MongoDB data model of 45+ collections.</a:t>
            </a:r>
            <a:endParaRPr lang="en-US" sz="1300" dirty="0"/>
          </a:p>
        </p:txBody>
      </p:sp>
      <p:sp>
        <p:nvSpPr>
          <p:cNvPr id="12" name="Shape 8"/>
          <p:cNvSpPr/>
          <p:nvPr/>
        </p:nvSpPr>
        <p:spPr>
          <a:xfrm>
            <a:off x="4311396" y="1691640"/>
            <a:ext cx="3566160" cy="2103120"/>
          </a:xfrm>
          <a:prstGeom prst="roundRect">
            <a:avLst>
              <a:gd name="adj" fmla="val 9565"/>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13" name="Shape 9"/>
          <p:cNvSpPr/>
          <p:nvPr/>
        </p:nvSpPr>
        <p:spPr>
          <a:xfrm>
            <a:off x="4585716" y="1965960"/>
            <a:ext cx="640080" cy="640080"/>
          </a:xfrm>
          <a:prstGeom prst="ellipse">
            <a:avLst/>
          </a:prstGeom>
          <a:solidFill>
            <a:srgbClr val="C7EEEA"/>
          </a:solidFill>
          <a:ln w="12700">
            <a:solidFill>
              <a:srgbClr val="C7EEEA"/>
            </a:solidFill>
            <a:prstDash val="solid"/>
          </a:ln>
        </p:spPr>
      </p:sp>
      <p:pic>
        <p:nvPicPr>
          <p:cNvPr id="14" name="Image 2" descr="preencoded.png">    </p:cNvPr>
          <p:cNvPicPr>
            <a:picLocks noChangeAspect="1"/>
          </p:cNvPicPr>
          <p:nvPr/>
        </p:nvPicPr>
        <p:blipFill>
          <a:blip r:embed="rId3"/>
          <a:stretch>
            <a:fillRect/>
          </a:stretch>
        </p:blipFill>
        <p:spPr>
          <a:xfrm>
            <a:off x="4745736" y="2125980"/>
            <a:ext cx="320040" cy="320040"/>
          </a:xfrm>
          <a:prstGeom prst="rect">
            <a:avLst/>
          </a:prstGeom>
        </p:spPr>
      </p:pic>
      <p:sp>
        <p:nvSpPr>
          <p:cNvPr id="15" name="Text 10"/>
          <p:cNvSpPr txBox="1"/>
          <p:nvPr/>
        </p:nvSpPr>
        <p:spPr>
          <a:xfrm>
            <a:off x="4585716" y="2743200"/>
            <a:ext cx="3017520" cy="32004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Frontend</a:t>
            </a:r>
            <a:endParaRPr lang="en-US" sz="1800" dirty="0"/>
          </a:p>
        </p:txBody>
      </p:sp>
      <p:sp>
        <p:nvSpPr>
          <p:cNvPr id="16" name="Text 11"/>
          <p:cNvSpPr txBox="1"/>
          <p:nvPr/>
        </p:nvSpPr>
        <p:spPr>
          <a:xfrm>
            <a:off x="4585716" y="3108960"/>
            <a:ext cx="3017520" cy="59436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Built responsive React + TypeScript interfaces for five role-based portals.</a:t>
            </a:r>
            <a:endParaRPr lang="en-US" sz="1300" dirty="0"/>
          </a:p>
        </p:txBody>
      </p:sp>
      <p:sp>
        <p:nvSpPr>
          <p:cNvPr id="17" name="Shape 12"/>
          <p:cNvSpPr/>
          <p:nvPr/>
        </p:nvSpPr>
        <p:spPr>
          <a:xfrm>
            <a:off x="8074152" y="1691640"/>
            <a:ext cx="3566160" cy="2103120"/>
          </a:xfrm>
          <a:prstGeom prst="roundRect">
            <a:avLst>
              <a:gd name="adj" fmla="val 9565"/>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18" name="Shape 13"/>
          <p:cNvSpPr/>
          <p:nvPr/>
        </p:nvSpPr>
        <p:spPr>
          <a:xfrm>
            <a:off x="8348472" y="1965960"/>
            <a:ext cx="640080" cy="640080"/>
          </a:xfrm>
          <a:prstGeom prst="ellipse">
            <a:avLst/>
          </a:prstGeom>
          <a:solidFill>
            <a:srgbClr val="EDDEF9"/>
          </a:solidFill>
          <a:ln w="12700">
            <a:solidFill>
              <a:srgbClr val="EDDEF9"/>
            </a:solidFill>
            <a:prstDash val="solid"/>
          </a:ln>
        </p:spPr>
      </p:sp>
      <p:pic>
        <p:nvPicPr>
          <p:cNvPr id="19" name="Image 3" descr="preencoded.png">    </p:cNvPr>
          <p:cNvPicPr>
            <a:picLocks noChangeAspect="1"/>
          </p:cNvPicPr>
          <p:nvPr/>
        </p:nvPicPr>
        <p:blipFill>
          <a:blip r:embed="rId4"/>
          <a:stretch>
            <a:fillRect/>
          </a:stretch>
        </p:blipFill>
        <p:spPr>
          <a:xfrm>
            <a:off x="8508492" y="2125980"/>
            <a:ext cx="320040" cy="320040"/>
          </a:xfrm>
          <a:prstGeom prst="rect">
            <a:avLst/>
          </a:prstGeom>
        </p:spPr>
      </p:pic>
      <p:sp>
        <p:nvSpPr>
          <p:cNvPr id="20" name="Text 14"/>
          <p:cNvSpPr txBox="1"/>
          <p:nvPr/>
        </p:nvSpPr>
        <p:spPr>
          <a:xfrm>
            <a:off x="8348472" y="2743200"/>
            <a:ext cx="3017520" cy="32004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Secure Backend</a:t>
            </a:r>
            <a:endParaRPr lang="en-US" sz="1800" dirty="0"/>
          </a:p>
        </p:txBody>
      </p:sp>
      <p:sp>
        <p:nvSpPr>
          <p:cNvPr id="21" name="Text 15"/>
          <p:cNvSpPr txBox="1"/>
          <p:nvPr/>
        </p:nvSpPr>
        <p:spPr>
          <a:xfrm>
            <a:off x="8348472" y="3108960"/>
            <a:ext cx="3017520" cy="59436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Wrote 270+ server functions with validation, access control, and error handling.</a:t>
            </a:r>
            <a:endParaRPr lang="en-US" sz="1300" dirty="0"/>
          </a:p>
        </p:txBody>
      </p:sp>
      <p:sp>
        <p:nvSpPr>
          <p:cNvPr id="22" name="Shape 16"/>
          <p:cNvSpPr/>
          <p:nvPr/>
        </p:nvSpPr>
        <p:spPr>
          <a:xfrm>
            <a:off x="548640" y="4023360"/>
            <a:ext cx="3566160" cy="2103120"/>
          </a:xfrm>
          <a:prstGeom prst="roundRect">
            <a:avLst>
              <a:gd name="adj" fmla="val 9565"/>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3" name="Shape 17"/>
          <p:cNvSpPr/>
          <p:nvPr/>
        </p:nvSpPr>
        <p:spPr>
          <a:xfrm>
            <a:off x="822960" y="4297680"/>
            <a:ext cx="640080" cy="640080"/>
          </a:xfrm>
          <a:prstGeom prst="ellipse">
            <a:avLst/>
          </a:prstGeom>
          <a:solidFill>
            <a:srgbClr val="CBEFD6"/>
          </a:solidFill>
          <a:ln w="12700">
            <a:solidFill>
              <a:srgbClr val="CBEFD6"/>
            </a:solidFill>
            <a:prstDash val="solid"/>
          </a:ln>
        </p:spPr>
      </p:sp>
      <p:pic>
        <p:nvPicPr>
          <p:cNvPr id="24" name="Image 4" descr="preencoded.png">    </p:cNvPr>
          <p:cNvPicPr>
            <a:picLocks noChangeAspect="1"/>
          </p:cNvPicPr>
          <p:nvPr/>
        </p:nvPicPr>
        <p:blipFill>
          <a:blip r:embed="rId5"/>
          <a:stretch>
            <a:fillRect/>
          </a:stretch>
        </p:blipFill>
        <p:spPr>
          <a:xfrm>
            <a:off x="982980" y="4457700"/>
            <a:ext cx="320040" cy="320040"/>
          </a:xfrm>
          <a:prstGeom prst="rect">
            <a:avLst/>
          </a:prstGeom>
        </p:spPr>
      </p:pic>
      <p:sp>
        <p:nvSpPr>
          <p:cNvPr id="25" name="Text 18"/>
          <p:cNvSpPr txBox="1"/>
          <p:nvPr/>
        </p:nvSpPr>
        <p:spPr>
          <a:xfrm>
            <a:off x="822960" y="5074920"/>
            <a:ext cx="3017520" cy="32004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Payments</a:t>
            </a:r>
            <a:endParaRPr lang="en-US" sz="1800" dirty="0"/>
          </a:p>
        </p:txBody>
      </p:sp>
      <p:sp>
        <p:nvSpPr>
          <p:cNvPr id="26" name="Text 19"/>
          <p:cNvSpPr txBox="1"/>
          <p:nvPr/>
        </p:nvSpPr>
        <p:spPr>
          <a:xfrm>
            <a:off x="822960" y="5440680"/>
            <a:ext cx="3017520" cy="59436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Integrated Razorpay with server-side pricing and signature verification.</a:t>
            </a:r>
            <a:endParaRPr lang="en-US" sz="1300" dirty="0"/>
          </a:p>
        </p:txBody>
      </p:sp>
      <p:sp>
        <p:nvSpPr>
          <p:cNvPr id="27" name="Shape 20"/>
          <p:cNvSpPr/>
          <p:nvPr/>
        </p:nvSpPr>
        <p:spPr>
          <a:xfrm>
            <a:off x="4311396" y="4023360"/>
            <a:ext cx="3566160" cy="2103120"/>
          </a:xfrm>
          <a:prstGeom prst="roundRect">
            <a:avLst>
              <a:gd name="adj" fmla="val 9565"/>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8" name="Shape 21"/>
          <p:cNvSpPr/>
          <p:nvPr/>
        </p:nvSpPr>
        <p:spPr>
          <a:xfrm>
            <a:off x="4585716" y="4297680"/>
            <a:ext cx="640080" cy="640080"/>
          </a:xfrm>
          <a:prstGeom prst="ellipse">
            <a:avLst/>
          </a:prstGeom>
          <a:solidFill>
            <a:srgbClr val="F7ECBE"/>
          </a:solidFill>
          <a:ln w="12700">
            <a:solidFill>
              <a:srgbClr val="F7ECBE"/>
            </a:solidFill>
            <a:prstDash val="solid"/>
          </a:ln>
        </p:spPr>
      </p:sp>
      <p:pic>
        <p:nvPicPr>
          <p:cNvPr id="29" name="Image 5" descr="preencoded.png">    </p:cNvPr>
          <p:cNvPicPr>
            <a:picLocks noChangeAspect="1"/>
          </p:cNvPicPr>
          <p:nvPr/>
        </p:nvPicPr>
        <p:blipFill>
          <a:blip r:embed="rId6"/>
          <a:stretch>
            <a:fillRect/>
          </a:stretch>
        </p:blipFill>
        <p:spPr>
          <a:xfrm>
            <a:off x="4745736" y="4457700"/>
            <a:ext cx="320040" cy="320040"/>
          </a:xfrm>
          <a:prstGeom prst="rect">
            <a:avLst/>
          </a:prstGeom>
        </p:spPr>
      </p:pic>
      <p:sp>
        <p:nvSpPr>
          <p:cNvPr id="30" name="Text 22"/>
          <p:cNvSpPr txBox="1"/>
          <p:nvPr/>
        </p:nvSpPr>
        <p:spPr>
          <a:xfrm>
            <a:off x="4585716" y="5074920"/>
            <a:ext cx="3017520" cy="32004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Cloud &amp; Services</a:t>
            </a:r>
            <a:endParaRPr lang="en-US" sz="1800" dirty="0"/>
          </a:p>
        </p:txBody>
      </p:sp>
      <p:sp>
        <p:nvSpPr>
          <p:cNvPr id="31" name="Text 23"/>
          <p:cNvSpPr txBox="1"/>
          <p:nvPr/>
        </p:nvSpPr>
        <p:spPr>
          <a:xfrm>
            <a:off x="4585716" y="5440680"/>
            <a:ext cx="3017520" cy="59436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Set up S3, CloudFront, Supabase storage, Firebase Auth, and Resend email.</a:t>
            </a:r>
            <a:endParaRPr lang="en-US" sz="1300" dirty="0"/>
          </a:p>
        </p:txBody>
      </p:sp>
      <p:sp>
        <p:nvSpPr>
          <p:cNvPr id="32" name="Shape 24"/>
          <p:cNvSpPr/>
          <p:nvPr/>
        </p:nvSpPr>
        <p:spPr>
          <a:xfrm>
            <a:off x="8074152" y="4023360"/>
            <a:ext cx="3566160" cy="2103120"/>
          </a:xfrm>
          <a:prstGeom prst="roundRect">
            <a:avLst>
              <a:gd name="adj" fmla="val 9565"/>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33" name="Shape 25"/>
          <p:cNvSpPr/>
          <p:nvPr/>
        </p:nvSpPr>
        <p:spPr>
          <a:xfrm>
            <a:off x="8348472" y="4297680"/>
            <a:ext cx="640080" cy="640080"/>
          </a:xfrm>
          <a:prstGeom prst="ellipse">
            <a:avLst/>
          </a:prstGeom>
          <a:solidFill>
            <a:srgbClr val="FFD6CD"/>
          </a:solidFill>
          <a:ln w="12700">
            <a:solidFill>
              <a:srgbClr val="FFD6CD"/>
            </a:solidFill>
            <a:prstDash val="solid"/>
          </a:ln>
        </p:spPr>
      </p:sp>
      <p:pic>
        <p:nvPicPr>
          <p:cNvPr id="34" name="Image 6" descr="preencoded.png">    </p:cNvPr>
          <p:cNvPicPr>
            <a:picLocks noChangeAspect="1"/>
          </p:cNvPicPr>
          <p:nvPr/>
        </p:nvPicPr>
        <p:blipFill>
          <a:blip r:embed="rId7"/>
          <a:stretch>
            <a:fillRect/>
          </a:stretch>
        </p:blipFill>
        <p:spPr>
          <a:xfrm>
            <a:off x="8508492" y="4457700"/>
            <a:ext cx="320040" cy="320040"/>
          </a:xfrm>
          <a:prstGeom prst="rect">
            <a:avLst/>
          </a:prstGeom>
        </p:spPr>
      </p:pic>
      <p:sp>
        <p:nvSpPr>
          <p:cNvPr id="35" name="Text 26"/>
          <p:cNvSpPr txBox="1"/>
          <p:nvPr/>
        </p:nvSpPr>
        <p:spPr>
          <a:xfrm>
            <a:off x="8348472" y="5074920"/>
            <a:ext cx="3017520" cy="32004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Launch</a:t>
            </a:r>
            <a:endParaRPr lang="en-US" sz="1800" dirty="0"/>
          </a:p>
        </p:txBody>
      </p:sp>
      <p:sp>
        <p:nvSpPr>
          <p:cNvPr id="36" name="Text 27"/>
          <p:cNvSpPr txBox="1"/>
          <p:nvPr/>
        </p:nvSpPr>
        <p:spPr>
          <a:xfrm>
            <a:off x="8348472" y="5440680"/>
            <a:ext cx="3017520" cy="59436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Deployed to production, fixed live issues, and took the platform public.</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THE PLATFORM</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One Platform, Five Portals</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48640" y="1691640"/>
            <a:ext cx="2103120" cy="4023360"/>
          </a:xfrm>
          <a:prstGeom prst="roundRect">
            <a:avLst>
              <a:gd name="adj" fmla="val 9565"/>
            </a:avLst>
          </a:prstGeom>
          <a:solidFill>
            <a:srgbClr val="D2ECFC"/>
          </a:solidFill>
          <a:ln w="12700">
            <a:solidFill>
              <a:srgbClr val="D2ECFC"/>
            </a:solidFill>
            <a:prstDash val="solid"/>
          </a:ln>
        </p:spPr>
      </p:sp>
      <p:sp>
        <p:nvSpPr>
          <p:cNvPr id="8" name="Shape 5"/>
          <p:cNvSpPr/>
          <p:nvPr/>
        </p:nvSpPr>
        <p:spPr>
          <a:xfrm>
            <a:off x="822960" y="2011680"/>
            <a:ext cx="777240" cy="7772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1017270" y="2205990"/>
            <a:ext cx="388620" cy="388620"/>
          </a:xfrm>
          <a:prstGeom prst="rect">
            <a:avLst/>
          </a:prstGeom>
        </p:spPr>
      </p:pic>
      <p:sp>
        <p:nvSpPr>
          <p:cNvPr id="10" name="Text 6"/>
          <p:cNvSpPr txBox="1"/>
          <p:nvPr/>
        </p:nvSpPr>
        <p:spPr>
          <a:xfrm>
            <a:off x="822960" y="2971800"/>
            <a:ext cx="1645920" cy="365760"/>
          </a:xfrm>
          <a:prstGeom prst="rect">
            <a:avLst/>
          </a:prstGeom>
          <a:noFill/>
          <a:ln/>
        </p:spPr>
        <p:txBody>
          <a:bodyPr wrap="square" lIns="0" tIns="0" rIns="0" bIns="0" rtlCol="0" anchor="t"/>
          <a:lstStyle/>
          <a:p>
            <a:pPr algn="l" indent="0" marL="0">
              <a:buNone/>
            </a:pPr>
            <a:r>
              <a:rPr lang="en-US" sz="2200" b="1" dirty="0">
                <a:solidFill>
                  <a:srgbClr val="131B26"/>
                </a:solidFill>
                <a:latin typeface="Arial" pitchFamily="34" charset="0"/>
                <a:ea typeface="Arial" pitchFamily="34" charset="-122"/>
                <a:cs typeface="Arial" pitchFamily="34" charset="-120"/>
              </a:rPr>
              <a:t>Student</a:t>
            </a:r>
            <a:endParaRPr lang="en-US" sz="2200" dirty="0"/>
          </a:p>
        </p:txBody>
      </p:sp>
      <p:sp>
        <p:nvSpPr>
          <p:cNvPr id="11" name="Text 7"/>
          <p:cNvSpPr txBox="1"/>
          <p:nvPr/>
        </p:nvSpPr>
        <p:spPr>
          <a:xfrm>
            <a:off x="822960" y="3566160"/>
            <a:ext cx="1645920" cy="2194560"/>
          </a:xfrm>
          <a:prstGeom prst="rect">
            <a:avLst/>
          </a:prstGeom>
          <a:noFill/>
          <a:ln/>
        </p:spPr>
        <p:txBody>
          <a:bodyPr wrap="square" lIns="0" tIns="0" rIns="0" bIns="0" rtlCol="0" anchor="t"/>
          <a:lstStyle/>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Take mock tests</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View analysis</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Join batches</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Book sessions</a:t>
            </a:r>
            <a:endParaRPr lang="en-US" sz="1500" dirty="0"/>
          </a:p>
        </p:txBody>
      </p:sp>
      <p:sp>
        <p:nvSpPr>
          <p:cNvPr id="12" name="Shape 8"/>
          <p:cNvSpPr/>
          <p:nvPr/>
        </p:nvSpPr>
        <p:spPr>
          <a:xfrm>
            <a:off x="2788920" y="1691640"/>
            <a:ext cx="2103120" cy="4023360"/>
          </a:xfrm>
          <a:prstGeom prst="roundRect">
            <a:avLst>
              <a:gd name="adj" fmla="val 9565"/>
            </a:avLst>
          </a:prstGeom>
          <a:solidFill>
            <a:srgbClr val="EDDEF9"/>
          </a:solidFill>
          <a:ln w="12700">
            <a:solidFill>
              <a:srgbClr val="EDDEF9"/>
            </a:solidFill>
            <a:prstDash val="solid"/>
          </a:ln>
        </p:spPr>
      </p:sp>
      <p:sp>
        <p:nvSpPr>
          <p:cNvPr id="13" name="Shape 9"/>
          <p:cNvSpPr/>
          <p:nvPr/>
        </p:nvSpPr>
        <p:spPr>
          <a:xfrm>
            <a:off x="3063240" y="2011680"/>
            <a:ext cx="777240" cy="7772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3257550" y="2205990"/>
            <a:ext cx="388620" cy="388620"/>
          </a:xfrm>
          <a:prstGeom prst="rect">
            <a:avLst/>
          </a:prstGeom>
        </p:spPr>
      </p:pic>
      <p:sp>
        <p:nvSpPr>
          <p:cNvPr id="15" name="Text 10"/>
          <p:cNvSpPr txBox="1"/>
          <p:nvPr/>
        </p:nvSpPr>
        <p:spPr>
          <a:xfrm>
            <a:off x="3063240" y="2971800"/>
            <a:ext cx="1645920" cy="365760"/>
          </a:xfrm>
          <a:prstGeom prst="rect">
            <a:avLst/>
          </a:prstGeom>
          <a:noFill/>
          <a:ln/>
        </p:spPr>
        <p:txBody>
          <a:bodyPr wrap="square" lIns="0" tIns="0" rIns="0" bIns="0" rtlCol="0" anchor="t"/>
          <a:lstStyle/>
          <a:p>
            <a:pPr algn="l" indent="0" marL="0">
              <a:buNone/>
            </a:pPr>
            <a:r>
              <a:rPr lang="en-US" sz="2200" b="1" dirty="0">
                <a:solidFill>
                  <a:srgbClr val="131B26"/>
                </a:solidFill>
                <a:latin typeface="Arial" pitchFamily="34" charset="0"/>
                <a:ea typeface="Arial" pitchFamily="34" charset="-122"/>
                <a:cs typeface="Arial" pitchFamily="34" charset="-120"/>
              </a:rPr>
              <a:t>Mentor</a:t>
            </a:r>
            <a:endParaRPr lang="en-US" sz="2200" dirty="0"/>
          </a:p>
        </p:txBody>
      </p:sp>
      <p:sp>
        <p:nvSpPr>
          <p:cNvPr id="16" name="Text 11"/>
          <p:cNvSpPr txBox="1"/>
          <p:nvPr/>
        </p:nvSpPr>
        <p:spPr>
          <a:xfrm>
            <a:off x="3063240" y="3566160"/>
            <a:ext cx="1645920" cy="2194560"/>
          </a:xfrm>
          <a:prstGeom prst="rect">
            <a:avLst/>
          </a:prstGeom>
          <a:noFill/>
          <a:ln/>
        </p:spPr>
        <p:txBody>
          <a:bodyPr wrap="square" lIns="0" tIns="0" rIns="0" bIns="0" rtlCol="0" anchor="t"/>
          <a:lstStyle/>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Onboarding wizard</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Upload lectures</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Run batches</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Sell tests</a:t>
            </a:r>
            <a:endParaRPr lang="en-US" sz="1500" dirty="0"/>
          </a:p>
        </p:txBody>
      </p:sp>
      <p:sp>
        <p:nvSpPr>
          <p:cNvPr id="17" name="Shape 12"/>
          <p:cNvSpPr/>
          <p:nvPr/>
        </p:nvSpPr>
        <p:spPr>
          <a:xfrm>
            <a:off x="5029200" y="1691640"/>
            <a:ext cx="2103120" cy="4023360"/>
          </a:xfrm>
          <a:prstGeom prst="roundRect">
            <a:avLst>
              <a:gd name="adj" fmla="val 9565"/>
            </a:avLst>
          </a:prstGeom>
          <a:solidFill>
            <a:srgbClr val="CBEFD6"/>
          </a:solidFill>
          <a:ln w="12700">
            <a:solidFill>
              <a:srgbClr val="CBEFD6"/>
            </a:solidFill>
            <a:prstDash val="solid"/>
          </a:ln>
        </p:spPr>
      </p:sp>
      <p:sp>
        <p:nvSpPr>
          <p:cNvPr id="18" name="Shape 13"/>
          <p:cNvSpPr/>
          <p:nvPr/>
        </p:nvSpPr>
        <p:spPr>
          <a:xfrm>
            <a:off x="5303520" y="2011680"/>
            <a:ext cx="777240" cy="7772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5497830" y="2205990"/>
            <a:ext cx="388620" cy="388620"/>
          </a:xfrm>
          <a:prstGeom prst="rect">
            <a:avLst/>
          </a:prstGeom>
        </p:spPr>
      </p:pic>
      <p:sp>
        <p:nvSpPr>
          <p:cNvPr id="20" name="Text 14"/>
          <p:cNvSpPr txBox="1"/>
          <p:nvPr/>
        </p:nvSpPr>
        <p:spPr>
          <a:xfrm>
            <a:off x="5303520" y="2971800"/>
            <a:ext cx="1645920" cy="365760"/>
          </a:xfrm>
          <a:prstGeom prst="rect">
            <a:avLst/>
          </a:prstGeom>
          <a:noFill/>
          <a:ln/>
        </p:spPr>
        <p:txBody>
          <a:bodyPr wrap="square" lIns="0" tIns="0" rIns="0" bIns="0" rtlCol="0" anchor="t"/>
          <a:lstStyle/>
          <a:p>
            <a:pPr algn="l" indent="0" marL="0">
              <a:buNone/>
            </a:pPr>
            <a:r>
              <a:rPr lang="en-US" sz="2200" b="1" dirty="0">
                <a:solidFill>
                  <a:srgbClr val="131B26"/>
                </a:solidFill>
                <a:latin typeface="Arial" pitchFamily="34" charset="0"/>
                <a:ea typeface="Arial" pitchFamily="34" charset="-122"/>
                <a:cs typeface="Arial" pitchFamily="34" charset="-120"/>
              </a:rPr>
              <a:t>Promoter</a:t>
            </a:r>
            <a:endParaRPr lang="en-US" sz="2200" dirty="0"/>
          </a:p>
        </p:txBody>
      </p:sp>
      <p:sp>
        <p:nvSpPr>
          <p:cNvPr id="21" name="Text 15"/>
          <p:cNvSpPr txBox="1"/>
          <p:nvPr/>
        </p:nvSpPr>
        <p:spPr>
          <a:xfrm>
            <a:off x="5303520" y="3566160"/>
            <a:ext cx="1645920" cy="2194560"/>
          </a:xfrm>
          <a:prstGeom prst="rect">
            <a:avLst/>
          </a:prstGeom>
          <a:noFill/>
          <a:ln/>
        </p:spPr>
        <p:txBody>
          <a:bodyPr wrap="square" lIns="0" tIns="0" rIns="0" bIns="0" rtlCol="0" anchor="t"/>
          <a:lstStyle/>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Pick batches</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Track sales</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Request payouts</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Coupon requests</a:t>
            </a:r>
            <a:endParaRPr lang="en-US" sz="1500" dirty="0"/>
          </a:p>
        </p:txBody>
      </p:sp>
      <p:sp>
        <p:nvSpPr>
          <p:cNvPr id="22" name="Shape 16"/>
          <p:cNvSpPr/>
          <p:nvPr/>
        </p:nvSpPr>
        <p:spPr>
          <a:xfrm>
            <a:off x="7269480" y="1691640"/>
            <a:ext cx="2103120" cy="4023360"/>
          </a:xfrm>
          <a:prstGeom prst="roundRect">
            <a:avLst>
              <a:gd name="adj" fmla="val 9565"/>
            </a:avLst>
          </a:prstGeom>
          <a:solidFill>
            <a:srgbClr val="FFD6CD"/>
          </a:solidFill>
          <a:ln w="12700">
            <a:solidFill>
              <a:srgbClr val="FFD6CD"/>
            </a:solidFill>
            <a:prstDash val="solid"/>
          </a:ln>
        </p:spPr>
      </p:sp>
      <p:sp>
        <p:nvSpPr>
          <p:cNvPr id="23" name="Shape 17"/>
          <p:cNvSpPr/>
          <p:nvPr/>
        </p:nvSpPr>
        <p:spPr>
          <a:xfrm>
            <a:off x="7543800" y="2011680"/>
            <a:ext cx="777240" cy="7772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7738110" y="2205990"/>
            <a:ext cx="388620" cy="388620"/>
          </a:xfrm>
          <a:prstGeom prst="rect">
            <a:avLst/>
          </a:prstGeom>
        </p:spPr>
      </p:pic>
      <p:sp>
        <p:nvSpPr>
          <p:cNvPr id="25" name="Text 18"/>
          <p:cNvSpPr txBox="1"/>
          <p:nvPr/>
        </p:nvSpPr>
        <p:spPr>
          <a:xfrm>
            <a:off x="7543800" y="2971800"/>
            <a:ext cx="1645920" cy="365760"/>
          </a:xfrm>
          <a:prstGeom prst="rect">
            <a:avLst/>
          </a:prstGeom>
          <a:noFill/>
          <a:ln/>
        </p:spPr>
        <p:txBody>
          <a:bodyPr wrap="square" lIns="0" tIns="0" rIns="0" bIns="0" rtlCol="0" anchor="t"/>
          <a:lstStyle/>
          <a:p>
            <a:pPr algn="l" indent="0" marL="0">
              <a:buNone/>
            </a:pPr>
            <a:r>
              <a:rPr lang="en-US" sz="2200" b="1" dirty="0">
                <a:solidFill>
                  <a:srgbClr val="131B26"/>
                </a:solidFill>
                <a:latin typeface="Arial" pitchFamily="34" charset="0"/>
                <a:ea typeface="Arial" pitchFamily="34" charset="-122"/>
                <a:cs typeface="Arial" pitchFamily="34" charset="-120"/>
              </a:rPr>
              <a:t>Admin</a:t>
            </a:r>
            <a:endParaRPr lang="en-US" sz="2200" dirty="0"/>
          </a:p>
        </p:txBody>
      </p:sp>
      <p:sp>
        <p:nvSpPr>
          <p:cNvPr id="26" name="Text 19"/>
          <p:cNvSpPr txBox="1"/>
          <p:nvPr/>
        </p:nvSpPr>
        <p:spPr>
          <a:xfrm>
            <a:off x="7543800" y="3566160"/>
            <a:ext cx="1645920" cy="2194560"/>
          </a:xfrm>
          <a:prstGeom prst="rect">
            <a:avLst/>
          </a:prstGeom>
          <a:noFill/>
          <a:ln/>
        </p:spPr>
        <p:txBody>
          <a:bodyPr wrap="square" lIns="0" tIns="0" rIns="0" bIns="0" rtlCol="0" anchor="t"/>
          <a:lstStyle/>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Manage users</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Approve content</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Ingest questions</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Handle support</a:t>
            </a:r>
            <a:endParaRPr lang="en-US" sz="1500" dirty="0"/>
          </a:p>
        </p:txBody>
      </p:sp>
      <p:sp>
        <p:nvSpPr>
          <p:cNvPr id="27" name="Shape 20"/>
          <p:cNvSpPr/>
          <p:nvPr/>
        </p:nvSpPr>
        <p:spPr>
          <a:xfrm>
            <a:off x="9509760" y="1691640"/>
            <a:ext cx="2103120" cy="4023360"/>
          </a:xfrm>
          <a:prstGeom prst="roundRect">
            <a:avLst>
              <a:gd name="adj" fmla="val 9565"/>
            </a:avLst>
          </a:prstGeom>
          <a:solidFill>
            <a:srgbClr val="F7ECBE"/>
          </a:solidFill>
          <a:ln w="12700">
            <a:solidFill>
              <a:srgbClr val="F7ECBE"/>
            </a:solidFill>
            <a:prstDash val="solid"/>
          </a:ln>
        </p:spPr>
      </p:sp>
      <p:sp>
        <p:nvSpPr>
          <p:cNvPr id="28" name="Shape 21"/>
          <p:cNvSpPr/>
          <p:nvPr/>
        </p:nvSpPr>
        <p:spPr>
          <a:xfrm>
            <a:off x="9784080" y="2011680"/>
            <a:ext cx="777240" cy="777240"/>
          </a:xfrm>
          <a:prstGeom prst="ellipse">
            <a:avLst/>
          </a:prstGeom>
          <a:solidFill>
            <a:srgbClr val="FFFFFF"/>
          </a:solidFill>
          <a:ln w="12700">
            <a:solidFill>
              <a:srgbClr val="FFFFFF"/>
            </a:solidFill>
            <a:prstDash val="solid"/>
          </a:ln>
        </p:spPr>
      </p:sp>
      <p:pic>
        <p:nvPicPr>
          <p:cNvPr id="29" name="Image 5" descr="preencoded.png">    </p:cNvPr>
          <p:cNvPicPr>
            <a:picLocks noChangeAspect="1"/>
          </p:cNvPicPr>
          <p:nvPr/>
        </p:nvPicPr>
        <p:blipFill>
          <a:blip r:embed="rId6"/>
          <a:stretch>
            <a:fillRect/>
          </a:stretch>
        </p:blipFill>
        <p:spPr>
          <a:xfrm>
            <a:off x="9978390" y="2205990"/>
            <a:ext cx="388620" cy="388620"/>
          </a:xfrm>
          <a:prstGeom prst="rect">
            <a:avLst/>
          </a:prstGeom>
        </p:spPr>
      </p:pic>
      <p:sp>
        <p:nvSpPr>
          <p:cNvPr id="30" name="Text 22"/>
          <p:cNvSpPr txBox="1"/>
          <p:nvPr/>
        </p:nvSpPr>
        <p:spPr>
          <a:xfrm>
            <a:off x="9784080" y="2971800"/>
            <a:ext cx="1645920" cy="365760"/>
          </a:xfrm>
          <a:prstGeom prst="rect">
            <a:avLst/>
          </a:prstGeom>
          <a:noFill/>
          <a:ln/>
        </p:spPr>
        <p:txBody>
          <a:bodyPr wrap="square" lIns="0" tIns="0" rIns="0" bIns="0" rtlCol="0" anchor="t"/>
          <a:lstStyle/>
          <a:p>
            <a:pPr algn="l" indent="0" marL="0">
              <a:buNone/>
            </a:pPr>
            <a:r>
              <a:rPr lang="en-US" sz="2200" b="1" dirty="0">
                <a:solidFill>
                  <a:srgbClr val="131B26"/>
                </a:solidFill>
                <a:latin typeface="Arial" pitchFamily="34" charset="0"/>
                <a:ea typeface="Arial" pitchFamily="34" charset="-122"/>
                <a:cs typeface="Arial" pitchFamily="34" charset="-120"/>
              </a:rPr>
              <a:t>Intern</a:t>
            </a:r>
            <a:endParaRPr lang="en-US" sz="2200" dirty="0"/>
          </a:p>
        </p:txBody>
      </p:sp>
      <p:sp>
        <p:nvSpPr>
          <p:cNvPr id="31" name="Text 23"/>
          <p:cNvSpPr txBox="1"/>
          <p:nvPr/>
        </p:nvSpPr>
        <p:spPr>
          <a:xfrm>
            <a:off x="9784080" y="3566160"/>
            <a:ext cx="1645920" cy="2194560"/>
          </a:xfrm>
          <a:prstGeom prst="rect">
            <a:avLst/>
          </a:prstGeom>
          <a:noFill/>
          <a:ln/>
        </p:spPr>
        <p:txBody>
          <a:bodyPr wrap="square" lIns="0" tIns="0" rIns="0" bIns="0" rtlCol="0" anchor="t"/>
          <a:lstStyle/>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Apply and trial</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Task workspace</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Draft questions</a:t>
            </a:r>
            <a:endParaRPr lang="en-US" sz="1500" dirty="0"/>
          </a:p>
          <a:p>
            <a:pPr marL="177800" indent="-177800">
              <a:spcAft>
                <a:spcPts val="1600"/>
              </a:spcAft>
              <a:buSzPct val="100000"/>
              <a:buChar char="•"/>
            </a:pPr>
            <a:r>
              <a:rPr lang="en-US" sz="1500" dirty="0">
                <a:solidFill>
                  <a:srgbClr val="131B26"/>
                </a:solidFill>
                <a:latin typeface="Calibri" pitchFamily="34" charset="0"/>
                <a:ea typeface="Calibri" pitchFamily="34" charset="-122"/>
                <a:cs typeface="Calibri" pitchFamily="34" charset="-120"/>
              </a:rPr>
              <a:t>Get certificate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MODULE 1</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CBT Test Engine</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691640"/>
            <a:ext cx="658368" cy="658368"/>
          </a:xfrm>
          <a:prstGeom prst="ellipse">
            <a:avLst/>
          </a:prstGeom>
          <a:solidFill>
            <a:srgbClr val="D2ECFC"/>
          </a:solidFill>
          <a:ln w="12700">
            <a:solidFill>
              <a:srgbClr val="D2ECFC"/>
            </a:solidFill>
            <a:prstDash val="solid"/>
          </a:ln>
        </p:spPr>
      </p:sp>
      <p:pic>
        <p:nvPicPr>
          <p:cNvPr id="8" name="Image 1" descr="preencoded.png">    </p:cNvPr>
          <p:cNvPicPr>
            <a:picLocks noChangeAspect="1"/>
          </p:cNvPicPr>
          <p:nvPr/>
        </p:nvPicPr>
        <p:blipFill>
          <a:blip r:embed="rId2"/>
          <a:stretch>
            <a:fillRect/>
          </a:stretch>
        </p:blipFill>
        <p:spPr>
          <a:xfrm>
            <a:off x="713232" y="1856232"/>
            <a:ext cx="329184" cy="329184"/>
          </a:xfrm>
          <a:prstGeom prst="rect">
            <a:avLst/>
          </a:prstGeom>
        </p:spPr>
      </p:pic>
      <p:sp>
        <p:nvSpPr>
          <p:cNvPr id="9" name="Text 5"/>
          <p:cNvSpPr txBox="1"/>
          <p:nvPr/>
        </p:nvSpPr>
        <p:spPr>
          <a:xfrm>
            <a:off x="1417320" y="1673352"/>
            <a:ext cx="5120640" cy="320040"/>
          </a:xfrm>
          <a:prstGeom prst="rect">
            <a:avLst/>
          </a:prstGeom>
          <a:noFill/>
          <a:ln/>
        </p:spPr>
        <p:txBody>
          <a:bodyPr wrap="square" lIns="0" tIns="0" rIns="0" bIns="0" rtlCol="0" anchor="t"/>
          <a:lstStyle/>
          <a:p>
            <a:pPr algn="l" indent="0" marL="0">
              <a:buNone/>
            </a:pPr>
            <a:r>
              <a:rPr lang="en-US" sz="1700" b="1" dirty="0">
                <a:solidFill>
                  <a:srgbClr val="131B26"/>
                </a:solidFill>
                <a:latin typeface="Arial" pitchFamily="34" charset="0"/>
                <a:ea typeface="Arial" pitchFamily="34" charset="-122"/>
                <a:cs typeface="Arial" pitchFamily="34" charset="-120"/>
              </a:rPr>
              <a:t>Real exam feel</a:t>
            </a:r>
            <a:endParaRPr lang="en-US" sz="1700" dirty="0"/>
          </a:p>
        </p:txBody>
      </p:sp>
      <p:sp>
        <p:nvSpPr>
          <p:cNvPr id="10" name="Text 6"/>
          <p:cNvSpPr txBox="1"/>
          <p:nvPr/>
        </p:nvSpPr>
        <p:spPr>
          <a:xfrm>
            <a:off x="1417320" y="2020824"/>
            <a:ext cx="5212080" cy="64008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Timer, subject tabs, question palette, and mark-for-review, like the real CBT interface.</a:t>
            </a:r>
            <a:endParaRPr lang="en-US" sz="1300" dirty="0"/>
          </a:p>
        </p:txBody>
      </p:sp>
      <p:sp>
        <p:nvSpPr>
          <p:cNvPr id="11" name="Shape 7"/>
          <p:cNvSpPr/>
          <p:nvPr/>
        </p:nvSpPr>
        <p:spPr>
          <a:xfrm>
            <a:off x="548640" y="2788920"/>
            <a:ext cx="658368" cy="658368"/>
          </a:xfrm>
          <a:prstGeom prst="ellipse">
            <a:avLst/>
          </a:prstGeom>
          <a:solidFill>
            <a:srgbClr val="D2ECFC"/>
          </a:solidFill>
          <a:ln w="12700">
            <a:solidFill>
              <a:srgbClr val="D2ECFC"/>
            </a:solidFill>
            <a:prstDash val="solid"/>
          </a:ln>
        </p:spPr>
      </p:sp>
      <p:pic>
        <p:nvPicPr>
          <p:cNvPr id="12" name="Image 2" descr="preencoded.png">    </p:cNvPr>
          <p:cNvPicPr>
            <a:picLocks noChangeAspect="1"/>
          </p:cNvPicPr>
          <p:nvPr/>
        </p:nvPicPr>
        <p:blipFill>
          <a:blip r:embed="rId3"/>
          <a:stretch>
            <a:fillRect/>
          </a:stretch>
        </p:blipFill>
        <p:spPr>
          <a:xfrm>
            <a:off x="713232" y="2953512"/>
            <a:ext cx="329184" cy="329184"/>
          </a:xfrm>
          <a:prstGeom prst="rect">
            <a:avLst/>
          </a:prstGeom>
        </p:spPr>
      </p:pic>
      <p:sp>
        <p:nvSpPr>
          <p:cNvPr id="13" name="Text 8"/>
          <p:cNvSpPr txBox="1"/>
          <p:nvPr/>
        </p:nvSpPr>
        <p:spPr>
          <a:xfrm>
            <a:off x="1417320" y="2770632"/>
            <a:ext cx="5120640" cy="320040"/>
          </a:xfrm>
          <a:prstGeom prst="rect">
            <a:avLst/>
          </a:prstGeom>
          <a:noFill/>
          <a:ln/>
        </p:spPr>
        <p:txBody>
          <a:bodyPr wrap="square" lIns="0" tIns="0" rIns="0" bIns="0" rtlCol="0" anchor="t"/>
          <a:lstStyle/>
          <a:p>
            <a:pPr algn="l" indent="0" marL="0">
              <a:buNone/>
            </a:pPr>
            <a:r>
              <a:rPr lang="en-US" sz="1700" b="1" dirty="0">
                <a:solidFill>
                  <a:srgbClr val="131B26"/>
                </a:solidFill>
                <a:latin typeface="Arial" pitchFamily="34" charset="0"/>
                <a:ea typeface="Arial" pitchFamily="34" charset="-122"/>
                <a:cs typeface="Arial" pitchFamily="34" charset="-120"/>
              </a:rPr>
              <a:t>Server-side grading</a:t>
            </a:r>
            <a:endParaRPr lang="en-US" sz="1700" dirty="0"/>
          </a:p>
        </p:txBody>
      </p:sp>
      <p:sp>
        <p:nvSpPr>
          <p:cNvPr id="14" name="Text 9"/>
          <p:cNvSpPr txBox="1"/>
          <p:nvPr/>
        </p:nvSpPr>
        <p:spPr>
          <a:xfrm>
            <a:off x="1417320" y="3118104"/>
            <a:ext cx="5212080" cy="64008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Correct answers and solutions are never sent to the browser before submission.</a:t>
            </a:r>
            <a:endParaRPr lang="en-US" sz="1300" dirty="0"/>
          </a:p>
        </p:txBody>
      </p:sp>
      <p:sp>
        <p:nvSpPr>
          <p:cNvPr id="15" name="Shape 10"/>
          <p:cNvSpPr/>
          <p:nvPr/>
        </p:nvSpPr>
        <p:spPr>
          <a:xfrm>
            <a:off x="548640" y="3886200"/>
            <a:ext cx="658368" cy="658368"/>
          </a:xfrm>
          <a:prstGeom prst="ellipse">
            <a:avLst/>
          </a:prstGeom>
          <a:solidFill>
            <a:srgbClr val="D2ECFC"/>
          </a:solidFill>
          <a:ln w="12700">
            <a:solidFill>
              <a:srgbClr val="D2ECFC"/>
            </a:solidFill>
            <a:prstDash val="solid"/>
          </a:ln>
        </p:spPr>
      </p:sp>
      <p:pic>
        <p:nvPicPr>
          <p:cNvPr id="16" name="Image 3" descr="preencoded.png">    </p:cNvPr>
          <p:cNvPicPr>
            <a:picLocks noChangeAspect="1"/>
          </p:cNvPicPr>
          <p:nvPr/>
        </p:nvPicPr>
        <p:blipFill>
          <a:blip r:embed="rId4"/>
          <a:stretch>
            <a:fillRect/>
          </a:stretch>
        </p:blipFill>
        <p:spPr>
          <a:xfrm>
            <a:off x="713232" y="4050792"/>
            <a:ext cx="329184" cy="329184"/>
          </a:xfrm>
          <a:prstGeom prst="rect">
            <a:avLst/>
          </a:prstGeom>
        </p:spPr>
      </p:pic>
      <p:sp>
        <p:nvSpPr>
          <p:cNvPr id="17" name="Text 11"/>
          <p:cNvSpPr txBox="1"/>
          <p:nvPr/>
        </p:nvSpPr>
        <p:spPr>
          <a:xfrm>
            <a:off x="1417320" y="3867912"/>
            <a:ext cx="5120640" cy="320040"/>
          </a:xfrm>
          <a:prstGeom prst="rect">
            <a:avLst/>
          </a:prstGeom>
          <a:noFill/>
          <a:ln/>
        </p:spPr>
        <p:txBody>
          <a:bodyPr wrap="square" lIns="0" tIns="0" rIns="0" bIns="0" rtlCol="0" anchor="t"/>
          <a:lstStyle/>
          <a:p>
            <a:pPr algn="l" indent="0" marL="0">
              <a:buNone/>
            </a:pPr>
            <a:r>
              <a:rPr lang="en-US" sz="1700" b="1" dirty="0">
                <a:solidFill>
                  <a:srgbClr val="131B26"/>
                </a:solidFill>
                <a:latin typeface="Arial" pitchFamily="34" charset="0"/>
                <a:ea typeface="Arial" pitchFamily="34" charset="-122"/>
                <a:cs typeface="Arial" pitchFamily="34" charset="-120"/>
              </a:rPr>
              <a:t>Paywall re-checked on server</a:t>
            </a:r>
            <a:endParaRPr lang="en-US" sz="1700" dirty="0"/>
          </a:p>
        </p:txBody>
      </p:sp>
      <p:sp>
        <p:nvSpPr>
          <p:cNvPr id="18" name="Text 12"/>
          <p:cNvSpPr txBox="1"/>
          <p:nvPr/>
        </p:nvSpPr>
        <p:spPr>
          <a:xfrm>
            <a:off x="1417320" y="4215384"/>
            <a:ext cx="5212080" cy="64008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Purchase access is verified again before any question is handed out.</a:t>
            </a:r>
            <a:endParaRPr lang="en-US" sz="1300" dirty="0"/>
          </a:p>
        </p:txBody>
      </p:sp>
      <p:sp>
        <p:nvSpPr>
          <p:cNvPr id="19" name="Shape 13"/>
          <p:cNvSpPr/>
          <p:nvPr/>
        </p:nvSpPr>
        <p:spPr>
          <a:xfrm>
            <a:off x="548640" y="4983480"/>
            <a:ext cx="658368" cy="658368"/>
          </a:xfrm>
          <a:prstGeom prst="ellipse">
            <a:avLst/>
          </a:prstGeom>
          <a:solidFill>
            <a:srgbClr val="D2ECFC"/>
          </a:solidFill>
          <a:ln w="12700">
            <a:solidFill>
              <a:srgbClr val="D2ECFC"/>
            </a:solidFill>
            <a:prstDash val="solid"/>
          </a:ln>
        </p:spPr>
      </p:sp>
      <p:pic>
        <p:nvPicPr>
          <p:cNvPr id="20" name="Image 4" descr="preencoded.png">    </p:cNvPr>
          <p:cNvPicPr>
            <a:picLocks noChangeAspect="1"/>
          </p:cNvPicPr>
          <p:nvPr/>
        </p:nvPicPr>
        <p:blipFill>
          <a:blip r:embed="rId5"/>
          <a:stretch>
            <a:fillRect/>
          </a:stretch>
        </p:blipFill>
        <p:spPr>
          <a:xfrm>
            <a:off x="713232" y="5148072"/>
            <a:ext cx="329184" cy="329184"/>
          </a:xfrm>
          <a:prstGeom prst="rect">
            <a:avLst/>
          </a:prstGeom>
        </p:spPr>
      </p:pic>
      <p:sp>
        <p:nvSpPr>
          <p:cNvPr id="21" name="Text 14"/>
          <p:cNvSpPr txBox="1"/>
          <p:nvPr/>
        </p:nvSpPr>
        <p:spPr>
          <a:xfrm>
            <a:off x="1417320" y="4965192"/>
            <a:ext cx="5120640" cy="320040"/>
          </a:xfrm>
          <a:prstGeom prst="rect">
            <a:avLst/>
          </a:prstGeom>
          <a:noFill/>
          <a:ln/>
        </p:spPr>
        <p:txBody>
          <a:bodyPr wrap="square" lIns="0" tIns="0" rIns="0" bIns="0" rtlCol="0" anchor="t"/>
          <a:lstStyle/>
          <a:p>
            <a:pPr algn="l" indent="0" marL="0">
              <a:buNone/>
            </a:pPr>
            <a:r>
              <a:rPr lang="en-US" sz="1700" b="1" dirty="0">
                <a:solidFill>
                  <a:srgbClr val="131B26"/>
                </a:solidFill>
                <a:latin typeface="Arial" pitchFamily="34" charset="0"/>
                <a:ea typeface="Arial" pitchFamily="34" charset="-122"/>
                <a:cs typeface="Arial" pitchFamily="34" charset="-120"/>
              </a:rPr>
              <a:t>Results and analysis</a:t>
            </a:r>
            <a:endParaRPr lang="en-US" sz="1700" dirty="0"/>
          </a:p>
        </p:txBody>
      </p:sp>
      <p:sp>
        <p:nvSpPr>
          <p:cNvPr id="22" name="Text 15"/>
          <p:cNvSpPr txBox="1"/>
          <p:nvPr/>
        </p:nvSpPr>
        <p:spPr>
          <a:xfrm>
            <a:off x="1417320" y="5312664"/>
            <a:ext cx="5212080" cy="64008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Per-attempt result pages with subject-wise breakdown and mentor recommendations.</a:t>
            </a:r>
            <a:endParaRPr lang="en-US" sz="1300" dirty="0"/>
          </a:p>
        </p:txBody>
      </p:sp>
      <p:sp>
        <p:nvSpPr>
          <p:cNvPr id="23" name="Shape 16"/>
          <p:cNvSpPr/>
          <p:nvPr/>
        </p:nvSpPr>
        <p:spPr>
          <a:xfrm>
            <a:off x="6903720" y="1600200"/>
            <a:ext cx="4736592" cy="4572000"/>
          </a:xfrm>
          <a:prstGeom prst="roundRect">
            <a:avLst>
              <a:gd name="adj" fmla="val 6000"/>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4" name="Shape 17"/>
          <p:cNvSpPr/>
          <p:nvPr/>
        </p:nvSpPr>
        <p:spPr>
          <a:xfrm>
            <a:off x="7178040" y="1874520"/>
            <a:ext cx="909828" cy="310896"/>
          </a:xfrm>
          <a:prstGeom prst="roundRect">
            <a:avLst>
              <a:gd name="adj" fmla="val 50000"/>
            </a:avLst>
          </a:prstGeom>
          <a:solidFill>
            <a:srgbClr val="EDF2F7"/>
          </a:solidFill>
          <a:ln w="9525">
            <a:solidFill>
              <a:srgbClr val="DDE2E6"/>
            </a:solidFill>
            <a:prstDash val="solid"/>
          </a:ln>
        </p:spPr>
      </p:sp>
      <p:sp>
        <p:nvSpPr>
          <p:cNvPr id="25" name="Text 18"/>
          <p:cNvSpPr txBox="1"/>
          <p:nvPr/>
        </p:nvSpPr>
        <p:spPr>
          <a:xfrm>
            <a:off x="7178040" y="1874520"/>
            <a:ext cx="909828" cy="310896"/>
          </a:xfrm>
          <a:prstGeom prst="rect">
            <a:avLst/>
          </a:prstGeom>
          <a:noFill/>
          <a:ln/>
        </p:spPr>
        <p:txBody>
          <a:bodyPr wrap="square" lIns="0" tIns="0" rIns="0" bIns="0" rtlCol="0" anchor="ctr"/>
          <a:lstStyle/>
          <a:p>
            <a:pPr algn="ctr" indent="0" marL="0">
              <a:buNone/>
            </a:pPr>
            <a:r>
              <a:rPr lang="en-US" sz="1100" b="1" dirty="0">
                <a:solidFill>
                  <a:srgbClr val="131B26"/>
                </a:solidFill>
                <a:latin typeface="Calibri" pitchFamily="34" charset="0"/>
                <a:ea typeface="Calibri" pitchFamily="34" charset="-122"/>
                <a:cs typeface="Calibri" pitchFamily="34" charset="-120"/>
              </a:rPr>
              <a:t>Physics</a:t>
            </a:r>
            <a:endParaRPr lang="en-US" sz="1100" dirty="0"/>
          </a:p>
        </p:txBody>
      </p:sp>
      <p:sp>
        <p:nvSpPr>
          <p:cNvPr id="26" name="Shape 19"/>
          <p:cNvSpPr/>
          <p:nvPr/>
        </p:nvSpPr>
        <p:spPr>
          <a:xfrm>
            <a:off x="8161020" y="1874520"/>
            <a:ext cx="1065276" cy="310896"/>
          </a:xfrm>
          <a:prstGeom prst="roundRect">
            <a:avLst>
              <a:gd name="adj" fmla="val 50000"/>
            </a:avLst>
          </a:prstGeom>
          <a:solidFill>
            <a:srgbClr val="EDF2F7"/>
          </a:solidFill>
          <a:ln w="9525">
            <a:solidFill>
              <a:srgbClr val="DDE2E6"/>
            </a:solidFill>
            <a:prstDash val="solid"/>
          </a:ln>
        </p:spPr>
      </p:sp>
      <p:sp>
        <p:nvSpPr>
          <p:cNvPr id="27" name="Text 20"/>
          <p:cNvSpPr txBox="1"/>
          <p:nvPr/>
        </p:nvSpPr>
        <p:spPr>
          <a:xfrm>
            <a:off x="8161020" y="1874520"/>
            <a:ext cx="1065276" cy="310896"/>
          </a:xfrm>
          <a:prstGeom prst="rect">
            <a:avLst/>
          </a:prstGeom>
          <a:noFill/>
          <a:ln/>
        </p:spPr>
        <p:txBody>
          <a:bodyPr wrap="square" lIns="0" tIns="0" rIns="0" bIns="0" rtlCol="0" anchor="ctr"/>
          <a:lstStyle/>
          <a:p>
            <a:pPr algn="ctr" indent="0" marL="0">
              <a:buNone/>
            </a:pPr>
            <a:r>
              <a:rPr lang="en-US" sz="1100" b="1" dirty="0">
                <a:solidFill>
                  <a:srgbClr val="131B26"/>
                </a:solidFill>
                <a:latin typeface="Calibri" pitchFamily="34" charset="0"/>
                <a:ea typeface="Calibri" pitchFamily="34" charset="-122"/>
                <a:cs typeface="Calibri" pitchFamily="34" charset="-120"/>
              </a:rPr>
              <a:t>Chemistry</a:t>
            </a:r>
            <a:endParaRPr lang="en-US" sz="1100" dirty="0"/>
          </a:p>
        </p:txBody>
      </p:sp>
      <p:sp>
        <p:nvSpPr>
          <p:cNvPr id="28" name="Shape 21"/>
          <p:cNvSpPr/>
          <p:nvPr/>
        </p:nvSpPr>
        <p:spPr>
          <a:xfrm>
            <a:off x="9299448" y="1874520"/>
            <a:ext cx="832104" cy="310896"/>
          </a:xfrm>
          <a:prstGeom prst="roundRect">
            <a:avLst>
              <a:gd name="adj" fmla="val 50000"/>
            </a:avLst>
          </a:prstGeom>
          <a:solidFill>
            <a:srgbClr val="004E90"/>
          </a:solidFill>
          <a:ln w="9525">
            <a:solidFill>
              <a:srgbClr val="004E90"/>
            </a:solidFill>
            <a:prstDash val="solid"/>
          </a:ln>
        </p:spPr>
      </p:sp>
      <p:sp>
        <p:nvSpPr>
          <p:cNvPr id="29" name="Text 22"/>
          <p:cNvSpPr txBox="1"/>
          <p:nvPr/>
        </p:nvSpPr>
        <p:spPr>
          <a:xfrm>
            <a:off x="9299448" y="1874520"/>
            <a:ext cx="83210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Botany</a:t>
            </a:r>
            <a:endParaRPr lang="en-US" sz="1100" dirty="0"/>
          </a:p>
        </p:txBody>
      </p:sp>
      <p:sp>
        <p:nvSpPr>
          <p:cNvPr id="30" name="Shape 23"/>
          <p:cNvSpPr/>
          <p:nvPr/>
        </p:nvSpPr>
        <p:spPr>
          <a:xfrm>
            <a:off x="10204704" y="1874520"/>
            <a:ext cx="909828" cy="310896"/>
          </a:xfrm>
          <a:prstGeom prst="roundRect">
            <a:avLst>
              <a:gd name="adj" fmla="val 50000"/>
            </a:avLst>
          </a:prstGeom>
          <a:solidFill>
            <a:srgbClr val="EDF2F7"/>
          </a:solidFill>
          <a:ln w="9525">
            <a:solidFill>
              <a:srgbClr val="DDE2E6"/>
            </a:solidFill>
            <a:prstDash val="solid"/>
          </a:ln>
        </p:spPr>
      </p:sp>
      <p:sp>
        <p:nvSpPr>
          <p:cNvPr id="31" name="Text 24"/>
          <p:cNvSpPr txBox="1"/>
          <p:nvPr/>
        </p:nvSpPr>
        <p:spPr>
          <a:xfrm>
            <a:off x="10204704" y="1874520"/>
            <a:ext cx="909828" cy="310896"/>
          </a:xfrm>
          <a:prstGeom prst="rect">
            <a:avLst/>
          </a:prstGeom>
          <a:noFill/>
          <a:ln/>
        </p:spPr>
        <p:txBody>
          <a:bodyPr wrap="square" lIns="0" tIns="0" rIns="0" bIns="0" rtlCol="0" anchor="ctr"/>
          <a:lstStyle/>
          <a:p>
            <a:pPr algn="ctr" indent="0" marL="0">
              <a:buNone/>
            </a:pPr>
            <a:r>
              <a:rPr lang="en-US" sz="1100" b="1" dirty="0">
                <a:solidFill>
                  <a:srgbClr val="131B26"/>
                </a:solidFill>
                <a:latin typeface="Calibri" pitchFamily="34" charset="0"/>
                <a:ea typeface="Calibri" pitchFamily="34" charset="-122"/>
                <a:cs typeface="Calibri" pitchFamily="34" charset="-120"/>
              </a:rPr>
              <a:t>Zoology</a:t>
            </a:r>
            <a:endParaRPr lang="en-US" sz="1100" dirty="0"/>
          </a:p>
        </p:txBody>
      </p:sp>
      <p:sp>
        <p:nvSpPr>
          <p:cNvPr id="32" name="Text 25"/>
          <p:cNvSpPr txBox="1"/>
          <p:nvPr/>
        </p:nvSpPr>
        <p:spPr>
          <a:xfrm>
            <a:off x="7178040" y="2441448"/>
            <a:ext cx="2743200" cy="228600"/>
          </a:xfrm>
          <a:prstGeom prst="rect">
            <a:avLst/>
          </a:prstGeom>
          <a:noFill/>
          <a:ln/>
        </p:spPr>
        <p:txBody>
          <a:bodyPr wrap="square" lIns="0" tIns="0" rIns="0" bIns="0" rtlCol="0" anchor="t"/>
          <a:lstStyle/>
          <a:p>
            <a:pPr algn="l" indent="0" marL="0">
              <a:buNone/>
            </a:pPr>
            <a:r>
              <a:rPr lang="en-US" sz="1000" b="1" spc="200" kern="0" dirty="0">
                <a:solidFill>
                  <a:srgbClr val="606A74"/>
                </a:solidFill>
                <a:latin typeface="Calibri" pitchFamily="34" charset="0"/>
                <a:ea typeface="Calibri" pitchFamily="34" charset="-122"/>
                <a:cs typeface="Calibri" pitchFamily="34" charset="-120"/>
              </a:rPr>
              <a:t>QUESTION PALETTE</a:t>
            </a:r>
            <a:endParaRPr lang="en-US" sz="1000" dirty="0"/>
          </a:p>
        </p:txBody>
      </p:sp>
      <p:sp>
        <p:nvSpPr>
          <p:cNvPr id="33" name="Shape 26"/>
          <p:cNvSpPr/>
          <p:nvPr/>
        </p:nvSpPr>
        <p:spPr>
          <a:xfrm>
            <a:off x="10543032" y="2377440"/>
            <a:ext cx="822960" cy="329184"/>
          </a:xfrm>
          <a:prstGeom prst="roundRect">
            <a:avLst>
              <a:gd name="adj" fmla="val 50000"/>
            </a:avLst>
          </a:prstGeom>
          <a:solidFill>
            <a:srgbClr val="FFD6CD"/>
          </a:solidFill>
          <a:ln w="9525">
            <a:solidFill>
              <a:srgbClr val="FFD6CD"/>
            </a:solidFill>
            <a:prstDash val="solid"/>
          </a:ln>
        </p:spPr>
      </p:sp>
      <p:sp>
        <p:nvSpPr>
          <p:cNvPr id="34" name="Text 27"/>
          <p:cNvSpPr txBox="1"/>
          <p:nvPr/>
        </p:nvSpPr>
        <p:spPr>
          <a:xfrm>
            <a:off x="10543032" y="2377440"/>
            <a:ext cx="822960" cy="329184"/>
          </a:xfrm>
          <a:prstGeom prst="rect">
            <a:avLst/>
          </a:prstGeom>
          <a:noFill/>
          <a:ln/>
        </p:spPr>
        <p:txBody>
          <a:bodyPr wrap="square" lIns="0" tIns="0" rIns="0" bIns="0" rtlCol="0" anchor="ctr"/>
          <a:lstStyle/>
          <a:p>
            <a:pPr algn="ctr" indent="0" marL="0">
              <a:buNone/>
            </a:pPr>
            <a:r>
              <a:rPr lang="en-US" sz="1200" b="1" dirty="0">
                <a:solidFill>
                  <a:srgbClr val="C74D38"/>
                </a:solidFill>
                <a:latin typeface="Calibri" pitchFamily="34" charset="0"/>
                <a:ea typeface="Calibri" pitchFamily="34" charset="-122"/>
                <a:cs typeface="Calibri" pitchFamily="34" charset="-120"/>
              </a:rPr>
              <a:t>18:42</a:t>
            </a:r>
            <a:endParaRPr lang="en-US" sz="1200" dirty="0"/>
          </a:p>
        </p:txBody>
      </p:sp>
      <p:sp>
        <p:nvSpPr>
          <p:cNvPr id="35" name="Shape 28"/>
          <p:cNvSpPr/>
          <p:nvPr/>
        </p:nvSpPr>
        <p:spPr>
          <a:xfrm>
            <a:off x="7891272" y="2880360"/>
            <a:ext cx="457200" cy="457200"/>
          </a:xfrm>
          <a:prstGeom prst="roundRect">
            <a:avLst>
              <a:gd name="adj" fmla="val 24000"/>
            </a:avLst>
          </a:prstGeom>
          <a:solidFill>
            <a:srgbClr val="258651"/>
          </a:solidFill>
          <a:ln w="12700">
            <a:solidFill>
              <a:srgbClr val="258651"/>
            </a:solidFill>
            <a:prstDash val="solid"/>
          </a:ln>
        </p:spPr>
      </p:sp>
      <p:sp>
        <p:nvSpPr>
          <p:cNvPr id="36" name="Text 29"/>
          <p:cNvSpPr txBox="1"/>
          <p:nvPr/>
        </p:nvSpPr>
        <p:spPr>
          <a:xfrm>
            <a:off x="7891272" y="2880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7" name="Shape 30"/>
          <p:cNvSpPr/>
          <p:nvPr/>
        </p:nvSpPr>
        <p:spPr>
          <a:xfrm>
            <a:off x="8467344" y="2880360"/>
            <a:ext cx="457200" cy="457200"/>
          </a:xfrm>
          <a:prstGeom prst="roundRect">
            <a:avLst>
              <a:gd name="adj" fmla="val 24000"/>
            </a:avLst>
          </a:prstGeom>
          <a:solidFill>
            <a:srgbClr val="258651"/>
          </a:solidFill>
          <a:ln w="12700">
            <a:solidFill>
              <a:srgbClr val="258651"/>
            </a:solidFill>
            <a:prstDash val="solid"/>
          </a:ln>
        </p:spPr>
      </p:sp>
      <p:sp>
        <p:nvSpPr>
          <p:cNvPr id="38" name="Text 31"/>
          <p:cNvSpPr txBox="1"/>
          <p:nvPr/>
        </p:nvSpPr>
        <p:spPr>
          <a:xfrm>
            <a:off x="8467344" y="2880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9" name="Shape 32"/>
          <p:cNvSpPr/>
          <p:nvPr/>
        </p:nvSpPr>
        <p:spPr>
          <a:xfrm>
            <a:off x="9043416" y="2880360"/>
            <a:ext cx="457200" cy="457200"/>
          </a:xfrm>
          <a:prstGeom prst="roundRect">
            <a:avLst>
              <a:gd name="adj" fmla="val 24000"/>
            </a:avLst>
          </a:prstGeom>
          <a:solidFill>
            <a:srgbClr val="7A4B9A"/>
          </a:solidFill>
          <a:ln w="12700">
            <a:solidFill>
              <a:srgbClr val="7A4B9A"/>
            </a:solidFill>
            <a:prstDash val="solid"/>
          </a:ln>
        </p:spPr>
      </p:sp>
      <p:sp>
        <p:nvSpPr>
          <p:cNvPr id="40" name="Text 33"/>
          <p:cNvSpPr txBox="1"/>
          <p:nvPr/>
        </p:nvSpPr>
        <p:spPr>
          <a:xfrm>
            <a:off x="9043416" y="2880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1" name="Shape 34"/>
          <p:cNvSpPr/>
          <p:nvPr/>
        </p:nvSpPr>
        <p:spPr>
          <a:xfrm>
            <a:off x="9619488" y="2880360"/>
            <a:ext cx="457200" cy="457200"/>
          </a:xfrm>
          <a:prstGeom prst="roundRect">
            <a:avLst>
              <a:gd name="adj" fmla="val 24000"/>
            </a:avLst>
          </a:prstGeom>
          <a:solidFill>
            <a:srgbClr val="C74D38"/>
          </a:solidFill>
          <a:ln w="12700">
            <a:solidFill>
              <a:srgbClr val="C74D38"/>
            </a:solidFill>
            <a:prstDash val="solid"/>
          </a:ln>
        </p:spPr>
      </p:sp>
      <p:sp>
        <p:nvSpPr>
          <p:cNvPr id="42" name="Text 35"/>
          <p:cNvSpPr txBox="1"/>
          <p:nvPr/>
        </p:nvSpPr>
        <p:spPr>
          <a:xfrm>
            <a:off x="9619488" y="2880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3" name="Shape 36"/>
          <p:cNvSpPr/>
          <p:nvPr/>
        </p:nvSpPr>
        <p:spPr>
          <a:xfrm>
            <a:off x="10195560" y="2880360"/>
            <a:ext cx="457200" cy="457200"/>
          </a:xfrm>
          <a:prstGeom prst="roundRect">
            <a:avLst>
              <a:gd name="adj" fmla="val 24000"/>
            </a:avLst>
          </a:prstGeom>
          <a:solidFill>
            <a:srgbClr val="004E90"/>
          </a:solidFill>
          <a:ln w="12700">
            <a:solidFill>
              <a:srgbClr val="004E90"/>
            </a:solidFill>
            <a:prstDash val="solid"/>
          </a:ln>
        </p:spPr>
      </p:sp>
      <p:sp>
        <p:nvSpPr>
          <p:cNvPr id="44" name="Text 37"/>
          <p:cNvSpPr txBox="1"/>
          <p:nvPr/>
        </p:nvSpPr>
        <p:spPr>
          <a:xfrm>
            <a:off x="10195560" y="2880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5" name="Shape 38"/>
          <p:cNvSpPr/>
          <p:nvPr/>
        </p:nvSpPr>
        <p:spPr>
          <a:xfrm>
            <a:off x="7891272" y="3456432"/>
            <a:ext cx="457200" cy="457200"/>
          </a:xfrm>
          <a:prstGeom prst="roundRect">
            <a:avLst>
              <a:gd name="adj" fmla="val 24000"/>
            </a:avLst>
          </a:prstGeom>
          <a:solidFill>
            <a:srgbClr val="EBEFF2"/>
          </a:solidFill>
          <a:ln w="12700">
            <a:solidFill>
              <a:srgbClr val="EBEFF2"/>
            </a:solidFill>
            <a:prstDash val="solid"/>
          </a:ln>
        </p:spPr>
      </p:sp>
      <p:sp>
        <p:nvSpPr>
          <p:cNvPr id="46" name="Text 39"/>
          <p:cNvSpPr txBox="1"/>
          <p:nvPr/>
        </p:nvSpPr>
        <p:spPr>
          <a:xfrm>
            <a:off x="7891272" y="3456432"/>
            <a:ext cx="457200" cy="457200"/>
          </a:xfrm>
          <a:prstGeom prst="rect">
            <a:avLst/>
          </a:prstGeom>
          <a:noFill/>
          <a:ln/>
        </p:spPr>
        <p:txBody>
          <a:bodyPr wrap="square" lIns="0" tIns="0" rIns="0" bIns="0" rtlCol="0" anchor="ctr"/>
          <a:lstStyle/>
          <a:p>
            <a:pPr algn="ctr" indent="0" marL="0">
              <a:buNone/>
            </a:pPr>
            <a:r>
              <a:rPr lang="en-US" sz="1300" b="1" dirty="0">
                <a:solidFill>
                  <a:srgbClr val="131B26"/>
                </a:solidFill>
                <a:latin typeface="Calibri" pitchFamily="34" charset="0"/>
                <a:ea typeface="Calibri" pitchFamily="34" charset="-122"/>
                <a:cs typeface="Calibri" pitchFamily="34" charset="-120"/>
              </a:rPr>
              <a:t>6</a:t>
            </a:r>
            <a:endParaRPr lang="en-US" sz="1300" dirty="0"/>
          </a:p>
        </p:txBody>
      </p:sp>
      <p:sp>
        <p:nvSpPr>
          <p:cNvPr id="47" name="Shape 40"/>
          <p:cNvSpPr/>
          <p:nvPr/>
        </p:nvSpPr>
        <p:spPr>
          <a:xfrm>
            <a:off x="8467344" y="3456432"/>
            <a:ext cx="457200" cy="457200"/>
          </a:xfrm>
          <a:prstGeom prst="roundRect">
            <a:avLst>
              <a:gd name="adj" fmla="val 24000"/>
            </a:avLst>
          </a:prstGeom>
          <a:solidFill>
            <a:srgbClr val="258651"/>
          </a:solidFill>
          <a:ln w="12700">
            <a:solidFill>
              <a:srgbClr val="258651"/>
            </a:solidFill>
            <a:prstDash val="solid"/>
          </a:ln>
        </p:spPr>
      </p:sp>
      <p:sp>
        <p:nvSpPr>
          <p:cNvPr id="48" name="Text 41"/>
          <p:cNvSpPr txBox="1"/>
          <p:nvPr/>
        </p:nvSpPr>
        <p:spPr>
          <a:xfrm>
            <a:off x="8467344" y="34564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9" name="Shape 42"/>
          <p:cNvSpPr/>
          <p:nvPr/>
        </p:nvSpPr>
        <p:spPr>
          <a:xfrm>
            <a:off x="9043416" y="3456432"/>
            <a:ext cx="457200" cy="457200"/>
          </a:xfrm>
          <a:prstGeom prst="roundRect">
            <a:avLst>
              <a:gd name="adj" fmla="val 24000"/>
            </a:avLst>
          </a:prstGeom>
          <a:solidFill>
            <a:srgbClr val="7A4B9A"/>
          </a:solidFill>
          <a:ln w="12700">
            <a:solidFill>
              <a:srgbClr val="7A4B9A"/>
            </a:solidFill>
            <a:prstDash val="solid"/>
          </a:ln>
        </p:spPr>
      </p:sp>
      <p:sp>
        <p:nvSpPr>
          <p:cNvPr id="50" name="Text 43"/>
          <p:cNvSpPr txBox="1"/>
          <p:nvPr/>
        </p:nvSpPr>
        <p:spPr>
          <a:xfrm>
            <a:off x="9043416" y="34564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51" name="Shape 44"/>
          <p:cNvSpPr/>
          <p:nvPr/>
        </p:nvSpPr>
        <p:spPr>
          <a:xfrm>
            <a:off x="9619488" y="3456432"/>
            <a:ext cx="457200" cy="457200"/>
          </a:xfrm>
          <a:prstGeom prst="roundRect">
            <a:avLst>
              <a:gd name="adj" fmla="val 24000"/>
            </a:avLst>
          </a:prstGeom>
          <a:solidFill>
            <a:srgbClr val="C74D38"/>
          </a:solidFill>
          <a:ln w="12700">
            <a:solidFill>
              <a:srgbClr val="C74D38"/>
            </a:solidFill>
            <a:prstDash val="solid"/>
          </a:ln>
        </p:spPr>
      </p:sp>
      <p:sp>
        <p:nvSpPr>
          <p:cNvPr id="52" name="Text 45"/>
          <p:cNvSpPr txBox="1"/>
          <p:nvPr/>
        </p:nvSpPr>
        <p:spPr>
          <a:xfrm>
            <a:off x="9619488" y="34564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53" name="Shape 46"/>
          <p:cNvSpPr/>
          <p:nvPr/>
        </p:nvSpPr>
        <p:spPr>
          <a:xfrm>
            <a:off x="10195560" y="3456432"/>
            <a:ext cx="457200" cy="457200"/>
          </a:xfrm>
          <a:prstGeom prst="roundRect">
            <a:avLst>
              <a:gd name="adj" fmla="val 24000"/>
            </a:avLst>
          </a:prstGeom>
          <a:solidFill>
            <a:srgbClr val="EBEFF2"/>
          </a:solidFill>
          <a:ln w="12700">
            <a:solidFill>
              <a:srgbClr val="EBEFF2"/>
            </a:solidFill>
            <a:prstDash val="solid"/>
          </a:ln>
        </p:spPr>
      </p:sp>
      <p:sp>
        <p:nvSpPr>
          <p:cNvPr id="54" name="Text 47"/>
          <p:cNvSpPr txBox="1"/>
          <p:nvPr/>
        </p:nvSpPr>
        <p:spPr>
          <a:xfrm>
            <a:off x="10195560" y="3456432"/>
            <a:ext cx="457200" cy="457200"/>
          </a:xfrm>
          <a:prstGeom prst="rect">
            <a:avLst/>
          </a:prstGeom>
          <a:noFill/>
          <a:ln/>
        </p:spPr>
        <p:txBody>
          <a:bodyPr wrap="square" lIns="0" tIns="0" rIns="0" bIns="0" rtlCol="0" anchor="ctr"/>
          <a:lstStyle/>
          <a:p>
            <a:pPr algn="ctr" indent="0" marL="0">
              <a:buNone/>
            </a:pPr>
            <a:r>
              <a:rPr lang="en-US" sz="1300" b="1" dirty="0">
                <a:solidFill>
                  <a:srgbClr val="131B26"/>
                </a:solidFill>
                <a:latin typeface="Calibri" pitchFamily="34" charset="0"/>
                <a:ea typeface="Calibri" pitchFamily="34" charset="-122"/>
                <a:cs typeface="Calibri" pitchFamily="34" charset="-120"/>
              </a:rPr>
              <a:t>10</a:t>
            </a:r>
            <a:endParaRPr lang="en-US" sz="1300" dirty="0"/>
          </a:p>
        </p:txBody>
      </p:sp>
      <p:sp>
        <p:nvSpPr>
          <p:cNvPr id="55" name="Shape 48"/>
          <p:cNvSpPr/>
          <p:nvPr/>
        </p:nvSpPr>
        <p:spPr>
          <a:xfrm>
            <a:off x="7891272" y="4032504"/>
            <a:ext cx="457200" cy="457200"/>
          </a:xfrm>
          <a:prstGeom prst="roundRect">
            <a:avLst>
              <a:gd name="adj" fmla="val 24000"/>
            </a:avLst>
          </a:prstGeom>
          <a:solidFill>
            <a:srgbClr val="258651"/>
          </a:solidFill>
          <a:ln w="12700">
            <a:solidFill>
              <a:srgbClr val="258651"/>
            </a:solidFill>
            <a:prstDash val="solid"/>
          </a:ln>
        </p:spPr>
      </p:sp>
      <p:sp>
        <p:nvSpPr>
          <p:cNvPr id="56" name="Text 49"/>
          <p:cNvSpPr txBox="1"/>
          <p:nvPr/>
        </p:nvSpPr>
        <p:spPr>
          <a:xfrm>
            <a:off x="7891272" y="40325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57" name="Shape 50"/>
          <p:cNvSpPr/>
          <p:nvPr/>
        </p:nvSpPr>
        <p:spPr>
          <a:xfrm>
            <a:off x="8467344" y="4032504"/>
            <a:ext cx="457200" cy="457200"/>
          </a:xfrm>
          <a:prstGeom prst="roundRect">
            <a:avLst>
              <a:gd name="adj" fmla="val 24000"/>
            </a:avLst>
          </a:prstGeom>
          <a:solidFill>
            <a:srgbClr val="258651"/>
          </a:solidFill>
          <a:ln w="12700">
            <a:solidFill>
              <a:srgbClr val="258651"/>
            </a:solidFill>
            <a:prstDash val="solid"/>
          </a:ln>
        </p:spPr>
      </p:sp>
      <p:sp>
        <p:nvSpPr>
          <p:cNvPr id="58" name="Text 51"/>
          <p:cNvSpPr txBox="1"/>
          <p:nvPr/>
        </p:nvSpPr>
        <p:spPr>
          <a:xfrm>
            <a:off x="8467344" y="40325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59" name="Shape 52"/>
          <p:cNvSpPr/>
          <p:nvPr/>
        </p:nvSpPr>
        <p:spPr>
          <a:xfrm>
            <a:off x="9043416" y="4032504"/>
            <a:ext cx="457200" cy="457200"/>
          </a:xfrm>
          <a:prstGeom prst="roundRect">
            <a:avLst>
              <a:gd name="adj" fmla="val 24000"/>
            </a:avLst>
          </a:prstGeom>
          <a:solidFill>
            <a:srgbClr val="C74D38"/>
          </a:solidFill>
          <a:ln w="12700">
            <a:solidFill>
              <a:srgbClr val="C74D38"/>
            </a:solidFill>
            <a:prstDash val="solid"/>
          </a:ln>
        </p:spPr>
      </p:sp>
      <p:sp>
        <p:nvSpPr>
          <p:cNvPr id="60" name="Text 53"/>
          <p:cNvSpPr txBox="1"/>
          <p:nvPr/>
        </p:nvSpPr>
        <p:spPr>
          <a:xfrm>
            <a:off x="9043416" y="40325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61" name="Shape 54"/>
          <p:cNvSpPr/>
          <p:nvPr/>
        </p:nvSpPr>
        <p:spPr>
          <a:xfrm>
            <a:off x="9619488" y="4032504"/>
            <a:ext cx="457200" cy="457200"/>
          </a:xfrm>
          <a:prstGeom prst="roundRect">
            <a:avLst>
              <a:gd name="adj" fmla="val 24000"/>
            </a:avLst>
          </a:prstGeom>
          <a:solidFill>
            <a:srgbClr val="7A4B9A"/>
          </a:solidFill>
          <a:ln w="12700">
            <a:solidFill>
              <a:srgbClr val="7A4B9A"/>
            </a:solidFill>
            <a:prstDash val="solid"/>
          </a:ln>
        </p:spPr>
      </p:sp>
      <p:sp>
        <p:nvSpPr>
          <p:cNvPr id="62" name="Text 55"/>
          <p:cNvSpPr txBox="1"/>
          <p:nvPr/>
        </p:nvSpPr>
        <p:spPr>
          <a:xfrm>
            <a:off x="9619488" y="40325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63" name="Shape 56"/>
          <p:cNvSpPr/>
          <p:nvPr/>
        </p:nvSpPr>
        <p:spPr>
          <a:xfrm>
            <a:off x="10195560" y="4032504"/>
            <a:ext cx="457200" cy="457200"/>
          </a:xfrm>
          <a:prstGeom prst="roundRect">
            <a:avLst>
              <a:gd name="adj" fmla="val 24000"/>
            </a:avLst>
          </a:prstGeom>
          <a:solidFill>
            <a:srgbClr val="EBEFF2"/>
          </a:solidFill>
          <a:ln w="12700">
            <a:solidFill>
              <a:srgbClr val="EBEFF2"/>
            </a:solidFill>
            <a:prstDash val="solid"/>
          </a:ln>
        </p:spPr>
      </p:sp>
      <p:sp>
        <p:nvSpPr>
          <p:cNvPr id="64" name="Text 57"/>
          <p:cNvSpPr txBox="1"/>
          <p:nvPr/>
        </p:nvSpPr>
        <p:spPr>
          <a:xfrm>
            <a:off x="10195560" y="4032504"/>
            <a:ext cx="457200" cy="457200"/>
          </a:xfrm>
          <a:prstGeom prst="rect">
            <a:avLst/>
          </a:prstGeom>
          <a:noFill/>
          <a:ln/>
        </p:spPr>
        <p:txBody>
          <a:bodyPr wrap="square" lIns="0" tIns="0" rIns="0" bIns="0" rtlCol="0" anchor="ctr"/>
          <a:lstStyle/>
          <a:p>
            <a:pPr algn="ctr" indent="0" marL="0">
              <a:buNone/>
            </a:pPr>
            <a:r>
              <a:rPr lang="en-US" sz="1300" b="1" dirty="0">
                <a:solidFill>
                  <a:srgbClr val="131B26"/>
                </a:solidFill>
                <a:latin typeface="Calibri" pitchFamily="34" charset="0"/>
                <a:ea typeface="Calibri" pitchFamily="34" charset="-122"/>
                <a:cs typeface="Calibri" pitchFamily="34" charset="-120"/>
              </a:rPr>
              <a:t>15</a:t>
            </a:r>
            <a:endParaRPr lang="en-US" sz="1300" dirty="0"/>
          </a:p>
        </p:txBody>
      </p:sp>
      <p:sp>
        <p:nvSpPr>
          <p:cNvPr id="65" name="Shape 58"/>
          <p:cNvSpPr/>
          <p:nvPr/>
        </p:nvSpPr>
        <p:spPr>
          <a:xfrm>
            <a:off x="7891272" y="4608576"/>
            <a:ext cx="457200" cy="457200"/>
          </a:xfrm>
          <a:prstGeom prst="roundRect">
            <a:avLst>
              <a:gd name="adj" fmla="val 24000"/>
            </a:avLst>
          </a:prstGeom>
          <a:solidFill>
            <a:srgbClr val="EBEFF2"/>
          </a:solidFill>
          <a:ln w="12700">
            <a:solidFill>
              <a:srgbClr val="EBEFF2"/>
            </a:solidFill>
            <a:prstDash val="solid"/>
          </a:ln>
        </p:spPr>
      </p:sp>
      <p:sp>
        <p:nvSpPr>
          <p:cNvPr id="66" name="Text 59"/>
          <p:cNvSpPr txBox="1"/>
          <p:nvPr/>
        </p:nvSpPr>
        <p:spPr>
          <a:xfrm>
            <a:off x="7891272" y="4608576"/>
            <a:ext cx="457200" cy="457200"/>
          </a:xfrm>
          <a:prstGeom prst="rect">
            <a:avLst/>
          </a:prstGeom>
          <a:noFill/>
          <a:ln/>
        </p:spPr>
        <p:txBody>
          <a:bodyPr wrap="square" lIns="0" tIns="0" rIns="0" bIns="0" rtlCol="0" anchor="ctr"/>
          <a:lstStyle/>
          <a:p>
            <a:pPr algn="ctr" indent="0" marL="0">
              <a:buNone/>
            </a:pPr>
            <a:r>
              <a:rPr lang="en-US" sz="1300" b="1" dirty="0">
                <a:solidFill>
                  <a:srgbClr val="131B26"/>
                </a:solidFill>
                <a:latin typeface="Calibri" pitchFamily="34" charset="0"/>
                <a:ea typeface="Calibri" pitchFamily="34" charset="-122"/>
                <a:cs typeface="Calibri" pitchFamily="34" charset="-120"/>
              </a:rPr>
              <a:t>16</a:t>
            </a:r>
            <a:endParaRPr lang="en-US" sz="1300" dirty="0"/>
          </a:p>
        </p:txBody>
      </p:sp>
      <p:sp>
        <p:nvSpPr>
          <p:cNvPr id="67" name="Shape 60"/>
          <p:cNvSpPr/>
          <p:nvPr/>
        </p:nvSpPr>
        <p:spPr>
          <a:xfrm>
            <a:off x="8467344" y="4608576"/>
            <a:ext cx="457200" cy="457200"/>
          </a:xfrm>
          <a:prstGeom prst="roundRect">
            <a:avLst>
              <a:gd name="adj" fmla="val 24000"/>
            </a:avLst>
          </a:prstGeom>
          <a:solidFill>
            <a:srgbClr val="258651"/>
          </a:solidFill>
          <a:ln w="12700">
            <a:solidFill>
              <a:srgbClr val="258651"/>
            </a:solidFill>
            <a:prstDash val="solid"/>
          </a:ln>
        </p:spPr>
      </p:sp>
      <p:sp>
        <p:nvSpPr>
          <p:cNvPr id="68" name="Text 61"/>
          <p:cNvSpPr txBox="1"/>
          <p:nvPr/>
        </p:nvSpPr>
        <p:spPr>
          <a:xfrm>
            <a:off x="8467344" y="460857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17</a:t>
            </a:r>
            <a:endParaRPr lang="en-US" sz="1300" dirty="0"/>
          </a:p>
        </p:txBody>
      </p:sp>
      <p:sp>
        <p:nvSpPr>
          <p:cNvPr id="69" name="Shape 62"/>
          <p:cNvSpPr/>
          <p:nvPr/>
        </p:nvSpPr>
        <p:spPr>
          <a:xfrm>
            <a:off x="9043416" y="4608576"/>
            <a:ext cx="457200" cy="457200"/>
          </a:xfrm>
          <a:prstGeom prst="roundRect">
            <a:avLst>
              <a:gd name="adj" fmla="val 24000"/>
            </a:avLst>
          </a:prstGeom>
          <a:solidFill>
            <a:srgbClr val="C74D38"/>
          </a:solidFill>
          <a:ln w="12700">
            <a:solidFill>
              <a:srgbClr val="C74D38"/>
            </a:solidFill>
            <a:prstDash val="solid"/>
          </a:ln>
        </p:spPr>
      </p:sp>
      <p:sp>
        <p:nvSpPr>
          <p:cNvPr id="70" name="Text 63"/>
          <p:cNvSpPr txBox="1"/>
          <p:nvPr/>
        </p:nvSpPr>
        <p:spPr>
          <a:xfrm>
            <a:off x="9043416" y="460857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18</a:t>
            </a:r>
            <a:endParaRPr lang="en-US" sz="1300" dirty="0"/>
          </a:p>
        </p:txBody>
      </p:sp>
      <p:sp>
        <p:nvSpPr>
          <p:cNvPr id="71" name="Shape 64"/>
          <p:cNvSpPr/>
          <p:nvPr/>
        </p:nvSpPr>
        <p:spPr>
          <a:xfrm>
            <a:off x="9619488" y="4608576"/>
            <a:ext cx="457200" cy="457200"/>
          </a:xfrm>
          <a:prstGeom prst="roundRect">
            <a:avLst>
              <a:gd name="adj" fmla="val 24000"/>
            </a:avLst>
          </a:prstGeom>
          <a:solidFill>
            <a:srgbClr val="EBEFF2"/>
          </a:solidFill>
          <a:ln w="12700">
            <a:solidFill>
              <a:srgbClr val="EBEFF2"/>
            </a:solidFill>
            <a:prstDash val="solid"/>
          </a:ln>
        </p:spPr>
      </p:sp>
      <p:sp>
        <p:nvSpPr>
          <p:cNvPr id="72" name="Text 65"/>
          <p:cNvSpPr txBox="1"/>
          <p:nvPr/>
        </p:nvSpPr>
        <p:spPr>
          <a:xfrm>
            <a:off x="9619488" y="4608576"/>
            <a:ext cx="457200" cy="457200"/>
          </a:xfrm>
          <a:prstGeom prst="rect">
            <a:avLst/>
          </a:prstGeom>
          <a:noFill/>
          <a:ln/>
        </p:spPr>
        <p:txBody>
          <a:bodyPr wrap="square" lIns="0" tIns="0" rIns="0" bIns="0" rtlCol="0" anchor="ctr"/>
          <a:lstStyle/>
          <a:p>
            <a:pPr algn="ctr" indent="0" marL="0">
              <a:buNone/>
            </a:pPr>
            <a:r>
              <a:rPr lang="en-US" sz="1300" b="1" dirty="0">
                <a:solidFill>
                  <a:srgbClr val="131B26"/>
                </a:solidFill>
                <a:latin typeface="Calibri" pitchFamily="34" charset="0"/>
                <a:ea typeface="Calibri" pitchFamily="34" charset="-122"/>
                <a:cs typeface="Calibri" pitchFamily="34" charset="-120"/>
              </a:rPr>
              <a:t>19</a:t>
            </a:r>
            <a:endParaRPr lang="en-US" sz="1300" dirty="0"/>
          </a:p>
        </p:txBody>
      </p:sp>
      <p:sp>
        <p:nvSpPr>
          <p:cNvPr id="73" name="Shape 66"/>
          <p:cNvSpPr/>
          <p:nvPr/>
        </p:nvSpPr>
        <p:spPr>
          <a:xfrm>
            <a:off x="10195560" y="4608576"/>
            <a:ext cx="457200" cy="457200"/>
          </a:xfrm>
          <a:prstGeom prst="roundRect">
            <a:avLst>
              <a:gd name="adj" fmla="val 24000"/>
            </a:avLst>
          </a:prstGeom>
          <a:solidFill>
            <a:srgbClr val="EBEFF2"/>
          </a:solidFill>
          <a:ln w="12700">
            <a:solidFill>
              <a:srgbClr val="EBEFF2"/>
            </a:solidFill>
            <a:prstDash val="solid"/>
          </a:ln>
        </p:spPr>
      </p:sp>
      <p:sp>
        <p:nvSpPr>
          <p:cNvPr id="74" name="Text 67"/>
          <p:cNvSpPr txBox="1"/>
          <p:nvPr/>
        </p:nvSpPr>
        <p:spPr>
          <a:xfrm>
            <a:off x="10195560" y="4608576"/>
            <a:ext cx="457200" cy="457200"/>
          </a:xfrm>
          <a:prstGeom prst="rect">
            <a:avLst/>
          </a:prstGeom>
          <a:noFill/>
          <a:ln/>
        </p:spPr>
        <p:txBody>
          <a:bodyPr wrap="square" lIns="0" tIns="0" rIns="0" bIns="0" rtlCol="0" anchor="ctr"/>
          <a:lstStyle/>
          <a:p>
            <a:pPr algn="ctr" indent="0" marL="0">
              <a:buNone/>
            </a:pPr>
            <a:r>
              <a:rPr lang="en-US" sz="1300" b="1" dirty="0">
                <a:solidFill>
                  <a:srgbClr val="131B26"/>
                </a:solidFill>
                <a:latin typeface="Calibri" pitchFamily="34" charset="0"/>
                <a:ea typeface="Calibri" pitchFamily="34" charset="-122"/>
                <a:cs typeface="Calibri" pitchFamily="34" charset="-120"/>
              </a:rPr>
              <a:t>20</a:t>
            </a:r>
            <a:endParaRPr lang="en-US" sz="1300" dirty="0"/>
          </a:p>
        </p:txBody>
      </p:sp>
      <p:sp>
        <p:nvSpPr>
          <p:cNvPr id="75" name="Shape 68"/>
          <p:cNvSpPr/>
          <p:nvPr/>
        </p:nvSpPr>
        <p:spPr>
          <a:xfrm>
            <a:off x="7223760" y="5468112"/>
            <a:ext cx="164592" cy="164592"/>
          </a:xfrm>
          <a:prstGeom prst="roundRect">
            <a:avLst>
              <a:gd name="adj" fmla="val 22222"/>
            </a:avLst>
          </a:prstGeom>
          <a:solidFill>
            <a:srgbClr val="258651"/>
          </a:solidFill>
          <a:ln w="12700">
            <a:solidFill>
              <a:srgbClr val="258651"/>
            </a:solidFill>
            <a:prstDash val="solid"/>
          </a:ln>
        </p:spPr>
      </p:sp>
      <p:sp>
        <p:nvSpPr>
          <p:cNvPr id="76" name="Text 69"/>
          <p:cNvSpPr txBox="1"/>
          <p:nvPr/>
        </p:nvSpPr>
        <p:spPr>
          <a:xfrm>
            <a:off x="7461504" y="5440680"/>
            <a:ext cx="1143000" cy="237744"/>
          </a:xfrm>
          <a:prstGeom prst="rect">
            <a:avLst/>
          </a:prstGeom>
          <a:noFill/>
          <a:ln/>
        </p:spPr>
        <p:txBody>
          <a:bodyPr wrap="square" lIns="0" tIns="0" rIns="0" bIns="0" rtlCol="0" anchor="ctr"/>
          <a:lstStyle/>
          <a:p>
            <a:pPr algn="l" indent="0" marL="0">
              <a:buNone/>
            </a:pPr>
            <a:r>
              <a:rPr lang="en-US" sz="1100" dirty="0">
                <a:solidFill>
                  <a:srgbClr val="606A74"/>
                </a:solidFill>
                <a:latin typeface="Calibri" pitchFamily="34" charset="0"/>
                <a:ea typeface="Calibri" pitchFamily="34" charset="-122"/>
                <a:cs typeface="Calibri" pitchFamily="34" charset="-120"/>
              </a:rPr>
              <a:t>Answered</a:t>
            </a:r>
            <a:endParaRPr lang="en-US" sz="1100" dirty="0"/>
          </a:p>
        </p:txBody>
      </p:sp>
      <p:sp>
        <p:nvSpPr>
          <p:cNvPr id="77" name="Shape 70"/>
          <p:cNvSpPr/>
          <p:nvPr/>
        </p:nvSpPr>
        <p:spPr>
          <a:xfrm>
            <a:off x="8595360" y="5468112"/>
            <a:ext cx="164592" cy="164592"/>
          </a:xfrm>
          <a:prstGeom prst="roundRect">
            <a:avLst>
              <a:gd name="adj" fmla="val 22222"/>
            </a:avLst>
          </a:prstGeom>
          <a:solidFill>
            <a:srgbClr val="C74D38"/>
          </a:solidFill>
          <a:ln w="12700">
            <a:solidFill>
              <a:srgbClr val="C74D38"/>
            </a:solidFill>
            <a:prstDash val="solid"/>
          </a:ln>
        </p:spPr>
      </p:sp>
      <p:sp>
        <p:nvSpPr>
          <p:cNvPr id="78" name="Text 71"/>
          <p:cNvSpPr txBox="1"/>
          <p:nvPr/>
        </p:nvSpPr>
        <p:spPr>
          <a:xfrm>
            <a:off x="8833104" y="5440680"/>
            <a:ext cx="1143000" cy="237744"/>
          </a:xfrm>
          <a:prstGeom prst="rect">
            <a:avLst/>
          </a:prstGeom>
          <a:noFill/>
          <a:ln/>
        </p:spPr>
        <p:txBody>
          <a:bodyPr wrap="square" lIns="0" tIns="0" rIns="0" bIns="0" rtlCol="0" anchor="ctr"/>
          <a:lstStyle/>
          <a:p>
            <a:pPr algn="l" indent="0" marL="0">
              <a:buNone/>
            </a:pPr>
            <a:r>
              <a:rPr lang="en-US" sz="1100" dirty="0">
                <a:solidFill>
                  <a:srgbClr val="606A74"/>
                </a:solidFill>
                <a:latin typeface="Calibri" pitchFamily="34" charset="0"/>
                <a:ea typeface="Calibri" pitchFamily="34" charset="-122"/>
                <a:cs typeface="Calibri" pitchFamily="34" charset="-120"/>
              </a:rPr>
              <a:t>Not answered</a:t>
            </a:r>
            <a:endParaRPr lang="en-US" sz="1100" dirty="0"/>
          </a:p>
        </p:txBody>
      </p:sp>
      <p:sp>
        <p:nvSpPr>
          <p:cNvPr id="79" name="Shape 72"/>
          <p:cNvSpPr/>
          <p:nvPr/>
        </p:nvSpPr>
        <p:spPr>
          <a:xfrm>
            <a:off x="9966960" y="5468112"/>
            <a:ext cx="164592" cy="164592"/>
          </a:xfrm>
          <a:prstGeom prst="roundRect">
            <a:avLst>
              <a:gd name="adj" fmla="val 22222"/>
            </a:avLst>
          </a:prstGeom>
          <a:solidFill>
            <a:srgbClr val="7A4B9A"/>
          </a:solidFill>
          <a:ln w="12700">
            <a:solidFill>
              <a:srgbClr val="7A4B9A"/>
            </a:solidFill>
            <a:prstDash val="solid"/>
          </a:ln>
        </p:spPr>
      </p:sp>
      <p:sp>
        <p:nvSpPr>
          <p:cNvPr id="80" name="Text 73"/>
          <p:cNvSpPr txBox="1"/>
          <p:nvPr/>
        </p:nvSpPr>
        <p:spPr>
          <a:xfrm>
            <a:off x="10204704" y="5440680"/>
            <a:ext cx="1143000" cy="237744"/>
          </a:xfrm>
          <a:prstGeom prst="rect">
            <a:avLst/>
          </a:prstGeom>
          <a:noFill/>
          <a:ln/>
        </p:spPr>
        <p:txBody>
          <a:bodyPr wrap="square" lIns="0" tIns="0" rIns="0" bIns="0" rtlCol="0" anchor="ctr"/>
          <a:lstStyle/>
          <a:p>
            <a:pPr algn="l" indent="0" marL="0">
              <a:buNone/>
            </a:pPr>
            <a:r>
              <a:rPr lang="en-US" sz="1100" dirty="0">
                <a:solidFill>
                  <a:srgbClr val="606A74"/>
                </a:solidFill>
                <a:latin typeface="Calibri" pitchFamily="34" charset="0"/>
                <a:ea typeface="Calibri" pitchFamily="34" charset="-122"/>
                <a:cs typeface="Calibri" pitchFamily="34" charset="-120"/>
              </a:rPr>
              <a:t>Marked for review</a:t>
            </a:r>
            <a:endParaRPr lang="en-US" sz="1100" dirty="0"/>
          </a:p>
        </p:txBody>
      </p:sp>
      <p:sp>
        <p:nvSpPr>
          <p:cNvPr id="81" name="Shape 74"/>
          <p:cNvSpPr/>
          <p:nvPr/>
        </p:nvSpPr>
        <p:spPr>
          <a:xfrm>
            <a:off x="7223760" y="5797296"/>
            <a:ext cx="164592" cy="164592"/>
          </a:xfrm>
          <a:prstGeom prst="roundRect">
            <a:avLst>
              <a:gd name="adj" fmla="val 22222"/>
            </a:avLst>
          </a:prstGeom>
          <a:solidFill>
            <a:srgbClr val="EBEFF2"/>
          </a:solidFill>
          <a:ln w="12700">
            <a:solidFill>
              <a:srgbClr val="EBEFF2"/>
            </a:solidFill>
            <a:prstDash val="solid"/>
          </a:ln>
        </p:spPr>
      </p:sp>
      <p:sp>
        <p:nvSpPr>
          <p:cNvPr id="82" name="Text 75"/>
          <p:cNvSpPr txBox="1"/>
          <p:nvPr/>
        </p:nvSpPr>
        <p:spPr>
          <a:xfrm>
            <a:off x="7461504" y="5769864"/>
            <a:ext cx="1143000" cy="237744"/>
          </a:xfrm>
          <a:prstGeom prst="rect">
            <a:avLst/>
          </a:prstGeom>
          <a:noFill/>
          <a:ln/>
        </p:spPr>
        <p:txBody>
          <a:bodyPr wrap="square" lIns="0" tIns="0" rIns="0" bIns="0" rtlCol="0" anchor="ctr"/>
          <a:lstStyle/>
          <a:p>
            <a:pPr algn="l" indent="0" marL="0">
              <a:buNone/>
            </a:pPr>
            <a:r>
              <a:rPr lang="en-US" sz="1100" dirty="0">
                <a:solidFill>
                  <a:srgbClr val="606A74"/>
                </a:solidFill>
                <a:latin typeface="Calibri" pitchFamily="34" charset="0"/>
                <a:ea typeface="Calibri" pitchFamily="34" charset="-122"/>
                <a:cs typeface="Calibri" pitchFamily="34" charset="-120"/>
              </a:rPr>
              <a:t>Not visited</a:t>
            </a:r>
            <a:endParaRPr lang="en-US" sz="1100" dirty="0"/>
          </a:p>
        </p:txBody>
      </p:sp>
      <p:sp>
        <p:nvSpPr>
          <p:cNvPr id="83" name="Shape 76"/>
          <p:cNvSpPr/>
          <p:nvPr/>
        </p:nvSpPr>
        <p:spPr>
          <a:xfrm>
            <a:off x="8595360" y="5797296"/>
            <a:ext cx="164592" cy="164592"/>
          </a:xfrm>
          <a:prstGeom prst="roundRect">
            <a:avLst>
              <a:gd name="adj" fmla="val 22222"/>
            </a:avLst>
          </a:prstGeom>
          <a:solidFill>
            <a:srgbClr val="004E90"/>
          </a:solidFill>
          <a:ln w="12700">
            <a:solidFill>
              <a:srgbClr val="004E90"/>
            </a:solidFill>
            <a:prstDash val="solid"/>
          </a:ln>
        </p:spPr>
      </p:sp>
      <p:sp>
        <p:nvSpPr>
          <p:cNvPr id="84" name="Text 77"/>
          <p:cNvSpPr txBox="1"/>
          <p:nvPr/>
        </p:nvSpPr>
        <p:spPr>
          <a:xfrm>
            <a:off x="8833104" y="5769864"/>
            <a:ext cx="1143000" cy="237744"/>
          </a:xfrm>
          <a:prstGeom prst="rect">
            <a:avLst/>
          </a:prstGeom>
          <a:noFill/>
          <a:ln/>
        </p:spPr>
        <p:txBody>
          <a:bodyPr wrap="square" lIns="0" tIns="0" rIns="0" bIns="0" rtlCol="0" anchor="ctr"/>
          <a:lstStyle/>
          <a:p>
            <a:pPr algn="l" indent="0" marL="0">
              <a:buNone/>
            </a:pPr>
            <a:r>
              <a:rPr lang="en-US" sz="1100" dirty="0">
                <a:solidFill>
                  <a:srgbClr val="606A74"/>
                </a:solidFill>
                <a:latin typeface="Calibri" pitchFamily="34" charset="0"/>
                <a:ea typeface="Calibri" pitchFamily="34" charset="-122"/>
                <a:cs typeface="Calibri" pitchFamily="34" charset="-120"/>
              </a:rPr>
              <a:t>Current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MODULE 2</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Mentor Marketplace and Batch Hub</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960120" y="1691640"/>
            <a:ext cx="777240" cy="777240"/>
          </a:xfrm>
          <a:prstGeom prst="ellipse">
            <a:avLst/>
          </a:prstGeom>
          <a:solidFill>
            <a:srgbClr val="D2ECFC"/>
          </a:solidFill>
          <a:ln w="12700">
            <a:solidFill>
              <a:srgbClr val="D2ECFC"/>
            </a:solidFill>
            <a:prstDash val="solid"/>
          </a:ln>
        </p:spPr>
      </p:sp>
      <p:pic>
        <p:nvPicPr>
          <p:cNvPr id="8" name="Image 1" descr="preencoded.png">    </p:cNvPr>
          <p:cNvPicPr>
            <a:picLocks noChangeAspect="1"/>
          </p:cNvPicPr>
          <p:nvPr/>
        </p:nvPicPr>
        <p:blipFill>
          <a:blip r:embed="rId2"/>
          <a:stretch>
            <a:fillRect/>
          </a:stretch>
        </p:blipFill>
        <p:spPr>
          <a:xfrm>
            <a:off x="1154430" y="1885950"/>
            <a:ext cx="388620" cy="388620"/>
          </a:xfrm>
          <a:prstGeom prst="rect">
            <a:avLst/>
          </a:prstGeom>
        </p:spPr>
      </p:pic>
      <p:sp>
        <p:nvSpPr>
          <p:cNvPr id="9" name="Text 5"/>
          <p:cNvSpPr txBox="1"/>
          <p:nvPr/>
        </p:nvSpPr>
        <p:spPr>
          <a:xfrm>
            <a:off x="548640" y="2587752"/>
            <a:ext cx="1600200" cy="320040"/>
          </a:xfrm>
          <a:prstGeom prst="rect">
            <a:avLst/>
          </a:prstGeom>
          <a:noFill/>
          <a:ln/>
        </p:spPr>
        <p:txBody>
          <a:bodyPr wrap="square" lIns="0" tIns="0" rIns="0" bIns="0" rtlCol="0" anchor="t"/>
          <a:lstStyle/>
          <a:p>
            <a:pPr algn="ctr" indent="0" marL="0">
              <a:buNone/>
            </a:pPr>
            <a:r>
              <a:rPr lang="en-US" sz="1500" b="1" dirty="0">
                <a:solidFill>
                  <a:srgbClr val="131B26"/>
                </a:solidFill>
                <a:latin typeface="Arial" pitchFamily="34" charset="0"/>
                <a:ea typeface="Arial" pitchFamily="34" charset="-122"/>
                <a:cs typeface="Arial" pitchFamily="34" charset="-120"/>
              </a:rPr>
              <a:t>Discover</a:t>
            </a:r>
            <a:endParaRPr lang="en-US" sz="1500" dirty="0"/>
          </a:p>
        </p:txBody>
      </p:sp>
      <p:sp>
        <p:nvSpPr>
          <p:cNvPr id="10" name="Shape 6"/>
          <p:cNvSpPr/>
          <p:nvPr/>
        </p:nvSpPr>
        <p:spPr>
          <a:xfrm>
            <a:off x="1897380" y="2080260"/>
            <a:ext cx="801563" cy="0"/>
          </a:xfrm>
          <a:prstGeom prst="line">
            <a:avLst/>
          </a:prstGeom>
          <a:noFill/>
          <a:ln w="19050">
            <a:solidFill>
              <a:srgbClr val="DDE2E6"/>
            </a:solidFill>
            <a:prstDash val="dash"/>
            <a:tailEnd type="triangle"/>
          </a:ln>
        </p:spPr>
      </p:sp>
      <p:sp>
        <p:nvSpPr>
          <p:cNvPr id="11" name="Shape 7"/>
          <p:cNvSpPr/>
          <p:nvPr/>
        </p:nvSpPr>
        <p:spPr>
          <a:xfrm>
            <a:off x="2858963" y="1691640"/>
            <a:ext cx="777240" cy="777240"/>
          </a:xfrm>
          <a:prstGeom prst="ellipse">
            <a:avLst/>
          </a:prstGeom>
          <a:solidFill>
            <a:srgbClr val="EDDEF9"/>
          </a:solidFill>
          <a:ln w="12700">
            <a:solidFill>
              <a:srgbClr val="EDDEF9"/>
            </a:solidFill>
            <a:prstDash val="solid"/>
          </a:ln>
        </p:spPr>
      </p:sp>
      <p:pic>
        <p:nvPicPr>
          <p:cNvPr id="12" name="Image 2" descr="preencoded.png">    </p:cNvPr>
          <p:cNvPicPr>
            <a:picLocks noChangeAspect="1"/>
          </p:cNvPicPr>
          <p:nvPr/>
        </p:nvPicPr>
        <p:blipFill>
          <a:blip r:embed="rId3"/>
          <a:stretch>
            <a:fillRect/>
          </a:stretch>
        </p:blipFill>
        <p:spPr>
          <a:xfrm>
            <a:off x="3053273" y="1885950"/>
            <a:ext cx="388620" cy="388620"/>
          </a:xfrm>
          <a:prstGeom prst="rect">
            <a:avLst/>
          </a:prstGeom>
        </p:spPr>
      </p:pic>
      <p:sp>
        <p:nvSpPr>
          <p:cNvPr id="13" name="Text 8"/>
          <p:cNvSpPr txBox="1"/>
          <p:nvPr/>
        </p:nvSpPr>
        <p:spPr>
          <a:xfrm>
            <a:off x="2447483" y="2587752"/>
            <a:ext cx="1600200" cy="320040"/>
          </a:xfrm>
          <a:prstGeom prst="rect">
            <a:avLst/>
          </a:prstGeom>
          <a:noFill/>
          <a:ln/>
        </p:spPr>
        <p:txBody>
          <a:bodyPr wrap="square" lIns="0" tIns="0" rIns="0" bIns="0" rtlCol="0" anchor="t"/>
          <a:lstStyle/>
          <a:p>
            <a:pPr algn="ctr" indent="0" marL="0">
              <a:buNone/>
            </a:pPr>
            <a:r>
              <a:rPr lang="en-US" sz="1500" b="1" dirty="0">
                <a:solidFill>
                  <a:srgbClr val="131B26"/>
                </a:solidFill>
                <a:latin typeface="Arial" pitchFamily="34" charset="0"/>
                <a:ea typeface="Arial" pitchFamily="34" charset="-122"/>
                <a:cs typeface="Arial" pitchFamily="34" charset="-120"/>
              </a:rPr>
              <a:t>Enrol &amp; pay</a:t>
            </a:r>
            <a:endParaRPr lang="en-US" sz="1500" dirty="0"/>
          </a:p>
        </p:txBody>
      </p:sp>
      <p:sp>
        <p:nvSpPr>
          <p:cNvPr id="14" name="Shape 9"/>
          <p:cNvSpPr/>
          <p:nvPr/>
        </p:nvSpPr>
        <p:spPr>
          <a:xfrm>
            <a:off x="3796223" y="2080260"/>
            <a:ext cx="801563" cy="0"/>
          </a:xfrm>
          <a:prstGeom prst="line">
            <a:avLst/>
          </a:prstGeom>
          <a:noFill/>
          <a:ln w="19050">
            <a:solidFill>
              <a:srgbClr val="DDE2E6"/>
            </a:solidFill>
            <a:prstDash val="dash"/>
            <a:tailEnd type="triangle"/>
          </a:ln>
        </p:spPr>
      </p:sp>
      <p:sp>
        <p:nvSpPr>
          <p:cNvPr id="15" name="Shape 10"/>
          <p:cNvSpPr/>
          <p:nvPr/>
        </p:nvSpPr>
        <p:spPr>
          <a:xfrm>
            <a:off x="4757806" y="1691640"/>
            <a:ext cx="777240" cy="777240"/>
          </a:xfrm>
          <a:prstGeom prst="ellipse">
            <a:avLst/>
          </a:prstGeom>
          <a:solidFill>
            <a:srgbClr val="D2ECFC"/>
          </a:solidFill>
          <a:ln w="12700">
            <a:solidFill>
              <a:srgbClr val="D2ECFC"/>
            </a:solidFill>
            <a:prstDash val="solid"/>
          </a:ln>
        </p:spPr>
      </p:sp>
      <p:pic>
        <p:nvPicPr>
          <p:cNvPr id="16" name="Image 3" descr="preencoded.png">    </p:cNvPr>
          <p:cNvPicPr>
            <a:picLocks noChangeAspect="1"/>
          </p:cNvPicPr>
          <p:nvPr/>
        </p:nvPicPr>
        <p:blipFill>
          <a:blip r:embed="rId4"/>
          <a:stretch>
            <a:fillRect/>
          </a:stretch>
        </p:blipFill>
        <p:spPr>
          <a:xfrm>
            <a:off x="4952116" y="1885950"/>
            <a:ext cx="388620" cy="388620"/>
          </a:xfrm>
          <a:prstGeom prst="rect">
            <a:avLst/>
          </a:prstGeom>
        </p:spPr>
      </p:pic>
      <p:sp>
        <p:nvSpPr>
          <p:cNvPr id="17" name="Text 11"/>
          <p:cNvSpPr txBox="1"/>
          <p:nvPr/>
        </p:nvSpPr>
        <p:spPr>
          <a:xfrm>
            <a:off x="4346326" y="2587752"/>
            <a:ext cx="1600200" cy="320040"/>
          </a:xfrm>
          <a:prstGeom prst="rect">
            <a:avLst/>
          </a:prstGeom>
          <a:noFill/>
          <a:ln/>
        </p:spPr>
        <p:txBody>
          <a:bodyPr wrap="square" lIns="0" tIns="0" rIns="0" bIns="0" rtlCol="0" anchor="t"/>
          <a:lstStyle/>
          <a:p>
            <a:pPr algn="ctr" indent="0" marL="0">
              <a:buNone/>
            </a:pPr>
            <a:r>
              <a:rPr lang="en-US" sz="1500" b="1" dirty="0">
                <a:solidFill>
                  <a:srgbClr val="131B26"/>
                </a:solidFill>
                <a:latin typeface="Arial" pitchFamily="34" charset="0"/>
                <a:ea typeface="Arial" pitchFamily="34" charset="-122"/>
                <a:cs typeface="Arial" pitchFamily="34" charset="-120"/>
              </a:rPr>
              <a:t>Learn</a:t>
            </a:r>
            <a:endParaRPr lang="en-US" sz="1500" dirty="0"/>
          </a:p>
        </p:txBody>
      </p:sp>
      <p:sp>
        <p:nvSpPr>
          <p:cNvPr id="18" name="Shape 12"/>
          <p:cNvSpPr/>
          <p:nvPr/>
        </p:nvSpPr>
        <p:spPr>
          <a:xfrm>
            <a:off x="5695066" y="2080260"/>
            <a:ext cx="801563" cy="0"/>
          </a:xfrm>
          <a:prstGeom prst="line">
            <a:avLst/>
          </a:prstGeom>
          <a:noFill/>
          <a:ln w="19050">
            <a:solidFill>
              <a:srgbClr val="DDE2E6"/>
            </a:solidFill>
            <a:prstDash val="dash"/>
            <a:tailEnd type="triangle"/>
          </a:ln>
        </p:spPr>
      </p:sp>
      <p:sp>
        <p:nvSpPr>
          <p:cNvPr id="19" name="Shape 13"/>
          <p:cNvSpPr/>
          <p:nvPr/>
        </p:nvSpPr>
        <p:spPr>
          <a:xfrm>
            <a:off x="6656649" y="1691640"/>
            <a:ext cx="777240" cy="777240"/>
          </a:xfrm>
          <a:prstGeom prst="ellipse">
            <a:avLst/>
          </a:prstGeom>
          <a:solidFill>
            <a:srgbClr val="EDDEF9"/>
          </a:solidFill>
          <a:ln w="12700">
            <a:solidFill>
              <a:srgbClr val="EDDEF9"/>
            </a:solidFill>
            <a:prstDash val="solid"/>
          </a:ln>
        </p:spPr>
      </p:sp>
      <p:pic>
        <p:nvPicPr>
          <p:cNvPr id="20" name="Image 4" descr="preencoded.png">    </p:cNvPr>
          <p:cNvPicPr>
            <a:picLocks noChangeAspect="1"/>
          </p:cNvPicPr>
          <p:nvPr/>
        </p:nvPicPr>
        <p:blipFill>
          <a:blip r:embed="rId5"/>
          <a:stretch>
            <a:fillRect/>
          </a:stretch>
        </p:blipFill>
        <p:spPr>
          <a:xfrm>
            <a:off x="6850959" y="1885950"/>
            <a:ext cx="388620" cy="388620"/>
          </a:xfrm>
          <a:prstGeom prst="rect">
            <a:avLst/>
          </a:prstGeom>
        </p:spPr>
      </p:pic>
      <p:sp>
        <p:nvSpPr>
          <p:cNvPr id="21" name="Text 14"/>
          <p:cNvSpPr txBox="1"/>
          <p:nvPr/>
        </p:nvSpPr>
        <p:spPr>
          <a:xfrm>
            <a:off x="6245169" y="2587752"/>
            <a:ext cx="1600200" cy="320040"/>
          </a:xfrm>
          <a:prstGeom prst="rect">
            <a:avLst/>
          </a:prstGeom>
          <a:noFill/>
          <a:ln/>
        </p:spPr>
        <p:txBody>
          <a:bodyPr wrap="square" lIns="0" tIns="0" rIns="0" bIns="0" rtlCol="0" anchor="t"/>
          <a:lstStyle/>
          <a:p>
            <a:pPr algn="ctr" indent="0" marL="0">
              <a:buNone/>
            </a:pPr>
            <a:r>
              <a:rPr lang="en-US" sz="1500" b="1" dirty="0">
                <a:solidFill>
                  <a:srgbClr val="131B26"/>
                </a:solidFill>
                <a:latin typeface="Arial" pitchFamily="34" charset="0"/>
                <a:ea typeface="Arial" pitchFamily="34" charset="-122"/>
                <a:cs typeface="Arial" pitchFamily="34" charset="-120"/>
              </a:rPr>
              <a:t>Practise</a:t>
            </a:r>
            <a:endParaRPr lang="en-US" sz="1500" dirty="0"/>
          </a:p>
        </p:txBody>
      </p:sp>
      <p:sp>
        <p:nvSpPr>
          <p:cNvPr id="22" name="Shape 15"/>
          <p:cNvSpPr/>
          <p:nvPr/>
        </p:nvSpPr>
        <p:spPr>
          <a:xfrm>
            <a:off x="7593909" y="2080260"/>
            <a:ext cx="801563" cy="0"/>
          </a:xfrm>
          <a:prstGeom prst="line">
            <a:avLst/>
          </a:prstGeom>
          <a:noFill/>
          <a:ln w="19050">
            <a:solidFill>
              <a:srgbClr val="DDE2E6"/>
            </a:solidFill>
            <a:prstDash val="dash"/>
            <a:tailEnd type="triangle"/>
          </a:ln>
        </p:spPr>
      </p:sp>
      <p:sp>
        <p:nvSpPr>
          <p:cNvPr id="23" name="Shape 16"/>
          <p:cNvSpPr/>
          <p:nvPr/>
        </p:nvSpPr>
        <p:spPr>
          <a:xfrm>
            <a:off x="8555492" y="1691640"/>
            <a:ext cx="777240" cy="777240"/>
          </a:xfrm>
          <a:prstGeom prst="ellipse">
            <a:avLst/>
          </a:prstGeom>
          <a:solidFill>
            <a:srgbClr val="D2ECFC"/>
          </a:solidFill>
          <a:ln w="12700">
            <a:solidFill>
              <a:srgbClr val="D2ECFC"/>
            </a:solidFill>
            <a:prstDash val="solid"/>
          </a:ln>
        </p:spPr>
      </p:sp>
      <p:pic>
        <p:nvPicPr>
          <p:cNvPr id="24" name="Image 5" descr="preencoded.png">    </p:cNvPr>
          <p:cNvPicPr>
            <a:picLocks noChangeAspect="1"/>
          </p:cNvPicPr>
          <p:nvPr/>
        </p:nvPicPr>
        <p:blipFill>
          <a:blip r:embed="rId6"/>
          <a:stretch>
            <a:fillRect/>
          </a:stretch>
        </p:blipFill>
        <p:spPr>
          <a:xfrm>
            <a:off x="8749802" y="1885950"/>
            <a:ext cx="388620" cy="388620"/>
          </a:xfrm>
          <a:prstGeom prst="rect">
            <a:avLst/>
          </a:prstGeom>
        </p:spPr>
      </p:pic>
      <p:sp>
        <p:nvSpPr>
          <p:cNvPr id="25" name="Text 17"/>
          <p:cNvSpPr txBox="1"/>
          <p:nvPr/>
        </p:nvSpPr>
        <p:spPr>
          <a:xfrm>
            <a:off x="8144012" y="2587752"/>
            <a:ext cx="1600200" cy="320040"/>
          </a:xfrm>
          <a:prstGeom prst="rect">
            <a:avLst/>
          </a:prstGeom>
          <a:noFill/>
          <a:ln/>
        </p:spPr>
        <p:txBody>
          <a:bodyPr wrap="square" lIns="0" tIns="0" rIns="0" bIns="0" rtlCol="0" anchor="t"/>
          <a:lstStyle/>
          <a:p>
            <a:pPr algn="ctr" indent="0" marL="0">
              <a:buNone/>
            </a:pPr>
            <a:r>
              <a:rPr lang="en-US" sz="1500" b="1" dirty="0">
                <a:solidFill>
                  <a:srgbClr val="131B26"/>
                </a:solidFill>
                <a:latin typeface="Arial" pitchFamily="34" charset="0"/>
                <a:ea typeface="Arial" pitchFamily="34" charset="-122"/>
                <a:cs typeface="Arial" pitchFamily="34" charset="-120"/>
              </a:rPr>
              <a:t>Analyse</a:t>
            </a:r>
            <a:endParaRPr lang="en-US" sz="1500" dirty="0"/>
          </a:p>
        </p:txBody>
      </p:sp>
      <p:sp>
        <p:nvSpPr>
          <p:cNvPr id="26" name="Shape 18"/>
          <p:cNvSpPr/>
          <p:nvPr/>
        </p:nvSpPr>
        <p:spPr>
          <a:xfrm>
            <a:off x="9492752" y="2080260"/>
            <a:ext cx="801563" cy="0"/>
          </a:xfrm>
          <a:prstGeom prst="line">
            <a:avLst/>
          </a:prstGeom>
          <a:noFill/>
          <a:ln w="19050">
            <a:solidFill>
              <a:srgbClr val="DDE2E6"/>
            </a:solidFill>
            <a:prstDash val="dash"/>
            <a:tailEnd type="triangle"/>
          </a:ln>
        </p:spPr>
      </p:sp>
      <p:sp>
        <p:nvSpPr>
          <p:cNvPr id="27" name="Shape 19"/>
          <p:cNvSpPr/>
          <p:nvPr/>
        </p:nvSpPr>
        <p:spPr>
          <a:xfrm>
            <a:off x="10454335" y="1691640"/>
            <a:ext cx="777240" cy="777240"/>
          </a:xfrm>
          <a:prstGeom prst="ellipse">
            <a:avLst/>
          </a:prstGeom>
          <a:solidFill>
            <a:srgbClr val="EDDEF9"/>
          </a:solidFill>
          <a:ln w="12700">
            <a:solidFill>
              <a:srgbClr val="EDDEF9"/>
            </a:solidFill>
            <a:prstDash val="solid"/>
          </a:ln>
        </p:spPr>
      </p:sp>
      <p:pic>
        <p:nvPicPr>
          <p:cNvPr id="28" name="Image 6" descr="preencoded.png">    </p:cNvPr>
          <p:cNvPicPr>
            <a:picLocks noChangeAspect="1"/>
          </p:cNvPicPr>
          <p:nvPr/>
        </p:nvPicPr>
        <p:blipFill>
          <a:blip r:embed="rId7"/>
          <a:stretch>
            <a:fillRect/>
          </a:stretch>
        </p:blipFill>
        <p:spPr>
          <a:xfrm>
            <a:off x="10648645" y="1885950"/>
            <a:ext cx="388620" cy="388620"/>
          </a:xfrm>
          <a:prstGeom prst="rect">
            <a:avLst/>
          </a:prstGeom>
        </p:spPr>
      </p:pic>
      <p:sp>
        <p:nvSpPr>
          <p:cNvPr id="29" name="Text 20"/>
          <p:cNvSpPr txBox="1"/>
          <p:nvPr/>
        </p:nvSpPr>
        <p:spPr>
          <a:xfrm>
            <a:off x="10042855" y="2587752"/>
            <a:ext cx="1600200" cy="320040"/>
          </a:xfrm>
          <a:prstGeom prst="rect">
            <a:avLst/>
          </a:prstGeom>
          <a:noFill/>
          <a:ln/>
        </p:spPr>
        <p:txBody>
          <a:bodyPr wrap="square" lIns="0" tIns="0" rIns="0" bIns="0" rtlCol="0" anchor="t"/>
          <a:lstStyle/>
          <a:p>
            <a:pPr algn="ctr" indent="0" marL="0">
              <a:buNone/>
            </a:pPr>
            <a:r>
              <a:rPr lang="en-US" sz="1500" b="1" dirty="0">
                <a:solidFill>
                  <a:srgbClr val="131B26"/>
                </a:solidFill>
                <a:latin typeface="Arial" pitchFamily="34" charset="0"/>
                <a:ea typeface="Arial" pitchFamily="34" charset="-122"/>
                <a:cs typeface="Arial" pitchFamily="34" charset="-120"/>
              </a:rPr>
              <a:t>Improve</a:t>
            </a:r>
            <a:endParaRPr lang="en-US" sz="1500" dirty="0"/>
          </a:p>
        </p:txBody>
      </p:sp>
      <p:sp>
        <p:nvSpPr>
          <p:cNvPr id="30" name="Shape 21"/>
          <p:cNvSpPr/>
          <p:nvPr/>
        </p:nvSpPr>
        <p:spPr>
          <a:xfrm>
            <a:off x="548640" y="3291840"/>
            <a:ext cx="3566160" cy="2834640"/>
          </a:xfrm>
          <a:prstGeom prst="roundRect">
            <a:avLst>
              <a:gd name="adj" fmla="val 709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31" name="Shape 22"/>
          <p:cNvSpPr/>
          <p:nvPr/>
        </p:nvSpPr>
        <p:spPr>
          <a:xfrm>
            <a:off x="822960" y="3520440"/>
            <a:ext cx="502920" cy="502920"/>
          </a:xfrm>
          <a:prstGeom prst="ellipse">
            <a:avLst/>
          </a:prstGeom>
          <a:solidFill>
            <a:srgbClr val="EDDEF9"/>
          </a:solidFill>
          <a:ln w="12700">
            <a:solidFill>
              <a:srgbClr val="EDDEF9"/>
            </a:solidFill>
            <a:prstDash val="solid"/>
          </a:ln>
        </p:spPr>
      </p:sp>
      <p:pic>
        <p:nvPicPr>
          <p:cNvPr id="32" name="Image 7" descr="preencoded.png">    </p:cNvPr>
          <p:cNvPicPr>
            <a:picLocks noChangeAspect="1"/>
          </p:cNvPicPr>
          <p:nvPr/>
        </p:nvPicPr>
        <p:blipFill>
          <a:blip r:embed="rId8"/>
          <a:stretch>
            <a:fillRect/>
          </a:stretch>
        </p:blipFill>
        <p:spPr>
          <a:xfrm>
            <a:off x="948690" y="3646170"/>
            <a:ext cx="251460" cy="251460"/>
          </a:xfrm>
          <a:prstGeom prst="rect">
            <a:avLst/>
          </a:prstGeom>
        </p:spPr>
      </p:pic>
      <p:sp>
        <p:nvSpPr>
          <p:cNvPr id="33" name="Text 23"/>
          <p:cNvSpPr txBox="1"/>
          <p:nvPr/>
        </p:nvSpPr>
        <p:spPr>
          <a:xfrm>
            <a:off x="1463040" y="3593592"/>
            <a:ext cx="2468880" cy="36576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For mentors</a:t>
            </a:r>
            <a:endParaRPr lang="en-US" sz="1800" dirty="0"/>
          </a:p>
        </p:txBody>
      </p:sp>
      <p:sp>
        <p:nvSpPr>
          <p:cNvPr id="34" name="Text 24"/>
          <p:cNvSpPr txBox="1"/>
          <p:nvPr/>
        </p:nvSpPr>
        <p:spPr>
          <a:xfrm>
            <a:off x="822960" y="4251960"/>
            <a:ext cx="3063240" cy="173736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31B26"/>
                </a:solidFill>
                <a:latin typeface="Calibri" pitchFamily="34" charset="0"/>
                <a:ea typeface="Calibri" pitchFamily="34" charset="-122"/>
                <a:cs typeface="Calibri" pitchFamily="34" charset="-120"/>
              </a:rPr>
              <a:t>Multi-step onboarding wizard</a:t>
            </a:r>
            <a:endParaRPr lang="en-US" sz="1300" dirty="0"/>
          </a:p>
          <a:p>
            <a:pPr marL="177800" indent="-177800">
              <a:spcAft>
                <a:spcPts val="900"/>
              </a:spcAft>
              <a:buSzPct val="100000"/>
              <a:buChar char="•"/>
            </a:pPr>
            <a:r>
              <a:rPr lang="en-US" sz="1300" dirty="0">
                <a:solidFill>
                  <a:srgbClr val="131B26"/>
                </a:solidFill>
                <a:latin typeface="Calibri" pitchFamily="34" charset="0"/>
                <a:ea typeface="Calibri" pitchFamily="34" charset="-122"/>
                <a:cs typeface="Calibri" pitchFamily="34" charset="-120"/>
              </a:rPr>
              <a:t>Create batches and upload lecture videos</a:t>
            </a:r>
            <a:endParaRPr lang="en-US" sz="1300" dirty="0"/>
          </a:p>
          <a:p>
            <a:pPr marL="177800" indent="-177800">
              <a:spcAft>
                <a:spcPts val="900"/>
              </a:spcAft>
              <a:buSzPct val="100000"/>
              <a:buChar char="•"/>
            </a:pPr>
            <a:r>
              <a:rPr lang="en-US" sz="1300" dirty="0">
                <a:solidFill>
                  <a:srgbClr val="131B26"/>
                </a:solidFill>
                <a:latin typeface="Calibri" pitchFamily="34" charset="0"/>
                <a:ea typeface="Calibri" pitchFamily="34" charset="-122"/>
                <a:cs typeface="Calibri" pitchFamily="34" charset="-120"/>
              </a:rPr>
              <a:t>Announcements, notes, and student chat</a:t>
            </a:r>
            <a:endParaRPr lang="en-US" sz="1300" dirty="0"/>
          </a:p>
          <a:p>
            <a:pPr marL="177800" indent="-177800">
              <a:spcAft>
                <a:spcPts val="900"/>
              </a:spcAft>
              <a:buSzPct val="100000"/>
              <a:buChar char="•"/>
            </a:pPr>
            <a:r>
              <a:rPr lang="en-US" sz="1300" dirty="0">
                <a:solidFill>
                  <a:srgbClr val="131B26"/>
                </a:solidFill>
                <a:latin typeface="Calibri" pitchFamily="34" charset="0"/>
                <a:ea typeface="Calibri" pitchFamily="34" charset="-122"/>
                <a:cs typeface="Calibri" pitchFamily="34" charset="-120"/>
              </a:rPr>
              <a:t>Earnings overview and payouts</a:t>
            </a:r>
            <a:endParaRPr lang="en-US" sz="1300" dirty="0"/>
          </a:p>
        </p:txBody>
      </p:sp>
      <p:sp>
        <p:nvSpPr>
          <p:cNvPr id="35" name="Shape 25"/>
          <p:cNvSpPr/>
          <p:nvPr/>
        </p:nvSpPr>
        <p:spPr>
          <a:xfrm>
            <a:off x="4311396" y="3291840"/>
            <a:ext cx="3566160" cy="2834640"/>
          </a:xfrm>
          <a:prstGeom prst="roundRect">
            <a:avLst>
              <a:gd name="adj" fmla="val 709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36" name="Shape 26"/>
          <p:cNvSpPr/>
          <p:nvPr/>
        </p:nvSpPr>
        <p:spPr>
          <a:xfrm>
            <a:off x="4585716" y="3520440"/>
            <a:ext cx="502920" cy="502920"/>
          </a:xfrm>
          <a:prstGeom prst="ellipse">
            <a:avLst/>
          </a:prstGeom>
          <a:solidFill>
            <a:srgbClr val="D2ECFC"/>
          </a:solidFill>
          <a:ln w="12700">
            <a:solidFill>
              <a:srgbClr val="D2ECFC"/>
            </a:solidFill>
            <a:prstDash val="solid"/>
          </a:ln>
        </p:spPr>
      </p:sp>
      <p:pic>
        <p:nvPicPr>
          <p:cNvPr id="37" name="Image 8" descr="preencoded.png">    </p:cNvPr>
          <p:cNvPicPr>
            <a:picLocks noChangeAspect="1"/>
          </p:cNvPicPr>
          <p:nvPr/>
        </p:nvPicPr>
        <p:blipFill>
          <a:blip r:embed="rId9"/>
          <a:stretch>
            <a:fillRect/>
          </a:stretch>
        </p:blipFill>
        <p:spPr>
          <a:xfrm>
            <a:off x="4711446" y="3646170"/>
            <a:ext cx="251460" cy="251460"/>
          </a:xfrm>
          <a:prstGeom prst="rect">
            <a:avLst/>
          </a:prstGeom>
        </p:spPr>
      </p:pic>
      <p:sp>
        <p:nvSpPr>
          <p:cNvPr id="38" name="Text 27"/>
          <p:cNvSpPr txBox="1"/>
          <p:nvPr/>
        </p:nvSpPr>
        <p:spPr>
          <a:xfrm>
            <a:off x="5225796" y="3593592"/>
            <a:ext cx="2468880" cy="36576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Live sessions</a:t>
            </a:r>
            <a:endParaRPr lang="en-US" sz="1800" dirty="0"/>
          </a:p>
        </p:txBody>
      </p:sp>
      <p:sp>
        <p:nvSpPr>
          <p:cNvPr id="39" name="Text 28"/>
          <p:cNvSpPr txBox="1"/>
          <p:nvPr/>
        </p:nvSpPr>
        <p:spPr>
          <a:xfrm>
            <a:off x="4585716" y="4251960"/>
            <a:ext cx="3063240" cy="173736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31B26"/>
                </a:solidFill>
                <a:latin typeface="Calibri" pitchFamily="34" charset="0"/>
                <a:ea typeface="Calibri" pitchFamily="34" charset="-122"/>
                <a:cs typeface="Calibri" pitchFamily="34" charset="-120"/>
              </a:rPr>
              <a:t>1:1 and group sessions (up to 200 seats)</a:t>
            </a:r>
            <a:endParaRPr lang="en-US" sz="1300" dirty="0"/>
          </a:p>
          <a:p>
            <a:pPr marL="177800" indent="-177800">
              <a:spcAft>
                <a:spcPts val="900"/>
              </a:spcAft>
              <a:buSzPct val="100000"/>
              <a:buChar char="•"/>
            </a:pPr>
            <a:r>
              <a:rPr lang="en-US" sz="1300" dirty="0">
                <a:solidFill>
                  <a:srgbClr val="131B26"/>
                </a:solidFill>
                <a:latin typeface="Calibri" pitchFamily="34" charset="0"/>
                <a:ea typeface="Calibri" pitchFamily="34" charset="-122"/>
                <a:cs typeface="Calibri" pitchFamily="34" charset="-120"/>
              </a:rPr>
              <a:t>Slot scheduler and booking status</a:t>
            </a:r>
            <a:endParaRPr lang="en-US" sz="1300" dirty="0"/>
          </a:p>
          <a:p>
            <a:pPr marL="177800" indent="-177800">
              <a:spcAft>
                <a:spcPts val="900"/>
              </a:spcAft>
              <a:buSzPct val="100000"/>
              <a:buChar char="•"/>
            </a:pPr>
            <a:r>
              <a:rPr lang="en-US" sz="1300" dirty="0">
                <a:solidFill>
                  <a:srgbClr val="131B26"/>
                </a:solidFill>
                <a:latin typeface="Calibri" pitchFamily="34" charset="0"/>
                <a:ea typeface="Calibri" pitchFamily="34" charset="-122"/>
                <a:cs typeface="Calibri" pitchFamily="34" charset="-120"/>
              </a:rPr>
              <a:t>Automated reminders and emails</a:t>
            </a:r>
            <a:endParaRPr lang="en-US" sz="1300" dirty="0"/>
          </a:p>
          <a:p>
            <a:pPr marL="177800" indent="-177800">
              <a:spcAft>
                <a:spcPts val="900"/>
              </a:spcAft>
              <a:buSzPct val="100000"/>
              <a:buChar char="•"/>
            </a:pPr>
            <a:r>
              <a:rPr lang="en-US" sz="1300" dirty="0">
                <a:solidFill>
                  <a:srgbClr val="131B26"/>
                </a:solidFill>
                <a:latin typeface="Calibri" pitchFamily="34" charset="0"/>
                <a:ea typeface="Calibri" pitchFamily="34" charset="-122"/>
                <a:cs typeface="Calibri" pitchFamily="34" charset="-120"/>
              </a:rPr>
              <a:t>Ratings and reviews</a:t>
            </a:r>
            <a:endParaRPr lang="en-US" sz="1300" dirty="0"/>
          </a:p>
        </p:txBody>
      </p:sp>
      <p:sp>
        <p:nvSpPr>
          <p:cNvPr id="40" name="Shape 29"/>
          <p:cNvSpPr/>
          <p:nvPr/>
        </p:nvSpPr>
        <p:spPr>
          <a:xfrm>
            <a:off x="8074152" y="3291840"/>
            <a:ext cx="3566160" cy="2834640"/>
          </a:xfrm>
          <a:prstGeom prst="roundRect">
            <a:avLst>
              <a:gd name="adj" fmla="val 709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41" name="Shape 30"/>
          <p:cNvSpPr/>
          <p:nvPr/>
        </p:nvSpPr>
        <p:spPr>
          <a:xfrm>
            <a:off x="8348472" y="3520440"/>
            <a:ext cx="502920" cy="502920"/>
          </a:xfrm>
          <a:prstGeom prst="ellipse">
            <a:avLst/>
          </a:prstGeom>
          <a:solidFill>
            <a:srgbClr val="CBEFD6"/>
          </a:solidFill>
          <a:ln w="12700">
            <a:solidFill>
              <a:srgbClr val="CBEFD6"/>
            </a:solidFill>
            <a:prstDash val="solid"/>
          </a:ln>
        </p:spPr>
      </p:sp>
      <p:pic>
        <p:nvPicPr>
          <p:cNvPr id="42" name="Image 9" descr="preencoded.png">    </p:cNvPr>
          <p:cNvPicPr>
            <a:picLocks noChangeAspect="1"/>
          </p:cNvPicPr>
          <p:nvPr/>
        </p:nvPicPr>
        <p:blipFill>
          <a:blip r:embed="rId10"/>
          <a:stretch>
            <a:fillRect/>
          </a:stretch>
        </p:blipFill>
        <p:spPr>
          <a:xfrm>
            <a:off x="8474202" y="3646170"/>
            <a:ext cx="251460" cy="251460"/>
          </a:xfrm>
          <a:prstGeom prst="rect">
            <a:avLst/>
          </a:prstGeom>
        </p:spPr>
      </p:pic>
      <p:sp>
        <p:nvSpPr>
          <p:cNvPr id="43" name="Text 31"/>
          <p:cNvSpPr txBox="1"/>
          <p:nvPr/>
        </p:nvSpPr>
        <p:spPr>
          <a:xfrm>
            <a:off x="8988552" y="3593592"/>
            <a:ext cx="2468880" cy="36576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Sell tests</a:t>
            </a:r>
            <a:endParaRPr lang="en-US" sz="1800" dirty="0"/>
          </a:p>
        </p:txBody>
      </p:sp>
      <p:sp>
        <p:nvSpPr>
          <p:cNvPr id="44" name="Text 32"/>
          <p:cNvSpPr txBox="1"/>
          <p:nvPr/>
        </p:nvSpPr>
        <p:spPr>
          <a:xfrm>
            <a:off x="8348472" y="4251960"/>
            <a:ext cx="3063240" cy="173736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31B26"/>
                </a:solidFill>
                <a:latin typeface="Calibri" pitchFamily="34" charset="0"/>
                <a:ea typeface="Calibri" pitchFamily="34" charset="-122"/>
                <a:cs typeface="Calibri" pitchFamily="34" charset="-120"/>
              </a:rPr>
              <a:t>Mentors request access to sell tests</a:t>
            </a:r>
            <a:endParaRPr lang="en-US" sz="1300" dirty="0"/>
          </a:p>
          <a:p>
            <a:pPr marL="177800" indent="-177800">
              <a:spcAft>
                <a:spcPts val="900"/>
              </a:spcAft>
              <a:buSzPct val="100000"/>
              <a:buChar char="•"/>
            </a:pPr>
            <a:r>
              <a:rPr lang="en-US" sz="1300" dirty="0">
                <a:solidFill>
                  <a:srgbClr val="131B26"/>
                </a:solidFill>
                <a:latin typeface="Calibri" pitchFamily="34" charset="0"/>
                <a:ea typeface="Calibri" pitchFamily="34" charset="-122"/>
                <a:cs typeface="Calibri" pitchFamily="34" charset="-120"/>
              </a:rPr>
              <a:t>Question ingestion and admin review</a:t>
            </a:r>
            <a:endParaRPr lang="en-US" sz="1300" dirty="0"/>
          </a:p>
          <a:p>
            <a:pPr marL="177800" indent="-177800">
              <a:spcAft>
                <a:spcPts val="900"/>
              </a:spcAft>
              <a:buSzPct val="100000"/>
              <a:buChar char="•"/>
            </a:pPr>
            <a:r>
              <a:rPr lang="en-US" sz="1300" dirty="0">
                <a:solidFill>
                  <a:srgbClr val="131B26"/>
                </a:solidFill>
                <a:latin typeface="Calibri" pitchFamily="34" charset="0"/>
                <a:ea typeface="Calibri" pitchFamily="34" charset="-122"/>
                <a:cs typeface="Calibri" pitchFamily="34" charset="-120"/>
              </a:rPr>
              <a:t>Sold as standalone tests or test series</a:t>
            </a:r>
            <a:endParaRPr lang="en-US" sz="1300" dirty="0"/>
          </a:p>
          <a:p>
            <a:pPr marL="177800" indent="-177800">
              <a:spcAft>
                <a:spcPts val="900"/>
              </a:spcAft>
              <a:buSzPct val="100000"/>
              <a:buChar char="•"/>
            </a:pPr>
            <a:r>
              <a:rPr lang="en-US" sz="1300" dirty="0">
                <a:solidFill>
                  <a:srgbClr val="131B26"/>
                </a:solidFill>
                <a:latin typeface="Calibri" pitchFamily="34" charset="0"/>
                <a:ea typeface="Calibri" pitchFamily="34" charset="-122"/>
                <a:cs typeface="Calibri" pitchFamily="34" charset="-120"/>
              </a:rPr>
              <a:t>Automatic commission split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MODULE 3</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Payments and Commerce</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691640"/>
            <a:ext cx="1920240" cy="2331720"/>
          </a:xfrm>
          <a:prstGeom prst="roundRect">
            <a:avLst>
              <a:gd name="adj" fmla="val 10476"/>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8" name="Shape 5"/>
          <p:cNvSpPr/>
          <p:nvPr/>
        </p:nvSpPr>
        <p:spPr>
          <a:xfrm>
            <a:off x="731520" y="1874520"/>
            <a:ext cx="384048" cy="384048"/>
          </a:xfrm>
          <a:prstGeom prst="ellipse">
            <a:avLst/>
          </a:prstGeom>
          <a:solidFill>
            <a:srgbClr val="004E90"/>
          </a:solidFill>
          <a:ln w="12700">
            <a:solidFill>
              <a:srgbClr val="004E90"/>
            </a:solidFill>
            <a:prstDash val="solid"/>
          </a:ln>
        </p:spPr>
      </p:sp>
      <p:sp>
        <p:nvSpPr>
          <p:cNvPr id="9" name="Text 6"/>
          <p:cNvSpPr txBox="1"/>
          <p:nvPr/>
        </p:nvSpPr>
        <p:spPr>
          <a:xfrm>
            <a:off x="73152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7"/>
          <p:cNvSpPr/>
          <p:nvPr/>
        </p:nvSpPr>
        <p:spPr>
          <a:xfrm>
            <a:off x="1691640" y="1828800"/>
            <a:ext cx="548640" cy="548640"/>
          </a:xfrm>
          <a:prstGeom prst="ellipse">
            <a:avLst/>
          </a:prstGeom>
          <a:solidFill>
            <a:srgbClr val="D2ECFC"/>
          </a:solidFill>
          <a:ln w="12700">
            <a:solidFill>
              <a:srgbClr val="D2ECFC"/>
            </a:solidFill>
            <a:prstDash val="solid"/>
          </a:ln>
        </p:spPr>
      </p:sp>
      <p:pic>
        <p:nvPicPr>
          <p:cNvPr id="11" name="Image 1" descr="preencoded.png">    </p:cNvPr>
          <p:cNvPicPr>
            <a:picLocks noChangeAspect="1"/>
          </p:cNvPicPr>
          <p:nvPr/>
        </p:nvPicPr>
        <p:blipFill>
          <a:blip r:embed="rId2"/>
          <a:stretch>
            <a:fillRect/>
          </a:stretch>
        </p:blipFill>
        <p:spPr>
          <a:xfrm>
            <a:off x="1828800" y="1965960"/>
            <a:ext cx="274320" cy="274320"/>
          </a:xfrm>
          <a:prstGeom prst="rect">
            <a:avLst/>
          </a:prstGeom>
        </p:spPr>
      </p:pic>
      <p:sp>
        <p:nvSpPr>
          <p:cNvPr id="12" name="Text 8"/>
          <p:cNvSpPr txBox="1"/>
          <p:nvPr/>
        </p:nvSpPr>
        <p:spPr>
          <a:xfrm>
            <a:off x="731520" y="2468880"/>
            <a:ext cx="1554480" cy="502920"/>
          </a:xfrm>
          <a:prstGeom prst="rect">
            <a:avLst/>
          </a:prstGeom>
          <a:noFill/>
          <a:ln/>
        </p:spPr>
        <p:txBody>
          <a:bodyPr wrap="square" lIns="0" tIns="0" rIns="0" bIns="0" rtlCol="0" anchor="t"/>
          <a:lstStyle/>
          <a:p>
            <a:pPr algn="l" indent="0" marL="0">
              <a:buNone/>
            </a:pPr>
            <a:r>
              <a:rPr lang="en-US" sz="1300" b="1" dirty="0">
                <a:solidFill>
                  <a:srgbClr val="131B26"/>
                </a:solidFill>
                <a:latin typeface="Arial" pitchFamily="34" charset="0"/>
                <a:ea typeface="Arial" pitchFamily="34" charset="-122"/>
                <a:cs typeface="Arial" pitchFamily="34" charset="-120"/>
              </a:rPr>
              <a:t>Student clicks Buy</a:t>
            </a:r>
            <a:endParaRPr lang="en-US" sz="1300" dirty="0"/>
          </a:p>
        </p:txBody>
      </p:sp>
      <p:sp>
        <p:nvSpPr>
          <p:cNvPr id="13" name="Text 9"/>
          <p:cNvSpPr txBox="1"/>
          <p:nvPr/>
        </p:nvSpPr>
        <p:spPr>
          <a:xfrm>
            <a:off x="731520" y="3017520"/>
            <a:ext cx="1554480" cy="914400"/>
          </a:xfrm>
          <a:prstGeom prst="rect">
            <a:avLst/>
          </a:prstGeom>
          <a:noFill/>
          <a:ln/>
        </p:spPr>
        <p:txBody>
          <a:bodyPr wrap="square" lIns="0" tIns="0" rIns="0" bIns="0" rtlCol="0" anchor="t"/>
          <a:lstStyle/>
          <a:p>
            <a:pPr algn="l" indent="0" marL="0">
              <a:buNone/>
            </a:pPr>
            <a:r>
              <a:rPr lang="en-US" sz="1200" dirty="0">
                <a:solidFill>
                  <a:srgbClr val="606A74"/>
                </a:solidFill>
                <a:latin typeface="Calibri" pitchFamily="34" charset="0"/>
                <a:ea typeface="Calibri" pitchFamily="34" charset="-122"/>
                <a:cs typeface="Calibri" pitchFamily="34" charset="-120"/>
              </a:rPr>
              <a:t>Only the item ID is sent from the browser.</a:t>
            </a:r>
            <a:endParaRPr lang="en-US" sz="1200" dirty="0"/>
          </a:p>
        </p:txBody>
      </p:sp>
      <p:sp>
        <p:nvSpPr>
          <p:cNvPr id="14" name="Shape 10"/>
          <p:cNvSpPr/>
          <p:nvPr/>
        </p:nvSpPr>
        <p:spPr>
          <a:xfrm>
            <a:off x="2514600" y="2852928"/>
            <a:ext cx="281864" cy="0"/>
          </a:xfrm>
          <a:prstGeom prst="line">
            <a:avLst/>
          </a:prstGeom>
          <a:noFill/>
          <a:ln w="22225">
            <a:solidFill>
              <a:srgbClr val="004E90"/>
            </a:solidFill>
            <a:prstDash val="solid"/>
            <a:tailEnd type="triangle"/>
          </a:ln>
        </p:spPr>
      </p:sp>
      <p:sp>
        <p:nvSpPr>
          <p:cNvPr id="15" name="Shape 11"/>
          <p:cNvSpPr/>
          <p:nvPr/>
        </p:nvSpPr>
        <p:spPr>
          <a:xfrm>
            <a:off x="2842184" y="1691640"/>
            <a:ext cx="1920240" cy="2331720"/>
          </a:xfrm>
          <a:prstGeom prst="roundRect">
            <a:avLst>
              <a:gd name="adj" fmla="val 10476"/>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16" name="Shape 12"/>
          <p:cNvSpPr/>
          <p:nvPr/>
        </p:nvSpPr>
        <p:spPr>
          <a:xfrm>
            <a:off x="3025064" y="1874520"/>
            <a:ext cx="384048" cy="384048"/>
          </a:xfrm>
          <a:prstGeom prst="ellipse">
            <a:avLst/>
          </a:prstGeom>
          <a:solidFill>
            <a:srgbClr val="004E90"/>
          </a:solidFill>
          <a:ln w="12700">
            <a:solidFill>
              <a:srgbClr val="004E90"/>
            </a:solidFill>
            <a:prstDash val="solid"/>
          </a:ln>
        </p:spPr>
      </p:sp>
      <p:sp>
        <p:nvSpPr>
          <p:cNvPr id="17" name="Text 13"/>
          <p:cNvSpPr txBox="1"/>
          <p:nvPr/>
        </p:nvSpPr>
        <p:spPr>
          <a:xfrm>
            <a:off x="3025064"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Shape 14"/>
          <p:cNvSpPr/>
          <p:nvPr/>
        </p:nvSpPr>
        <p:spPr>
          <a:xfrm>
            <a:off x="3985184" y="1828800"/>
            <a:ext cx="548640" cy="548640"/>
          </a:xfrm>
          <a:prstGeom prst="ellipse">
            <a:avLst/>
          </a:prstGeom>
          <a:solidFill>
            <a:srgbClr val="D2ECFC"/>
          </a:solidFill>
          <a:ln w="12700">
            <a:solidFill>
              <a:srgbClr val="D2ECFC"/>
            </a:solidFill>
            <a:prstDash val="solid"/>
          </a:ln>
        </p:spPr>
      </p:sp>
      <p:pic>
        <p:nvPicPr>
          <p:cNvPr id="19" name="Image 2" descr="preencoded.png">    </p:cNvPr>
          <p:cNvPicPr>
            <a:picLocks noChangeAspect="1"/>
          </p:cNvPicPr>
          <p:nvPr/>
        </p:nvPicPr>
        <p:blipFill>
          <a:blip r:embed="rId3"/>
          <a:stretch>
            <a:fillRect/>
          </a:stretch>
        </p:blipFill>
        <p:spPr>
          <a:xfrm>
            <a:off x="4122344" y="1965960"/>
            <a:ext cx="274320" cy="274320"/>
          </a:xfrm>
          <a:prstGeom prst="rect">
            <a:avLst/>
          </a:prstGeom>
        </p:spPr>
      </p:pic>
      <p:sp>
        <p:nvSpPr>
          <p:cNvPr id="20" name="Text 15"/>
          <p:cNvSpPr txBox="1"/>
          <p:nvPr/>
        </p:nvSpPr>
        <p:spPr>
          <a:xfrm>
            <a:off x="3025064" y="2468880"/>
            <a:ext cx="1554480" cy="502920"/>
          </a:xfrm>
          <a:prstGeom prst="rect">
            <a:avLst/>
          </a:prstGeom>
          <a:noFill/>
          <a:ln/>
        </p:spPr>
        <p:txBody>
          <a:bodyPr wrap="square" lIns="0" tIns="0" rIns="0" bIns="0" rtlCol="0" anchor="t"/>
          <a:lstStyle/>
          <a:p>
            <a:pPr algn="l" indent="0" marL="0">
              <a:buNone/>
            </a:pPr>
            <a:r>
              <a:rPr lang="en-US" sz="1300" b="1" dirty="0">
                <a:solidFill>
                  <a:srgbClr val="131B26"/>
                </a:solidFill>
                <a:latin typeface="Arial" pitchFamily="34" charset="0"/>
                <a:ea typeface="Arial" pitchFamily="34" charset="-122"/>
                <a:cs typeface="Arial" pitchFamily="34" charset="-120"/>
              </a:rPr>
              <a:t>Server sets the price</a:t>
            </a:r>
            <a:endParaRPr lang="en-US" sz="1300" dirty="0"/>
          </a:p>
        </p:txBody>
      </p:sp>
      <p:sp>
        <p:nvSpPr>
          <p:cNvPr id="21" name="Text 16"/>
          <p:cNvSpPr txBox="1"/>
          <p:nvPr/>
        </p:nvSpPr>
        <p:spPr>
          <a:xfrm>
            <a:off x="3025064" y="3017520"/>
            <a:ext cx="1554480" cy="914400"/>
          </a:xfrm>
          <a:prstGeom prst="rect">
            <a:avLst/>
          </a:prstGeom>
          <a:noFill/>
          <a:ln/>
        </p:spPr>
        <p:txBody>
          <a:bodyPr wrap="square" lIns="0" tIns="0" rIns="0" bIns="0" rtlCol="0" anchor="t"/>
          <a:lstStyle/>
          <a:p>
            <a:pPr algn="l" indent="0" marL="0">
              <a:buNone/>
            </a:pPr>
            <a:r>
              <a:rPr lang="en-US" sz="1200" dirty="0">
                <a:solidFill>
                  <a:srgbClr val="606A74"/>
                </a:solidFill>
                <a:latin typeface="Calibri" pitchFamily="34" charset="0"/>
                <a:ea typeface="Calibri" pitchFamily="34" charset="-122"/>
                <a:cs typeface="Calibri" pitchFamily="34" charset="-120"/>
              </a:rPr>
              <a:t>Price is looked up in the database and a Razorpay order is created.</a:t>
            </a:r>
            <a:endParaRPr lang="en-US" sz="1200" dirty="0"/>
          </a:p>
        </p:txBody>
      </p:sp>
      <p:sp>
        <p:nvSpPr>
          <p:cNvPr id="22" name="Shape 17"/>
          <p:cNvSpPr/>
          <p:nvPr/>
        </p:nvSpPr>
        <p:spPr>
          <a:xfrm>
            <a:off x="4808144" y="2852928"/>
            <a:ext cx="281864" cy="0"/>
          </a:xfrm>
          <a:prstGeom prst="line">
            <a:avLst/>
          </a:prstGeom>
          <a:noFill/>
          <a:ln w="22225">
            <a:solidFill>
              <a:srgbClr val="004E90"/>
            </a:solidFill>
            <a:prstDash val="solid"/>
            <a:tailEnd type="triangle"/>
          </a:ln>
        </p:spPr>
      </p:sp>
      <p:sp>
        <p:nvSpPr>
          <p:cNvPr id="23" name="Shape 18"/>
          <p:cNvSpPr/>
          <p:nvPr/>
        </p:nvSpPr>
        <p:spPr>
          <a:xfrm>
            <a:off x="5135728" y="1691640"/>
            <a:ext cx="1920240" cy="2331720"/>
          </a:xfrm>
          <a:prstGeom prst="roundRect">
            <a:avLst>
              <a:gd name="adj" fmla="val 10476"/>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4" name="Shape 19"/>
          <p:cNvSpPr/>
          <p:nvPr/>
        </p:nvSpPr>
        <p:spPr>
          <a:xfrm>
            <a:off x="5318608" y="1874520"/>
            <a:ext cx="384048" cy="384048"/>
          </a:xfrm>
          <a:prstGeom prst="ellipse">
            <a:avLst/>
          </a:prstGeom>
          <a:solidFill>
            <a:srgbClr val="004E90"/>
          </a:solidFill>
          <a:ln w="12700">
            <a:solidFill>
              <a:srgbClr val="004E90"/>
            </a:solidFill>
            <a:prstDash val="solid"/>
          </a:ln>
        </p:spPr>
      </p:sp>
      <p:sp>
        <p:nvSpPr>
          <p:cNvPr id="25" name="Text 20"/>
          <p:cNvSpPr txBox="1"/>
          <p:nvPr/>
        </p:nvSpPr>
        <p:spPr>
          <a:xfrm>
            <a:off x="5318608"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Shape 21"/>
          <p:cNvSpPr/>
          <p:nvPr/>
        </p:nvSpPr>
        <p:spPr>
          <a:xfrm>
            <a:off x="6278728" y="1828800"/>
            <a:ext cx="548640" cy="548640"/>
          </a:xfrm>
          <a:prstGeom prst="ellipse">
            <a:avLst/>
          </a:prstGeom>
          <a:solidFill>
            <a:srgbClr val="D2ECFC"/>
          </a:solidFill>
          <a:ln w="12700">
            <a:solidFill>
              <a:srgbClr val="D2ECFC"/>
            </a:solidFill>
            <a:prstDash val="solid"/>
          </a:ln>
        </p:spPr>
      </p:sp>
      <p:pic>
        <p:nvPicPr>
          <p:cNvPr id="27" name="Image 3" descr="preencoded.png">    </p:cNvPr>
          <p:cNvPicPr>
            <a:picLocks noChangeAspect="1"/>
          </p:cNvPicPr>
          <p:nvPr/>
        </p:nvPicPr>
        <p:blipFill>
          <a:blip r:embed="rId4"/>
          <a:stretch>
            <a:fillRect/>
          </a:stretch>
        </p:blipFill>
        <p:spPr>
          <a:xfrm>
            <a:off x="6415888" y="1965960"/>
            <a:ext cx="274320" cy="274320"/>
          </a:xfrm>
          <a:prstGeom prst="rect">
            <a:avLst/>
          </a:prstGeom>
        </p:spPr>
      </p:pic>
      <p:sp>
        <p:nvSpPr>
          <p:cNvPr id="28" name="Text 22"/>
          <p:cNvSpPr txBox="1"/>
          <p:nvPr/>
        </p:nvSpPr>
        <p:spPr>
          <a:xfrm>
            <a:off x="5318608" y="2468880"/>
            <a:ext cx="1554480" cy="502920"/>
          </a:xfrm>
          <a:prstGeom prst="rect">
            <a:avLst/>
          </a:prstGeom>
          <a:noFill/>
          <a:ln/>
        </p:spPr>
        <p:txBody>
          <a:bodyPr wrap="square" lIns="0" tIns="0" rIns="0" bIns="0" rtlCol="0" anchor="t"/>
          <a:lstStyle/>
          <a:p>
            <a:pPr algn="l" indent="0" marL="0">
              <a:buNone/>
            </a:pPr>
            <a:r>
              <a:rPr lang="en-US" sz="1300" b="1" dirty="0">
                <a:solidFill>
                  <a:srgbClr val="131B26"/>
                </a:solidFill>
                <a:latin typeface="Arial" pitchFamily="34" charset="0"/>
                <a:ea typeface="Arial" pitchFamily="34" charset="-122"/>
                <a:cs typeface="Arial" pitchFamily="34" charset="-120"/>
              </a:rPr>
              <a:t>Student pays</a:t>
            </a:r>
            <a:endParaRPr lang="en-US" sz="1300" dirty="0"/>
          </a:p>
        </p:txBody>
      </p:sp>
      <p:sp>
        <p:nvSpPr>
          <p:cNvPr id="29" name="Text 23"/>
          <p:cNvSpPr txBox="1"/>
          <p:nvPr/>
        </p:nvSpPr>
        <p:spPr>
          <a:xfrm>
            <a:off x="5318608" y="3017520"/>
            <a:ext cx="1554480" cy="914400"/>
          </a:xfrm>
          <a:prstGeom prst="rect">
            <a:avLst/>
          </a:prstGeom>
          <a:noFill/>
          <a:ln/>
        </p:spPr>
        <p:txBody>
          <a:bodyPr wrap="square" lIns="0" tIns="0" rIns="0" bIns="0" rtlCol="0" anchor="t"/>
          <a:lstStyle/>
          <a:p>
            <a:pPr algn="l" indent="0" marL="0">
              <a:buNone/>
            </a:pPr>
            <a:r>
              <a:rPr lang="en-US" sz="1200" dirty="0">
                <a:solidFill>
                  <a:srgbClr val="606A74"/>
                </a:solidFill>
                <a:latin typeface="Calibri" pitchFamily="34" charset="0"/>
                <a:ea typeface="Calibri" pitchFamily="34" charset="-122"/>
                <a:cs typeface="Calibri" pitchFamily="34" charset="-120"/>
              </a:rPr>
              <a:t>Payment is completed in the Razorpay checkout.</a:t>
            </a:r>
            <a:endParaRPr lang="en-US" sz="1200" dirty="0"/>
          </a:p>
        </p:txBody>
      </p:sp>
      <p:sp>
        <p:nvSpPr>
          <p:cNvPr id="30" name="Shape 24"/>
          <p:cNvSpPr/>
          <p:nvPr/>
        </p:nvSpPr>
        <p:spPr>
          <a:xfrm>
            <a:off x="7101688" y="2852928"/>
            <a:ext cx="281864" cy="0"/>
          </a:xfrm>
          <a:prstGeom prst="line">
            <a:avLst/>
          </a:prstGeom>
          <a:noFill/>
          <a:ln w="22225">
            <a:solidFill>
              <a:srgbClr val="004E90"/>
            </a:solidFill>
            <a:prstDash val="solid"/>
            <a:tailEnd type="triangle"/>
          </a:ln>
        </p:spPr>
      </p:sp>
      <p:sp>
        <p:nvSpPr>
          <p:cNvPr id="31" name="Shape 25"/>
          <p:cNvSpPr/>
          <p:nvPr/>
        </p:nvSpPr>
        <p:spPr>
          <a:xfrm>
            <a:off x="7429271" y="1691640"/>
            <a:ext cx="1920240" cy="2331720"/>
          </a:xfrm>
          <a:prstGeom prst="roundRect">
            <a:avLst>
              <a:gd name="adj" fmla="val 10476"/>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32" name="Shape 26"/>
          <p:cNvSpPr/>
          <p:nvPr/>
        </p:nvSpPr>
        <p:spPr>
          <a:xfrm>
            <a:off x="7612151" y="1874520"/>
            <a:ext cx="384048" cy="384048"/>
          </a:xfrm>
          <a:prstGeom prst="ellipse">
            <a:avLst/>
          </a:prstGeom>
          <a:solidFill>
            <a:srgbClr val="004E90"/>
          </a:solidFill>
          <a:ln w="12700">
            <a:solidFill>
              <a:srgbClr val="004E90"/>
            </a:solidFill>
            <a:prstDash val="solid"/>
          </a:ln>
        </p:spPr>
      </p:sp>
      <p:sp>
        <p:nvSpPr>
          <p:cNvPr id="33" name="Text 27"/>
          <p:cNvSpPr txBox="1"/>
          <p:nvPr/>
        </p:nvSpPr>
        <p:spPr>
          <a:xfrm>
            <a:off x="7612151"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4" name="Shape 28"/>
          <p:cNvSpPr/>
          <p:nvPr/>
        </p:nvSpPr>
        <p:spPr>
          <a:xfrm>
            <a:off x="8572271" y="1828800"/>
            <a:ext cx="548640" cy="548640"/>
          </a:xfrm>
          <a:prstGeom prst="ellipse">
            <a:avLst/>
          </a:prstGeom>
          <a:solidFill>
            <a:srgbClr val="D2ECFC"/>
          </a:solidFill>
          <a:ln w="12700">
            <a:solidFill>
              <a:srgbClr val="D2ECFC"/>
            </a:solidFill>
            <a:prstDash val="solid"/>
          </a:ln>
        </p:spPr>
      </p:sp>
      <p:pic>
        <p:nvPicPr>
          <p:cNvPr id="35" name="Image 4" descr="preencoded.png">    </p:cNvPr>
          <p:cNvPicPr>
            <a:picLocks noChangeAspect="1"/>
          </p:cNvPicPr>
          <p:nvPr/>
        </p:nvPicPr>
        <p:blipFill>
          <a:blip r:embed="rId5"/>
          <a:stretch>
            <a:fillRect/>
          </a:stretch>
        </p:blipFill>
        <p:spPr>
          <a:xfrm>
            <a:off x="8709431" y="1965960"/>
            <a:ext cx="274320" cy="274320"/>
          </a:xfrm>
          <a:prstGeom prst="rect">
            <a:avLst/>
          </a:prstGeom>
        </p:spPr>
      </p:pic>
      <p:sp>
        <p:nvSpPr>
          <p:cNvPr id="36" name="Text 29"/>
          <p:cNvSpPr txBox="1"/>
          <p:nvPr/>
        </p:nvSpPr>
        <p:spPr>
          <a:xfrm>
            <a:off x="7612151" y="2468880"/>
            <a:ext cx="1554480" cy="502920"/>
          </a:xfrm>
          <a:prstGeom prst="rect">
            <a:avLst/>
          </a:prstGeom>
          <a:noFill/>
          <a:ln/>
        </p:spPr>
        <p:txBody>
          <a:bodyPr wrap="square" lIns="0" tIns="0" rIns="0" bIns="0" rtlCol="0" anchor="t"/>
          <a:lstStyle/>
          <a:p>
            <a:pPr algn="l" indent="0" marL="0">
              <a:buNone/>
            </a:pPr>
            <a:r>
              <a:rPr lang="en-US" sz="1300" b="1" dirty="0">
                <a:solidFill>
                  <a:srgbClr val="131B26"/>
                </a:solidFill>
                <a:latin typeface="Arial" pitchFamily="34" charset="0"/>
                <a:ea typeface="Arial" pitchFamily="34" charset="-122"/>
                <a:cs typeface="Arial" pitchFamily="34" charset="-120"/>
              </a:rPr>
              <a:t>Signature verified</a:t>
            </a:r>
            <a:endParaRPr lang="en-US" sz="1300" dirty="0"/>
          </a:p>
        </p:txBody>
      </p:sp>
      <p:sp>
        <p:nvSpPr>
          <p:cNvPr id="37" name="Text 30"/>
          <p:cNvSpPr txBox="1"/>
          <p:nvPr/>
        </p:nvSpPr>
        <p:spPr>
          <a:xfrm>
            <a:off x="7612151" y="3017520"/>
            <a:ext cx="1554480" cy="914400"/>
          </a:xfrm>
          <a:prstGeom prst="rect">
            <a:avLst/>
          </a:prstGeom>
          <a:noFill/>
          <a:ln/>
        </p:spPr>
        <p:txBody>
          <a:bodyPr wrap="square" lIns="0" tIns="0" rIns="0" bIns="0" rtlCol="0" anchor="t"/>
          <a:lstStyle/>
          <a:p>
            <a:pPr algn="l" indent="0" marL="0">
              <a:buNone/>
            </a:pPr>
            <a:r>
              <a:rPr lang="en-US" sz="1200" dirty="0">
                <a:solidFill>
                  <a:srgbClr val="606A74"/>
                </a:solidFill>
                <a:latin typeface="Calibri" pitchFamily="34" charset="0"/>
                <a:ea typeface="Calibri" pitchFamily="34" charset="-122"/>
                <a:cs typeface="Calibri" pitchFamily="34" charset="-120"/>
              </a:rPr>
              <a:t>HMAC-SHA256 signature is checked on the server.</a:t>
            </a:r>
            <a:endParaRPr lang="en-US" sz="1200" dirty="0"/>
          </a:p>
        </p:txBody>
      </p:sp>
      <p:sp>
        <p:nvSpPr>
          <p:cNvPr id="38" name="Shape 31"/>
          <p:cNvSpPr/>
          <p:nvPr/>
        </p:nvSpPr>
        <p:spPr>
          <a:xfrm>
            <a:off x="9395231" y="2852928"/>
            <a:ext cx="281864" cy="0"/>
          </a:xfrm>
          <a:prstGeom prst="line">
            <a:avLst/>
          </a:prstGeom>
          <a:noFill/>
          <a:ln w="22225">
            <a:solidFill>
              <a:srgbClr val="004E90"/>
            </a:solidFill>
            <a:prstDash val="solid"/>
            <a:tailEnd type="triangle"/>
          </a:ln>
        </p:spPr>
      </p:sp>
      <p:sp>
        <p:nvSpPr>
          <p:cNvPr id="39" name="Shape 32"/>
          <p:cNvSpPr/>
          <p:nvPr/>
        </p:nvSpPr>
        <p:spPr>
          <a:xfrm>
            <a:off x="9722815" y="1691640"/>
            <a:ext cx="1920240" cy="2331720"/>
          </a:xfrm>
          <a:prstGeom prst="roundRect">
            <a:avLst>
              <a:gd name="adj" fmla="val 10476"/>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40" name="Shape 33"/>
          <p:cNvSpPr/>
          <p:nvPr/>
        </p:nvSpPr>
        <p:spPr>
          <a:xfrm>
            <a:off x="9905695" y="1874520"/>
            <a:ext cx="384048" cy="384048"/>
          </a:xfrm>
          <a:prstGeom prst="ellipse">
            <a:avLst/>
          </a:prstGeom>
          <a:solidFill>
            <a:srgbClr val="004E90"/>
          </a:solidFill>
          <a:ln w="12700">
            <a:solidFill>
              <a:srgbClr val="004E90"/>
            </a:solidFill>
            <a:prstDash val="solid"/>
          </a:ln>
        </p:spPr>
      </p:sp>
      <p:sp>
        <p:nvSpPr>
          <p:cNvPr id="41" name="Text 34"/>
          <p:cNvSpPr txBox="1"/>
          <p:nvPr/>
        </p:nvSpPr>
        <p:spPr>
          <a:xfrm>
            <a:off x="9905695"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2" name="Shape 35"/>
          <p:cNvSpPr/>
          <p:nvPr/>
        </p:nvSpPr>
        <p:spPr>
          <a:xfrm>
            <a:off x="10865815" y="1828800"/>
            <a:ext cx="548640" cy="548640"/>
          </a:xfrm>
          <a:prstGeom prst="ellipse">
            <a:avLst/>
          </a:prstGeom>
          <a:solidFill>
            <a:srgbClr val="D2ECFC"/>
          </a:solidFill>
          <a:ln w="12700">
            <a:solidFill>
              <a:srgbClr val="D2ECFC"/>
            </a:solidFill>
            <a:prstDash val="solid"/>
          </a:ln>
        </p:spPr>
      </p:sp>
      <p:pic>
        <p:nvPicPr>
          <p:cNvPr id="43" name="Image 5" descr="preencoded.png">    </p:cNvPr>
          <p:cNvPicPr>
            <a:picLocks noChangeAspect="1"/>
          </p:cNvPicPr>
          <p:nvPr/>
        </p:nvPicPr>
        <p:blipFill>
          <a:blip r:embed="rId6"/>
          <a:stretch>
            <a:fillRect/>
          </a:stretch>
        </p:blipFill>
        <p:spPr>
          <a:xfrm>
            <a:off x="11002975" y="1965960"/>
            <a:ext cx="274320" cy="274320"/>
          </a:xfrm>
          <a:prstGeom prst="rect">
            <a:avLst/>
          </a:prstGeom>
        </p:spPr>
      </p:pic>
      <p:sp>
        <p:nvSpPr>
          <p:cNvPr id="44" name="Text 36"/>
          <p:cNvSpPr txBox="1"/>
          <p:nvPr/>
        </p:nvSpPr>
        <p:spPr>
          <a:xfrm>
            <a:off x="9905695" y="2468880"/>
            <a:ext cx="1554480" cy="502920"/>
          </a:xfrm>
          <a:prstGeom prst="rect">
            <a:avLst/>
          </a:prstGeom>
          <a:noFill/>
          <a:ln/>
        </p:spPr>
        <p:txBody>
          <a:bodyPr wrap="square" lIns="0" tIns="0" rIns="0" bIns="0" rtlCol="0" anchor="t"/>
          <a:lstStyle/>
          <a:p>
            <a:pPr algn="l" indent="0" marL="0">
              <a:buNone/>
            </a:pPr>
            <a:r>
              <a:rPr lang="en-US" sz="1300" b="1" dirty="0">
                <a:solidFill>
                  <a:srgbClr val="131B26"/>
                </a:solidFill>
                <a:latin typeface="Arial" pitchFamily="34" charset="0"/>
                <a:ea typeface="Arial" pitchFamily="34" charset="-122"/>
                <a:cs typeface="Arial" pitchFamily="34" charset="-120"/>
              </a:rPr>
              <a:t>Content unlocked</a:t>
            </a:r>
            <a:endParaRPr lang="en-US" sz="1300" dirty="0"/>
          </a:p>
        </p:txBody>
      </p:sp>
      <p:sp>
        <p:nvSpPr>
          <p:cNvPr id="45" name="Text 37"/>
          <p:cNvSpPr txBox="1"/>
          <p:nvPr/>
        </p:nvSpPr>
        <p:spPr>
          <a:xfrm>
            <a:off x="9905695" y="3017520"/>
            <a:ext cx="1554480" cy="914400"/>
          </a:xfrm>
          <a:prstGeom prst="rect">
            <a:avLst/>
          </a:prstGeom>
          <a:noFill/>
          <a:ln/>
        </p:spPr>
        <p:txBody>
          <a:bodyPr wrap="square" lIns="0" tIns="0" rIns="0" bIns="0" rtlCol="0" anchor="t"/>
          <a:lstStyle/>
          <a:p>
            <a:pPr algn="l" indent="0" marL="0">
              <a:buNone/>
            </a:pPr>
            <a:r>
              <a:rPr lang="en-US" sz="1200" dirty="0">
                <a:solidFill>
                  <a:srgbClr val="606A74"/>
                </a:solidFill>
                <a:latin typeface="Calibri" pitchFamily="34" charset="0"/>
                <a:ea typeface="Calibri" pitchFamily="34" charset="-122"/>
                <a:cs typeface="Calibri" pitchFamily="34" charset="-120"/>
              </a:rPr>
              <a:t>Purchase is recorded and a confirmation email is sent.</a:t>
            </a:r>
            <a:endParaRPr lang="en-US" sz="1200" dirty="0"/>
          </a:p>
        </p:txBody>
      </p:sp>
      <p:sp>
        <p:nvSpPr>
          <p:cNvPr id="46" name="Text 38"/>
          <p:cNvSpPr txBox="1"/>
          <p:nvPr/>
        </p:nvSpPr>
        <p:spPr>
          <a:xfrm>
            <a:off x="548640" y="4343400"/>
            <a:ext cx="7315200" cy="274320"/>
          </a:xfrm>
          <a:prstGeom prst="rect">
            <a:avLst/>
          </a:prstGeom>
          <a:noFill/>
          <a:ln/>
        </p:spPr>
        <p:txBody>
          <a:bodyPr wrap="square" lIns="0" tIns="0" rIns="0" bIns="0" rtlCol="0" anchor="t"/>
          <a:lstStyle/>
          <a:p>
            <a:pPr algn="l" indent="0" marL="0">
              <a:buNone/>
            </a:pPr>
            <a:r>
              <a:rPr lang="en-US" sz="1300" b="1" dirty="0">
                <a:solidFill>
                  <a:srgbClr val="004E90"/>
                </a:solidFill>
                <a:latin typeface="Calibri" pitchFamily="34" charset="0"/>
                <a:ea typeface="Calibri" pitchFamily="34" charset="-122"/>
                <a:cs typeface="Calibri" pitchFamily="34" charset="-120"/>
              </a:rPr>
              <a:t>Revenue split logic built into the platform</a:t>
            </a:r>
            <a:endParaRPr lang="en-US" sz="1300" dirty="0"/>
          </a:p>
        </p:txBody>
      </p:sp>
      <p:sp>
        <p:nvSpPr>
          <p:cNvPr id="47" name="Shape 39"/>
          <p:cNvSpPr/>
          <p:nvPr/>
        </p:nvSpPr>
        <p:spPr>
          <a:xfrm>
            <a:off x="548640" y="4709160"/>
            <a:ext cx="2606040" cy="1463040"/>
          </a:xfrm>
          <a:prstGeom prst="roundRect">
            <a:avLst>
              <a:gd name="adj" fmla="val 13750"/>
            </a:avLst>
          </a:prstGeom>
          <a:solidFill>
            <a:srgbClr val="D2ECFC"/>
          </a:solidFill>
          <a:ln w="12700">
            <a:solidFill>
              <a:srgbClr val="D2ECFC"/>
            </a:solidFill>
            <a:prstDash val="solid"/>
          </a:ln>
        </p:spPr>
      </p:sp>
      <p:sp>
        <p:nvSpPr>
          <p:cNvPr id="48" name="Text 40"/>
          <p:cNvSpPr txBox="1"/>
          <p:nvPr/>
        </p:nvSpPr>
        <p:spPr>
          <a:xfrm>
            <a:off x="777240" y="4828032"/>
            <a:ext cx="2148840" cy="685800"/>
          </a:xfrm>
          <a:prstGeom prst="rect">
            <a:avLst/>
          </a:prstGeom>
          <a:noFill/>
          <a:ln/>
        </p:spPr>
        <p:txBody>
          <a:bodyPr wrap="square" lIns="0" tIns="0" rIns="0" bIns="0" rtlCol="0" anchor="t"/>
          <a:lstStyle/>
          <a:p>
            <a:pPr algn="l" indent="0" marL="0">
              <a:buNone/>
            </a:pPr>
            <a:r>
              <a:rPr lang="en-US" sz="3800" b="1" dirty="0">
                <a:solidFill>
                  <a:srgbClr val="004E90"/>
                </a:solidFill>
                <a:latin typeface="Arial" pitchFamily="34" charset="0"/>
                <a:ea typeface="Arial" pitchFamily="34" charset="-122"/>
                <a:cs typeface="Arial" pitchFamily="34" charset="-120"/>
              </a:rPr>
              <a:t>15%</a:t>
            </a:r>
            <a:endParaRPr lang="en-US" sz="3800" dirty="0"/>
          </a:p>
        </p:txBody>
      </p:sp>
      <p:sp>
        <p:nvSpPr>
          <p:cNvPr id="49" name="Text 41"/>
          <p:cNvSpPr txBox="1"/>
          <p:nvPr/>
        </p:nvSpPr>
        <p:spPr>
          <a:xfrm>
            <a:off x="777240" y="5559552"/>
            <a:ext cx="2148840" cy="548640"/>
          </a:xfrm>
          <a:prstGeom prst="rect">
            <a:avLst/>
          </a:prstGeom>
          <a:noFill/>
          <a:ln/>
        </p:spPr>
        <p:txBody>
          <a:bodyPr wrap="square" lIns="0" tIns="0" rIns="0" bIns="0" rtlCol="0" anchor="t"/>
          <a:lstStyle/>
          <a:p>
            <a:pPr algn="l" indent="0" marL="0">
              <a:buNone/>
            </a:pPr>
            <a:r>
              <a:rPr lang="en-US" sz="1200" dirty="0">
                <a:solidFill>
                  <a:srgbClr val="131B26"/>
                </a:solidFill>
                <a:latin typeface="Calibri" pitchFamily="34" charset="0"/>
                <a:ea typeface="Calibri" pitchFamily="34" charset="-122"/>
                <a:cs typeface="Calibri" pitchFamily="34" charset="-120"/>
              </a:rPr>
              <a:t>Platform commission on batch enrolments</a:t>
            </a:r>
            <a:endParaRPr lang="en-US" sz="1200" dirty="0"/>
          </a:p>
        </p:txBody>
      </p:sp>
      <p:sp>
        <p:nvSpPr>
          <p:cNvPr id="50" name="Shape 42"/>
          <p:cNvSpPr/>
          <p:nvPr/>
        </p:nvSpPr>
        <p:spPr>
          <a:xfrm>
            <a:off x="3378098" y="4709160"/>
            <a:ext cx="2606040" cy="1463040"/>
          </a:xfrm>
          <a:prstGeom prst="roundRect">
            <a:avLst>
              <a:gd name="adj" fmla="val 13750"/>
            </a:avLst>
          </a:prstGeom>
          <a:solidFill>
            <a:srgbClr val="C7EEEA"/>
          </a:solidFill>
          <a:ln w="12700">
            <a:solidFill>
              <a:srgbClr val="C7EEEA"/>
            </a:solidFill>
            <a:prstDash val="solid"/>
          </a:ln>
        </p:spPr>
      </p:sp>
      <p:sp>
        <p:nvSpPr>
          <p:cNvPr id="51" name="Text 43"/>
          <p:cNvSpPr txBox="1"/>
          <p:nvPr/>
        </p:nvSpPr>
        <p:spPr>
          <a:xfrm>
            <a:off x="3606698" y="4828032"/>
            <a:ext cx="2148840" cy="685800"/>
          </a:xfrm>
          <a:prstGeom prst="rect">
            <a:avLst/>
          </a:prstGeom>
          <a:noFill/>
          <a:ln/>
        </p:spPr>
        <p:txBody>
          <a:bodyPr wrap="square" lIns="0" tIns="0" rIns="0" bIns="0" rtlCol="0" anchor="t"/>
          <a:lstStyle/>
          <a:p>
            <a:pPr algn="l" indent="0" marL="0">
              <a:buNone/>
            </a:pPr>
            <a:r>
              <a:rPr lang="en-US" sz="3800" b="1" dirty="0">
                <a:solidFill>
                  <a:srgbClr val="00847E"/>
                </a:solidFill>
                <a:latin typeface="Arial" pitchFamily="34" charset="0"/>
                <a:ea typeface="Arial" pitchFamily="34" charset="-122"/>
                <a:cs typeface="Arial" pitchFamily="34" charset="-120"/>
              </a:rPr>
              <a:t>5%</a:t>
            </a:r>
            <a:endParaRPr lang="en-US" sz="3800" dirty="0"/>
          </a:p>
        </p:txBody>
      </p:sp>
      <p:sp>
        <p:nvSpPr>
          <p:cNvPr id="52" name="Text 44"/>
          <p:cNvSpPr txBox="1"/>
          <p:nvPr/>
        </p:nvSpPr>
        <p:spPr>
          <a:xfrm>
            <a:off x="3606698" y="5559552"/>
            <a:ext cx="2148840" cy="548640"/>
          </a:xfrm>
          <a:prstGeom prst="rect">
            <a:avLst/>
          </a:prstGeom>
          <a:noFill/>
          <a:ln/>
        </p:spPr>
        <p:txBody>
          <a:bodyPr wrap="square" lIns="0" tIns="0" rIns="0" bIns="0" rtlCol="0" anchor="t"/>
          <a:lstStyle/>
          <a:p>
            <a:pPr algn="l" indent="0" marL="0">
              <a:buNone/>
            </a:pPr>
            <a:r>
              <a:rPr lang="en-US" sz="1200" dirty="0">
                <a:solidFill>
                  <a:srgbClr val="131B26"/>
                </a:solidFill>
                <a:latin typeface="Calibri" pitchFamily="34" charset="0"/>
                <a:ea typeface="Calibri" pitchFamily="34" charset="-122"/>
                <a:cs typeface="Calibri" pitchFamily="34" charset="-120"/>
              </a:rPr>
              <a:t>Commission on 1:1 and group sessions</a:t>
            </a:r>
            <a:endParaRPr lang="en-US" sz="1200" dirty="0"/>
          </a:p>
        </p:txBody>
      </p:sp>
      <p:sp>
        <p:nvSpPr>
          <p:cNvPr id="53" name="Shape 45"/>
          <p:cNvSpPr/>
          <p:nvPr/>
        </p:nvSpPr>
        <p:spPr>
          <a:xfrm>
            <a:off x="6207557" y="4709160"/>
            <a:ext cx="2606040" cy="1463040"/>
          </a:xfrm>
          <a:prstGeom prst="roundRect">
            <a:avLst>
              <a:gd name="adj" fmla="val 13750"/>
            </a:avLst>
          </a:prstGeom>
          <a:solidFill>
            <a:srgbClr val="CBEFD6"/>
          </a:solidFill>
          <a:ln w="12700">
            <a:solidFill>
              <a:srgbClr val="CBEFD6"/>
            </a:solidFill>
            <a:prstDash val="solid"/>
          </a:ln>
        </p:spPr>
      </p:sp>
      <p:sp>
        <p:nvSpPr>
          <p:cNvPr id="54" name="Text 46"/>
          <p:cNvSpPr txBox="1"/>
          <p:nvPr/>
        </p:nvSpPr>
        <p:spPr>
          <a:xfrm>
            <a:off x="6436157" y="4828032"/>
            <a:ext cx="2148840" cy="685800"/>
          </a:xfrm>
          <a:prstGeom prst="rect">
            <a:avLst/>
          </a:prstGeom>
          <a:noFill/>
          <a:ln/>
        </p:spPr>
        <p:txBody>
          <a:bodyPr wrap="square" lIns="0" tIns="0" rIns="0" bIns="0" rtlCol="0" anchor="t"/>
          <a:lstStyle/>
          <a:p>
            <a:pPr algn="l" indent="0" marL="0">
              <a:buNone/>
            </a:pPr>
            <a:r>
              <a:rPr lang="en-US" sz="3800" b="1" dirty="0">
                <a:solidFill>
                  <a:srgbClr val="258651"/>
                </a:solidFill>
                <a:latin typeface="Arial" pitchFamily="34" charset="0"/>
                <a:ea typeface="Arial" pitchFamily="34" charset="-122"/>
                <a:cs typeface="Arial" pitchFamily="34" charset="-120"/>
              </a:rPr>
              <a:t>5%</a:t>
            </a:r>
            <a:endParaRPr lang="en-US" sz="3800" dirty="0"/>
          </a:p>
        </p:txBody>
      </p:sp>
      <p:sp>
        <p:nvSpPr>
          <p:cNvPr id="55" name="Text 47"/>
          <p:cNvSpPr txBox="1"/>
          <p:nvPr/>
        </p:nvSpPr>
        <p:spPr>
          <a:xfrm>
            <a:off x="6436157" y="5559552"/>
            <a:ext cx="2148840" cy="548640"/>
          </a:xfrm>
          <a:prstGeom prst="rect">
            <a:avLst/>
          </a:prstGeom>
          <a:noFill/>
          <a:ln/>
        </p:spPr>
        <p:txBody>
          <a:bodyPr wrap="square" lIns="0" tIns="0" rIns="0" bIns="0" rtlCol="0" anchor="t"/>
          <a:lstStyle/>
          <a:p>
            <a:pPr algn="l" indent="0" marL="0">
              <a:buNone/>
            </a:pPr>
            <a:r>
              <a:rPr lang="en-US" sz="1200" dirty="0">
                <a:solidFill>
                  <a:srgbClr val="131B26"/>
                </a:solidFill>
                <a:latin typeface="Calibri" pitchFamily="34" charset="0"/>
                <a:ea typeface="Calibri" pitchFamily="34" charset="-122"/>
                <a:cs typeface="Calibri" pitchFamily="34" charset="-120"/>
              </a:rPr>
              <a:t>Commission on standalone mentor tests</a:t>
            </a:r>
            <a:endParaRPr lang="en-US" sz="1200" dirty="0"/>
          </a:p>
        </p:txBody>
      </p:sp>
      <p:sp>
        <p:nvSpPr>
          <p:cNvPr id="56" name="Shape 48"/>
          <p:cNvSpPr/>
          <p:nvPr/>
        </p:nvSpPr>
        <p:spPr>
          <a:xfrm>
            <a:off x="9037015" y="4709160"/>
            <a:ext cx="2606040" cy="1463040"/>
          </a:xfrm>
          <a:prstGeom prst="roundRect">
            <a:avLst>
              <a:gd name="adj" fmla="val 13750"/>
            </a:avLst>
          </a:prstGeom>
          <a:solidFill>
            <a:srgbClr val="EDDEF9"/>
          </a:solidFill>
          <a:ln w="12700">
            <a:solidFill>
              <a:srgbClr val="EDDEF9"/>
            </a:solidFill>
            <a:prstDash val="solid"/>
          </a:ln>
        </p:spPr>
      </p:sp>
      <p:sp>
        <p:nvSpPr>
          <p:cNvPr id="57" name="Text 49"/>
          <p:cNvSpPr txBox="1"/>
          <p:nvPr/>
        </p:nvSpPr>
        <p:spPr>
          <a:xfrm>
            <a:off x="9265615" y="4828032"/>
            <a:ext cx="2148840" cy="685800"/>
          </a:xfrm>
          <a:prstGeom prst="rect">
            <a:avLst/>
          </a:prstGeom>
          <a:noFill/>
          <a:ln/>
        </p:spPr>
        <p:txBody>
          <a:bodyPr wrap="square" lIns="0" tIns="0" rIns="0" bIns="0" rtlCol="0" anchor="t"/>
          <a:lstStyle/>
          <a:p>
            <a:pPr algn="l" indent="0" marL="0">
              <a:buNone/>
            </a:pPr>
            <a:r>
              <a:rPr lang="en-US" sz="3800" b="1" dirty="0">
                <a:solidFill>
                  <a:srgbClr val="7A4B9A"/>
                </a:solidFill>
                <a:latin typeface="Arial" pitchFamily="34" charset="0"/>
                <a:ea typeface="Arial" pitchFamily="34" charset="-122"/>
                <a:cs typeface="Arial" pitchFamily="34" charset="-120"/>
              </a:rPr>
              <a:t>10–40%</a:t>
            </a:r>
            <a:endParaRPr lang="en-US" sz="3800" dirty="0"/>
          </a:p>
        </p:txBody>
      </p:sp>
      <p:sp>
        <p:nvSpPr>
          <p:cNvPr id="58" name="Text 50"/>
          <p:cNvSpPr txBox="1"/>
          <p:nvPr/>
        </p:nvSpPr>
        <p:spPr>
          <a:xfrm>
            <a:off x="9265615" y="5559552"/>
            <a:ext cx="2148840" cy="548640"/>
          </a:xfrm>
          <a:prstGeom prst="rect">
            <a:avLst/>
          </a:prstGeom>
          <a:noFill/>
          <a:ln/>
        </p:spPr>
        <p:txBody>
          <a:bodyPr wrap="square" lIns="0" tIns="0" rIns="0" bIns="0" rtlCol="0" anchor="t"/>
          <a:lstStyle/>
          <a:p>
            <a:pPr algn="l" indent="0" marL="0">
              <a:buNone/>
            </a:pPr>
            <a:r>
              <a:rPr lang="en-US" sz="1200" dirty="0">
                <a:solidFill>
                  <a:srgbClr val="131B26"/>
                </a:solidFill>
                <a:latin typeface="Calibri" pitchFamily="34" charset="0"/>
                <a:ea typeface="Calibri" pitchFamily="34" charset="-122"/>
                <a:cs typeface="Calibri" pitchFamily="34" charset="-120"/>
              </a:rPr>
              <a:t>Promoter boost a mentor can offer per batch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E14"/>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499FE3"/>
                </a:solidFill>
                <a:latin typeface="Calibri" pitchFamily="34" charset="0"/>
                <a:ea typeface="Calibri" pitchFamily="34" charset="-122"/>
                <a:cs typeface="Calibri" pitchFamily="34" charset="-120"/>
              </a:rPr>
              <a:t>MODULE 4</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ECEFF2"/>
                </a:solidFill>
                <a:latin typeface="Arial" pitchFamily="34" charset="0"/>
                <a:ea typeface="Arial" pitchFamily="34" charset="-122"/>
                <a:cs typeface="Arial" pitchFamily="34" charset="-120"/>
              </a:rPr>
              <a:t>Authentication and Security</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85919B"/>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5919B"/>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91640"/>
            <a:ext cx="3566160" cy="2148840"/>
          </a:xfrm>
          <a:prstGeom prst="roundRect">
            <a:avLst>
              <a:gd name="adj" fmla="val 9362"/>
            </a:avLst>
          </a:prstGeom>
          <a:solidFill>
            <a:srgbClr val="11161E"/>
          </a:solidFill>
          <a:ln w="9525">
            <a:solidFill>
              <a:srgbClr val="1F2A37"/>
            </a:solidFill>
            <a:prstDash val="solid"/>
          </a:ln>
        </p:spPr>
      </p:sp>
      <p:sp>
        <p:nvSpPr>
          <p:cNvPr id="8" name="Shape 5"/>
          <p:cNvSpPr/>
          <p:nvPr/>
        </p:nvSpPr>
        <p:spPr>
          <a:xfrm>
            <a:off x="822960" y="1947672"/>
            <a:ext cx="603504" cy="603504"/>
          </a:xfrm>
          <a:prstGeom prst="ellipse">
            <a:avLst/>
          </a:prstGeom>
          <a:solidFill>
            <a:srgbClr val="1A2B39"/>
          </a:solidFill>
          <a:ln w="12700">
            <a:solidFill>
              <a:srgbClr val="1A2B39"/>
            </a:solidFill>
            <a:prstDash val="solid"/>
          </a:ln>
        </p:spPr>
      </p:sp>
      <p:pic>
        <p:nvPicPr>
          <p:cNvPr id="9" name="Image 1" descr="preencoded.png">    </p:cNvPr>
          <p:cNvPicPr>
            <a:picLocks noChangeAspect="1"/>
          </p:cNvPicPr>
          <p:nvPr/>
        </p:nvPicPr>
        <p:blipFill>
          <a:blip r:embed="rId2"/>
          <a:stretch>
            <a:fillRect/>
          </a:stretch>
        </p:blipFill>
        <p:spPr>
          <a:xfrm>
            <a:off x="973836" y="2098548"/>
            <a:ext cx="301752" cy="301752"/>
          </a:xfrm>
          <a:prstGeom prst="rect">
            <a:avLst/>
          </a:prstGeom>
        </p:spPr>
      </p:pic>
      <p:sp>
        <p:nvSpPr>
          <p:cNvPr id="10" name="Text 6"/>
          <p:cNvSpPr txBox="1"/>
          <p:nvPr/>
        </p:nvSpPr>
        <p:spPr>
          <a:xfrm>
            <a:off x="1600200" y="2075688"/>
            <a:ext cx="2331720" cy="365760"/>
          </a:xfrm>
          <a:prstGeom prst="rect">
            <a:avLst/>
          </a:prstGeom>
          <a:noFill/>
          <a:ln/>
        </p:spPr>
        <p:txBody>
          <a:bodyPr wrap="square" lIns="0" tIns="0" rIns="0" bIns="0" rtlCol="0" anchor="t"/>
          <a:lstStyle/>
          <a:p>
            <a:pPr algn="l" indent="0" marL="0">
              <a:buNone/>
            </a:pPr>
            <a:r>
              <a:rPr lang="en-US" sz="1700" b="1" dirty="0">
                <a:solidFill>
                  <a:srgbClr val="ECEFF2"/>
                </a:solidFill>
                <a:latin typeface="Arial" pitchFamily="34" charset="0"/>
                <a:ea typeface="Arial" pitchFamily="34" charset="-122"/>
                <a:cs typeface="Arial" pitchFamily="34" charset="-120"/>
              </a:rPr>
              <a:t>Firebase ID tokens</a:t>
            </a:r>
            <a:endParaRPr lang="en-US" sz="1700" dirty="0"/>
          </a:p>
        </p:txBody>
      </p:sp>
      <p:sp>
        <p:nvSpPr>
          <p:cNvPr id="11" name="Text 7"/>
          <p:cNvSpPr txBox="1"/>
          <p:nvPr/>
        </p:nvSpPr>
        <p:spPr>
          <a:xfrm>
            <a:off x="822960" y="2788920"/>
            <a:ext cx="3017520" cy="960120"/>
          </a:xfrm>
          <a:prstGeom prst="rect">
            <a:avLst/>
          </a:prstGeom>
          <a:noFill/>
          <a:ln/>
        </p:spPr>
        <p:txBody>
          <a:bodyPr wrap="square" lIns="0" tIns="0" rIns="0" bIns="0" rtlCol="0" anchor="t"/>
          <a:lstStyle/>
          <a:p>
            <a:pPr algn="l" indent="0" marL="0">
              <a:buNone/>
            </a:pPr>
            <a:r>
              <a:rPr lang="en-US" sz="1300" dirty="0">
                <a:solidFill>
                  <a:srgbClr val="85919B"/>
                </a:solidFill>
                <a:latin typeface="Calibri" pitchFamily="34" charset="0"/>
                <a:ea typeface="Calibri" pitchFamily="34" charset="-122"/>
                <a:cs typeface="Calibri" pitchFamily="34" charset="-120"/>
              </a:rPr>
              <a:t>Every protected server function verifies the caller's token with the Firebase Admin SDK.</a:t>
            </a:r>
            <a:endParaRPr lang="en-US" sz="1300" dirty="0"/>
          </a:p>
        </p:txBody>
      </p:sp>
      <p:sp>
        <p:nvSpPr>
          <p:cNvPr id="12" name="Shape 8"/>
          <p:cNvSpPr/>
          <p:nvPr/>
        </p:nvSpPr>
        <p:spPr>
          <a:xfrm>
            <a:off x="4311396" y="1691640"/>
            <a:ext cx="3566160" cy="2148840"/>
          </a:xfrm>
          <a:prstGeom prst="roundRect">
            <a:avLst>
              <a:gd name="adj" fmla="val 9362"/>
            </a:avLst>
          </a:prstGeom>
          <a:solidFill>
            <a:srgbClr val="11161E"/>
          </a:solidFill>
          <a:ln w="9525">
            <a:solidFill>
              <a:srgbClr val="1F2A37"/>
            </a:solidFill>
            <a:prstDash val="solid"/>
          </a:ln>
        </p:spPr>
      </p:sp>
      <p:sp>
        <p:nvSpPr>
          <p:cNvPr id="13" name="Shape 9"/>
          <p:cNvSpPr/>
          <p:nvPr/>
        </p:nvSpPr>
        <p:spPr>
          <a:xfrm>
            <a:off x="4585716" y="1947672"/>
            <a:ext cx="603504" cy="603504"/>
          </a:xfrm>
          <a:prstGeom prst="ellipse">
            <a:avLst/>
          </a:prstGeom>
          <a:solidFill>
            <a:srgbClr val="1A2B39"/>
          </a:solidFill>
          <a:ln w="12700">
            <a:solidFill>
              <a:srgbClr val="1A2B39"/>
            </a:solidFill>
            <a:prstDash val="solid"/>
          </a:ln>
        </p:spPr>
      </p:sp>
      <p:pic>
        <p:nvPicPr>
          <p:cNvPr id="14" name="Image 2" descr="preencoded.png">    </p:cNvPr>
          <p:cNvPicPr>
            <a:picLocks noChangeAspect="1"/>
          </p:cNvPicPr>
          <p:nvPr/>
        </p:nvPicPr>
        <p:blipFill>
          <a:blip r:embed="rId3"/>
          <a:stretch>
            <a:fillRect/>
          </a:stretch>
        </p:blipFill>
        <p:spPr>
          <a:xfrm>
            <a:off x="4736592" y="2098548"/>
            <a:ext cx="301752" cy="301752"/>
          </a:xfrm>
          <a:prstGeom prst="rect">
            <a:avLst/>
          </a:prstGeom>
        </p:spPr>
      </p:pic>
      <p:sp>
        <p:nvSpPr>
          <p:cNvPr id="15" name="Text 10"/>
          <p:cNvSpPr txBox="1"/>
          <p:nvPr/>
        </p:nvSpPr>
        <p:spPr>
          <a:xfrm>
            <a:off x="5362956" y="2075688"/>
            <a:ext cx="2331720" cy="365760"/>
          </a:xfrm>
          <a:prstGeom prst="rect">
            <a:avLst/>
          </a:prstGeom>
          <a:noFill/>
          <a:ln/>
        </p:spPr>
        <p:txBody>
          <a:bodyPr wrap="square" lIns="0" tIns="0" rIns="0" bIns="0" rtlCol="0" anchor="t"/>
          <a:lstStyle/>
          <a:p>
            <a:pPr algn="l" indent="0" marL="0">
              <a:buNone/>
            </a:pPr>
            <a:r>
              <a:rPr lang="en-US" sz="1700" b="1" dirty="0">
                <a:solidFill>
                  <a:srgbClr val="ECEFF2"/>
                </a:solidFill>
                <a:latin typeface="Arial" pitchFamily="34" charset="0"/>
                <a:ea typeface="Arial" pitchFamily="34" charset="-122"/>
                <a:cs typeface="Arial" pitchFamily="34" charset="-120"/>
              </a:rPr>
              <a:t>Signed sessions</a:t>
            </a:r>
            <a:endParaRPr lang="en-US" sz="1700" dirty="0"/>
          </a:p>
        </p:txBody>
      </p:sp>
      <p:sp>
        <p:nvSpPr>
          <p:cNvPr id="16" name="Text 11"/>
          <p:cNvSpPr txBox="1"/>
          <p:nvPr/>
        </p:nvSpPr>
        <p:spPr>
          <a:xfrm>
            <a:off x="4585716" y="2788920"/>
            <a:ext cx="3017520" cy="960120"/>
          </a:xfrm>
          <a:prstGeom prst="rect">
            <a:avLst/>
          </a:prstGeom>
          <a:noFill/>
          <a:ln/>
        </p:spPr>
        <p:txBody>
          <a:bodyPr wrap="square" lIns="0" tIns="0" rIns="0" bIns="0" rtlCol="0" anchor="t"/>
          <a:lstStyle/>
          <a:p>
            <a:pPr algn="l" indent="0" marL="0">
              <a:buNone/>
            </a:pPr>
            <a:r>
              <a:rPr lang="en-US" sz="1300" dirty="0">
                <a:solidFill>
                  <a:srgbClr val="85919B"/>
                </a:solidFill>
                <a:latin typeface="Calibri" pitchFamily="34" charset="0"/>
                <a:ea typeface="Calibri" pitchFamily="34" charset="-122"/>
                <a:cs typeface="Calibri" pitchFamily="34" charset="-120"/>
              </a:rPr>
              <a:t>Mentors and promoters use separate HMAC-signed sessions, checked with timing-safe comparison.</a:t>
            </a:r>
            <a:endParaRPr lang="en-US" sz="1300" dirty="0"/>
          </a:p>
        </p:txBody>
      </p:sp>
      <p:sp>
        <p:nvSpPr>
          <p:cNvPr id="17" name="Shape 12"/>
          <p:cNvSpPr/>
          <p:nvPr/>
        </p:nvSpPr>
        <p:spPr>
          <a:xfrm>
            <a:off x="8074152" y="1691640"/>
            <a:ext cx="3566160" cy="2148840"/>
          </a:xfrm>
          <a:prstGeom prst="roundRect">
            <a:avLst>
              <a:gd name="adj" fmla="val 9362"/>
            </a:avLst>
          </a:prstGeom>
          <a:solidFill>
            <a:srgbClr val="11161E"/>
          </a:solidFill>
          <a:ln w="9525">
            <a:solidFill>
              <a:srgbClr val="1F2A37"/>
            </a:solidFill>
            <a:prstDash val="solid"/>
          </a:ln>
        </p:spPr>
      </p:sp>
      <p:sp>
        <p:nvSpPr>
          <p:cNvPr id="18" name="Shape 13"/>
          <p:cNvSpPr/>
          <p:nvPr/>
        </p:nvSpPr>
        <p:spPr>
          <a:xfrm>
            <a:off x="8348472" y="1947672"/>
            <a:ext cx="603504" cy="603504"/>
          </a:xfrm>
          <a:prstGeom prst="ellipse">
            <a:avLst/>
          </a:prstGeom>
          <a:solidFill>
            <a:srgbClr val="1A2B39"/>
          </a:solidFill>
          <a:ln w="12700">
            <a:solidFill>
              <a:srgbClr val="1A2B39"/>
            </a:solidFill>
            <a:prstDash val="solid"/>
          </a:ln>
        </p:spPr>
      </p:sp>
      <p:pic>
        <p:nvPicPr>
          <p:cNvPr id="19" name="Image 3" descr="preencoded.png">    </p:cNvPr>
          <p:cNvPicPr>
            <a:picLocks noChangeAspect="1"/>
          </p:cNvPicPr>
          <p:nvPr/>
        </p:nvPicPr>
        <p:blipFill>
          <a:blip r:embed="rId4"/>
          <a:stretch>
            <a:fillRect/>
          </a:stretch>
        </p:blipFill>
        <p:spPr>
          <a:xfrm>
            <a:off x="8499348" y="2098548"/>
            <a:ext cx="301752" cy="301752"/>
          </a:xfrm>
          <a:prstGeom prst="rect">
            <a:avLst/>
          </a:prstGeom>
        </p:spPr>
      </p:pic>
      <p:sp>
        <p:nvSpPr>
          <p:cNvPr id="20" name="Text 14"/>
          <p:cNvSpPr txBox="1"/>
          <p:nvPr/>
        </p:nvSpPr>
        <p:spPr>
          <a:xfrm>
            <a:off x="9125712" y="2075688"/>
            <a:ext cx="2331720" cy="365760"/>
          </a:xfrm>
          <a:prstGeom prst="rect">
            <a:avLst/>
          </a:prstGeom>
          <a:noFill/>
          <a:ln/>
        </p:spPr>
        <p:txBody>
          <a:bodyPr wrap="square" lIns="0" tIns="0" rIns="0" bIns="0" rtlCol="0" anchor="t"/>
          <a:lstStyle/>
          <a:p>
            <a:pPr algn="l" indent="0" marL="0">
              <a:buNone/>
            </a:pPr>
            <a:r>
              <a:rPr lang="en-US" sz="1700" b="1" dirty="0">
                <a:solidFill>
                  <a:srgbClr val="ECEFF2"/>
                </a:solidFill>
                <a:latin typeface="Arial" pitchFamily="34" charset="0"/>
                <a:ea typeface="Arial" pitchFamily="34" charset="-122"/>
                <a:cs typeface="Arial" pitchFamily="34" charset="-120"/>
              </a:rPr>
              <a:t>Hashed OTP codes</a:t>
            </a:r>
            <a:endParaRPr lang="en-US" sz="1700" dirty="0"/>
          </a:p>
        </p:txBody>
      </p:sp>
      <p:sp>
        <p:nvSpPr>
          <p:cNvPr id="21" name="Text 15"/>
          <p:cNvSpPr txBox="1"/>
          <p:nvPr/>
        </p:nvSpPr>
        <p:spPr>
          <a:xfrm>
            <a:off x="8348472" y="2788920"/>
            <a:ext cx="3017520" cy="960120"/>
          </a:xfrm>
          <a:prstGeom prst="rect">
            <a:avLst/>
          </a:prstGeom>
          <a:noFill/>
          <a:ln/>
        </p:spPr>
        <p:txBody>
          <a:bodyPr wrap="square" lIns="0" tIns="0" rIns="0" bIns="0" rtlCol="0" anchor="t"/>
          <a:lstStyle/>
          <a:p>
            <a:pPr algn="l" indent="0" marL="0">
              <a:buNone/>
            </a:pPr>
            <a:r>
              <a:rPr lang="en-US" sz="1300" dirty="0">
                <a:solidFill>
                  <a:srgbClr val="85919B"/>
                </a:solidFill>
                <a:latin typeface="Calibri" pitchFamily="34" charset="0"/>
                <a:ea typeface="Calibri" pitchFamily="34" charset="-122"/>
                <a:cs typeface="Calibri" pitchFamily="34" charset="-120"/>
              </a:rPr>
              <a:t>Six-digit codes come from a secure random generator and are stored only as a peppered HMAC.</a:t>
            </a:r>
            <a:endParaRPr lang="en-US" sz="1300" dirty="0"/>
          </a:p>
        </p:txBody>
      </p:sp>
      <p:sp>
        <p:nvSpPr>
          <p:cNvPr id="22" name="Shape 16"/>
          <p:cNvSpPr/>
          <p:nvPr/>
        </p:nvSpPr>
        <p:spPr>
          <a:xfrm>
            <a:off x="548640" y="4023360"/>
            <a:ext cx="3566160" cy="2148840"/>
          </a:xfrm>
          <a:prstGeom prst="roundRect">
            <a:avLst>
              <a:gd name="adj" fmla="val 9362"/>
            </a:avLst>
          </a:prstGeom>
          <a:solidFill>
            <a:srgbClr val="11161E"/>
          </a:solidFill>
          <a:ln w="9525">
            <a:solidFill>
              <a:srgbClr val="1F2A37"/>
            </a:solidFill>
            <a:prstDash val="solid"/>
          </a:ln>
        </p:spPr>
      </p:sp>
      <p:sp>
        <p:nvSpPr>
          <p:cNvPr id="23" name="Shape 17"/>
          <p:cNvSpPr/>
          <p:nvPr/>
        </p:nvSpPr>
        <p:spPr>
          <a:xfrm>
            <a:off x="822960" y="4279392"/>
            <a:ext cx="603504" cy="603504"/>
          </a:xfrm>
          <a:prstGeom prst="ellipse">
            <a:avLst/>
          </a:prstGeom>
          <a:solidFill>
            <a:srgbClr val="1A2B39"/>
          </a:solidFill>
          <a:ln w="12700">
            <a:solidFill>
              <a:srgbClr val="1A2B39"/>
            </a:solidFill>
            <a:prstDash val="solid"/>
          </a:ln>
        </p:spPr>
      </p:sp>
      <p:pic>
        <p:nvPicPr>
          <p:cNvPr id="24" name="Image 4" descr="preencoded.png">    </p:cNvPr>
          <p:cNvPicPr>
            <a:picLocks noChangeAspect="1"/>
          </p:cNvPicPr>
          <p:nvPr/>
        </p:nvPicPr>
        <p:blipFill>
          <a:blip r:embed="rId5"/>
          <a:stretch>
            <a:fillRect/>
          </a:stretch>
        </p:blipFill>
        <p:spPr>
          <a:xfrm>
            <a:off x="973836" y="4430268"/>
            <a:ext cx="301752" cy="301752"/>
          </a:xfrm>
          <a:prstGeom prst="rect">
            <a:avLst/>
          </a:prstGeom>
        </p:spPr>
      </p:pic>
      <p:sp>
        <p:nvSpPr>
          <p:cNvPr id="25" name="Text 18"/>
          <p:cNvSpPr txBox="1"/>
          <p:nvPr/>
        </p:nvSpPr>
        <p:spPr>
          <a:xfrm>
            <a:off x="1600200" y="4407408"/>
            <a:ext cx="2331720" cy="365760"/>
          </a:xfrm>
          <a:prstGeom prst="rect">
            <a:avLst/>
          </a:prstGeom>
          <a:noFill/>
          <a:ln/>
        </p:spPr>
        <p:txBody>
          <a:bodyPr wrap="square" lIns="0" tIns="0" rIns="0" bIns="0" rtlCol="0" anchor="t"/>
          <a:lstStyle/>
          <a:p>
            <a:pPr algn="l" indent="0" marL="0">
              <a:buNone/>
            </a:pPr>
            <a:r>
              <a:rPr lang="en-US" sz="1700" b="1" dirty="0">
                <a:solidFill>
                  <a:srgbClr val="ECEFF2"/>
                </a:solidFill>
                <a:latin typeface="Arial" pitchFamily="34" charset="0"/>
                <a:ea typeface="Arial" pitchFamily="34" charset="-122"/>
                <a:cs typeface="Arial" pitchFamily="34" charset="-120"/>
              </a:rPr>
              <a:t>CSRF protection</a:t>
            </a:r>
            <a:endParaRPr lang="en-US" sz="1700" dirty="0"/>
          </a:p>
        </p:txBody>
      </p:sp>
      <p:sp>
        <p:nvSpPr>
          <p:cNvPr id="26" name="Text 19"/>
          <p:cNvSpPr txBox="1"/>
          <p:nvPr/>
        </p:nvSpPr>
        <p:spPr>
          <a:xfrm>
            <a:off x="822960" y="5120640"/>
            <a:ext cx="3017520" cy="960120"/>
          </a:xfrm>
          <a:prstGeom prst="rect">
            <a:avLst/>
          </a:prstGeom>
          <a:noFill/>
          <a:ln/>
        </p:spPr>
        <p:txBody>
          <a:bodyPr wrap="square" lIns="0" tIns="0" rIns="0" bIns="0" rtlCol="0" anchor="t"/>
          <a:lstStyle/>
          <a:p>
            <a:pPr algn="l" indent="0" marL="0">
              <a:buNone/>
            </a:pPr>
            <a:r>
              <a:rPr lang="en-US" sz="1300" dirty="0">
                <a:solidFill>
                  <a:srgbClr val="85919B"/>
                </a:solidFill>
                <a:latin typeface="Calibri" pitchFamily="34" charset="0"/>
                <a:ea typeface="Calibri" pitchFamily="34" charset="-122"/>
                <a:cs typeface="Calibri" pitchFamily="34" charset="-120"/>
              </a:rPr>
              <a:t>Global middleware guards every server function call, with safe JSON errors for expired sessions.</a:t>
            </a:r>
            <a:endParaRPr lang="en-US" sz="1300" dirty="0"/>
          </a:p>
        </p:txBody>
      </p:sp>
      <p:sp>
        <p:nvSpPr>
          <p:cNvPr id="27" name="Shape 20"/>
          <p:cNvSpPr/>
          <p:nvPr/>
        </p:nvSpPr>
        <p:spPr>
          <a:xfrm>
            <a:off x="4311396" y="4023360"/>
            <a:ext cx="3566160" cy="2148840"/>
          </a:xfrm>
          <a:prstGeom prst="roundRect">
            <a:avLst>
              <a:gd name="adj" fmla="val 9362"/>
            </a:avLst>
          </a:prstGeom>
          <a:solidFill>
            <a:srgbClr val="11161E"/>
          </a:solidFill>
          <a:ln w="9525">
            <a:solidFill>
              <a:srgbClr val="1F2A37"/>
            </a:solidFill>
            <a:prstDash val="solid"/>
          </a:ln>
        </p:spPr>
      </p:sp>
      <p:sp>
        <p:nvSpPr>
          <p:cNvPr id="28" name="Shape 21"/>
          <p:cNvSpPr/>
          <p:nvPr/>
        </p:nvSpPr>
        <p:spPr>
          <a:xfrm>
            <a:off x="4585716" y="4279392"/>
            <a:ext cx="603504" cy="603504"/>
          </a:xfrm>
          <a:prstGeom prst="ellipse">
            <a:avLst/>
          </a:prstGeom>
          <a:solidFill>
            <a:srgbClr val="1A2B39"/>
          </a:solidFill>
          <a:ln w="12700">
            <a:solidFill>
              <a:srgbClr val="1A2B39"/>
            </a:solidFill>
            <a:prstDash val="solid"/>
          </a:ln>
        </p:spPr>
      </p:sp>
      <p:pic>
        <p:nvPicPr>
          <p:cNvPr id="29" name="Image 5" descr="preencoded.png">    </p:cNvPr>
          <p:cNvPicPr>
            <a:picLocks noChangeAspect="1"/>
          </p:cNvPicPr>
          <p:nvPr/>
        </p:nvPicPr>
        <p:blipFill>
          <a:blip r:embed="rId6"/>
          <a:stretch>
            <a:fillRect/>
          </a:stretch>
        </p:blipFill>
        <p:spPr>
          <a:xfrm>
            <a:off x="4736592" y="4430268"/>
            <a:ext cx="301752" cy="301752"/>
          </a:xfrm>
          <a:prstGeom prst="rect">
            <a:avLst/>
          </a:prstGeom>
        </p:spPr>
      </p:pic>
      <p:sp>
        <p:nvSpPr>
          <p:cNvPr id="30" name="Text 22"/>
          <p:cNvSpPr txBox="1"/>
          <p:nvPr/>
        </p:nvSpPr>
        <p:spPr>
          <a:xfrm>
            <a:off x="5362956" y="4407408"/>
            <a:ext cx="2331720" cy="365760"/>
          </a:xfrm>
          <a:prstGeom prst="rect">
            <a:avLst/>
          </a:prstGeom>
          <a:noFill/>
          <a:ln/>
        </p:spPr>
        <p:txBody>
          <a:bodyPr wrap="square" lIns="0" tIns="0" rIns="0" bIns="0" rtlCol="0" anchor="t"/>
          <a:lstStyle/>
          <a:p>
            <a:pPr algn="l" indent="0" marL="0">
              <a:buNone/>
            </a:pPr>
            <a:r>
              <a:rPr lang="en-US" sz="1700" b="1" dirty="0">
                <a:solidFill>
                  <a:srgbClr val="ECEFF2"/>
                </a:solidFill>
                <a:latin typeface="Arial" pitchFamily="34" charset="0"/>
                <a:ea typeface="Arial" pitchFamily="34" charset="-122"/>
                <a:cs typeface="Arial" pitchFamily="34" charset="-120"/>
              </a:rPr>
              <a:t>Signed video URLs</a:t>
            </a:r>
            <a:endParaRPr lang="en-US" sz="1700" dirty="0"/>
          </a:p>
        </p:txBody>
      </p:sp>
      <p:sp>
        <p:nvSpPr>
          <p:cNvPr id="31" name="Text 23"/>
          <p:cNvSpPr txBox="1"/>
          <p:nvPr/>
        </p:nvSpPr>
        <p:spPr>
          <a:xfrm>
            <a:off x="4585716" y="5120640"/>
            <a:ext cx="3017520" cy="960120"/>
          </a:xfrm>
          <a:prstGeom prst="rect">
            <a:avLst/>
          </a:prstGeom>
          <a:noFill/>
          <a:ln/>
        </p:spPr>
        <p:txBody>
          <a:bodyPr wrap="square" lIns="0" tIns="0" rIns="0" bIns="0" rtlCol="0" anchor="t"/>
          <a:lstStyle/>
          <a:p>
            <a:pPr algn="l" indent="0" marL="0">
              <a:buNone/>
            </a:pPr>
            <a:r>
              <a:rPr lang="en-US" sz="1300" dirty="0">
                <a:solidFill>
                  <a:srgbClr val="85919B"/>
                </a:solidFill>
                <a:latin typeface="Calibri" pitchFamily="34" charset="0"/>
                <a:ea typeface="Calibri" pitchFamily="34" charset="-122"/>
                <a:cs typeface="Calibri" pitchFamily="34" charset="-120"/>
              </a:rPr>
              <a:t>Lecture videos are served through time-limited signed URLs, never public links.</a:t>
            </a:r>
            <a:endParaRPr lang="en-US" sz="1300" dirty="0"/>
          </a:p>
        </p:txBody>
      </p:sp>
      <p:sp>
        <p:nvSpPr>
          <p:cNvPr id="32" name="Shape 24"/>
          <p:cNvSpPr/>
          <p:nvPr/>
        </p:nvSpPr>
        <p:spPr>
          <a:xfrm>
            <a:off x="8074152" y="4023360"/>
            <a:ext cx="3566160" cy="2148840"/>
          </a:xfrm>
          <a:prstGeom prst="roundRect">
            <a:avLst>
              <a:gd name="adj" fmla="val 9362"/>
            </a:avLst>
          </a:prstGeom>
          <a:solidFill>
            <a:srgbClr val="11161E"/>
          </a:solidFill>
          <a:ln w="9525">
            <a:solidFill>
              <a:srgbClr val="1F2A37"/>
            </a:solidFill>
            <a:prstDash val="solid"/>
          </a:ln>
        </p:spPr>
      </p:sp>
      <p:sp>
        <p:nvSpPr>
          <p:cNvPr id="33" name="Shape 25"/>
          <p:cNvSpPr/>
          <p:nvPr/>
        </p:nvSpPr>
        <p:spPr>
          <a:xfrm>
            <a:off x="8348472" y="4279392"/>
            <a:ext cx="603504" cy="603504"/>
          </a:xfrm>
          <a:prstGeom prst="ellipse">
            <a:avLst/>
          </a:prstGeom>
          <a:solidFill>
            <a:srgbClr val="1A2B39"/>
          </a:solidFill>
          <a:ln w="12700">
            <a:solidFill>
              <a:srgbClr val="1A2B39"/>
            </a:solidFill>
            <a:prstDash val="solid"/>
          </a:ln>
        </p:spPr>
      </p:sp>
      <p:pic>
        <p:nvPicPr>
          <p:cNvPr id="34" name="Image 6" descr="preencoded.png">    </p:cNvPr>
          <p:cNvPicPr>
            <a:picLocks noChangeAspect="1"/>
          </p:cNvPicPr>
          <p:nvPr/>
        </p:nvPicPr>
        <p:blipFill>
          <a:blip r:embed="rId7"/>
          <a:stretch>
            <a:fillRect/>
          </a:stretch>
        </p:blipFill>
        <p:spPr>
          <a:xfrm>
            <a:off x="8499348" y="4430268"/>
            <a:ext cx="301752" cy="301752"/>
          </a:xfrm>
          <a:prstGeom prst="rect">
            <a:avLst/>
          </a:prstGeom>
        </p:spPr>
      </p:pic>
      <p:sp>
        <p:nvSpPr>
          <p:cNvPr id="35" name="Text 26"/>
          <p:cNvSpPr txBox="1"/>
          <p:nvPr/>
        </p:nvSpPr>
        <p:spPr>
          <a:xfrm>
            <a:off x="9125712" y="4407408"/>
            <a:ext cx="2331720" cy="365760"/>
          </a:xfrm>
          <a:prstGeom prst="rect">
            <a:avLst/>
          </a:prstGeom>
          <a:noFill/>
          <a:ln/>
        </p:spPr>
        <p:txBody>
          <a:bodyPr wrap="square" lIns="0" tIns="0" rIns="0" bIns="0" rtlCol="0" anchor="t"/>
          <a:lstStyle/>
          <a:p>
            <a:pPr algn="l" indent="0" marL="0">
              <a:buNone/>
            </a:pPr>
            <a:r>
              <a:rPr lang="en-US" sz="1700" b="1" dirty="0">
                <a:solidFill>
                  <a:srgbClr val="ECEFF2"/>
                </a:solidFill>
                <a:latin typeface="Arial" pitchFamily="34" charset="0"/>
                <a:ea typeface="Arial" pitchFamily="34" charset="-122"/>
                <a:cs typeface="Arial" pitchFamily="34" charset="-120"/>
              </a:rPr>
              <a:t>Device tracking</a:t>
            </a:r>
            <a:endParaRPr lang="en-US" sz="1700" dirty="0"/>
          </a:p>
        </p:txBody>
      </p:sp>
      <p:sp>
        <p:nvSpPr>
          <p:cNvPr id="36" name="Text 27"/>
          <p:cNvSpPr txBox="1"/>
          <p:nvPr/>
        </p:nvSpPr>
        <p:spPr>
          <a:xfrm>
            <a:off x="8348472" y="5120640"/>
            <a:ext cx="3017520" cy="960120"/>
          </a:xfrm>
          <a:prstGeom prst="rect">
            <a:avLst/>
          </a:prstGeom>
          <a:noFill/>
          <a:ln/>
        </p:spPr>
        <p:txBody>
          <a:bodyPr wrap="square" lIns="0" tIns="0" rIns="0" bIns="0" rtlCol="0" anchor="t"/>
          <a:lstStyle/>
          <a:p>
            <a:pPr algn="l" indent="0" marL="0">
              <a:buNone/>
            </a:pPr>
            <a:r>
              <a:rPr lang="en-US" sz="1300" dirty="0">
                <a:solidFill>
                  <a:srgbClr val="85919B"/>
                </a:solidFill>
                <a:latin typeface="Calibri" pitchFamily="34" charset="0"/>
                <a:ea typeface="Calibri" pitchFamily="34" charset="-122"/>
                <a:cs typeface="Calibri" pitchFamily="34" charset="-120"/>
              </a:rPr>
              <a:t>Per-browser sessions can be reviewed and revoked from the admin dashboard.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MODULES 5 TO 7</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Admin, Promoter and Intern Portals</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691640"/>
            <a:ext cx="5394960" cy="4434840"/>
          </a:xfrm>
          <a:prstGeom prst="roundRect">
            <a:avLst>
              <a:gd name="adj" fmla="val 4536"/>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8" name="Shape 5"/>
          <p:cNvSpPr/>
          <p:nvPr/>
        </p:nvSpPr>
        <p:spPr>
          <a:xfrm>
            <a:off x="868680" y="1965960"/>
            <a:ext cx="640080" cy="640080"/>
          </a:xfrm>
          <a:prstGeom prst="ellipse">
            <a:avLst/>
          </a:prstGeom>
          <a:solidFill>
            <a:srgbClr val="FFD6CD"/>
          </a:solidFill>
          <a:ln w="12700">
            <a:solidFill>
              <a:srgbClr val="FFD6CD"/>
            </a:solidFill>
            <a:prstDash val="solid"/>
          </a:ln>
        </p:spPr>
      </p:sp>
      <p:pic>
        <p:nvPicPr>
          <p:cNvPr id="9" name="Image 1" descr="preencoded.png">    </p:cNvPr>
          <p:cNvPicPr>
            <a:picLocks noChangeAspect="1"/>
          </p:cNvPicPr>
          <p:nvPr/>
        </p:nvPicPr>
        <p:blipFill>
          <a:blip r:embed="rId2"/>
          <a:stretch>
            <a:fillRect/>
          </a:stretch>
        </p:blipFill>
        <p:spPr>
          <a:xfrm>
            <a:off x="1028700" y="2125980"/>
            <a:ext cx="320040" cy="320040"/>
          </a:xfrm>
          <a:prstGeom prst="rect">
            <a:avLst/>
          </a:prstGeom>
        </p:spPr>
      </p:pic>
      <p:sp>
        <p:nvSpPr>
          <p:cNvPr id="10" name="Text 6"/>
          <p:cNvSpPr txBox="1"/>
          <p:nvPr/>
        </p:nvSpPr>
        <p:spPr>
          <a:xfrm>
            <a:off x="1737360" y="2121408"/>
            <a:ext cx="4023360" cy="365760"/>
          </a:xfrm>
          <a:prstGeom prst="rect">
            <a:avLst/>
          </a:prstGeom>
          <a:noFill/>
          <a:ln/>
        </p:spPr>
        <p:txBody>
          <a:bodyPr wrap="square" lIns="0" tIns="0" rIns="0" bIns="0" rtlCol="0" anchor="t"/>
          <a:lstStyle/>
          <a:p>
            <a:pPr algn="l" indent="0" marL="0">
              <a:buNone/>
            </a:pPr>
            <a:r>
              <a:rPr lang="en-US" sz="2000" b="1" dirty="0">
                <a:solidFill>
                  <a:srgbClr val="131B26"/>
                </a:solidFill>
                <a:latin typeface="Arial" pitchFamily="34" charset="0"/>
                <a:ea typeface="Arial" pitchFamily="34" charset="-122"/>
                <a:cs typeface="Arial" pitchFamily="34" charset="-120"/>
              </a:rPr>
              <a:t>Admin Dashboard</a:t>
            </a:r>
            <a:endParaRPr lang="en-US" sz="2000" dirty="0"/>
          </a:p>
        </p:txBody>
      </p:sp>
      <p:sp>
        <p:nvSpPr>
          <p:cNvPr id="11" name="Text 7"/>
          <p:cNvSpPr txBox="1"/>
          <p:nvPr/>
        </p:nvSpPr>
        <p:spPr>
          <a:xfrm>
            <a:off x="914400" y="3017520"/>
            <a:ext cx="4663440" cy="2926080"/>
          </a:xfrm>
          <a:prstGeom prst="rect">
            <a:avLst/>
          </a:prstGeom>
          <a:noFill/>
          <a:ln/>
        </p:spPr>
        <p:txBody>
          <a:bodyPr wrap="square" lIns="0" tIns="0" rIns="0" bIns="0" rtlCol="0" anchor="t"/>
          <a:lstStyle/>
          <a:p>
            <a:pPr marL="177800" indent="-177800">
              <a:spcAft>
                <a:spcPts val="1400"/>
              </a:spcAft>
              <a:buSzPct val="100000"/>
              <a:buChar char="•"/>
            </a:pPr>
            <a:r>
              <a:rPr lang="en-US" sz="1600" dirty="0">
                <a:solidFill>
                  <a:srgbClr val="131B26"/>
                </a:solidFill>
                <a:latin typeface="Calibri" pitchFamily="34" charset="0"/>
                <a:ea typeface="Calibri" pitchFamily="34" charset="-122"/>
                <a:cs typeface="Calibri" pitchFamily="34" charset="-120"/>
              </a:rPr>
              <a:t>Manage students, mentors, and applications</a:t>
            </a:r>
            <a:endParaRPr lang="en-US" sz="1600" dirty="0"/>
          </a:p>
          <a:p>
            <a:pPr marL="177800" indent="-177800">
              <a:spcAft>
                <a:spcPts val="1400"/>
              </a:spcAft>
              <a:buSzPct val="100000"/>
              <a:buChar char="•"/>
            </a:pPr>
            <a:r>
              <a:rPr lang="en-US" sz="1600" dirty="0">
                <a:solidFill>
                  <a:srgbClr val="131B26"/>
                </a:solidFill>
                <a:latin typeface="Calibri" pitchFamily="34" charset="0"/>
                <a:ea typeface="Calibri" pitchFamily="34" charset="-122"/>
                <a:cs typeface="Calibri" pitchFamily="34" charset="-120"/>
              </a:rPr>
              <a:t>Create bundles, batches, and test series</a:t>
            </a:r>
            <a:endParaRPr lang="en-US" sz="1600" dirty="0"/>
          </a:p>
          <a:p>
            <a:pPr marL="177800" indent="-177800">
              <a:spcAft>
                <a:spcPts val="1400"/>
              </a:spcAft>
              <a:buSzPct val="100000"/>
              <a:buChar char="•"/>
            </a:pPr>
            <a:r>
              <a:rPr lang="en-US" sz="1600" dirty="0">
                <a:solidFill>
                  <a:srgbClr val="131B26"/>
                </a:solidFill>
                <a:latin typeface="Calibri" pitchFamily="34" charset="0"/>
                <a:ea typeface="Calibri" pitchFamily="34" charset="-122"/>
                <a:cs typeface="Calibri" pitchFamily="34" charset="-120"/>
              </a:rPr>
              <a:t>Question ingestion with image upload</a:t>
            </a:r>
            <a:endParaRPr lang="en-US" sz="1600" dirty="0"/>
          </a:p>
          <a:p>
            <a:pPr marL="177800" indent="-177800">
              <a:spcAft>
                <a:spcPts val="1400"/>
              </a:spcAft>
              <a:buSzPct val="100000"/>
              <a:buChar char="•"/>
            </a:pPr>
            <a:r>
              <a:rPr lang="en-US" sz="1600" dirty="0">
                <a:solidFill>
                  <a:srgbClr val="131B26"/>
                </a:solidFill>
                <a:latin typeface="Calibri" pitchFamily="34" charset="0"/>
                <a:ea typeface="Calibri" pitchFamily="34" charset="-122"/>
                <a:cs typeface="Calibri" pitchFamily="34" charset="-120"/>
              </a:rPr>
              <a:t>Review and price mentor-submitted tests</a:t>
            </a:r>
            <a:endParaRPr lang="en-US" sz="1600" dirty="0"/>
          </a:p>
          <a:p>
            <a:pPr marL="177800" indent="-177800">
              <a:spcAft>
                <a:spcPts val="1400"/>
              </a:spcAft>
              <a:buSzPct val="100000"/>
              <a:buChar char="•"/>
            </a:pPr>
            <a:r>
              <a:rPr lang="en-US" sz="1600" dirty="0">
                <a:solidFill>
                  <a:srgbClr val="131B26"/>
                </a:solidFill>
                <a:latin typeface="Calibri" pitchFamily="34" charset="0"/>
                <a:ea typeface="Calibri" pitchFamily="34" charset="-122"/>
                <a:cs typeface="Calibri" pitchFamily="34" charset="-120"/>
              </a:rPr>
              <a:t>Purchases, refunds, and support tickets</a:t>
            </a:r>
            <a:endParaRPr lang="en-US" sz="1600" dirty="0"/>
          </a:p>
          <a:p>
            <a:pPr marL="177800" indent="-177800">
              <a:spcAft>
                <a:spcPts val="1400"/>
              </a:spcAft>
              <a:buSzPct val="100000"/>
              <a:buChar char="•"/>
            </a:pPr>
            <a:r>
              <a:rPr lang="en-US" sz="1600" dirty="0">
                <a:solidFill>
                  <a:srgbClr val="131B26"/>
                </a:solidFill>
                <a:latin typeface="Calibri" pitchFamily="34" charset="0"/>
                <a:ea typeface="Calibri" pitchFamily="34" charset="-122"/>
                <a:cs typeface="Calibri" pitchFamily="34" charset="-120"/>
              </a:rPr>
              <a:t>Promoter payouts and coupon approvals</a:t>
            </a:r>
            <a:endParaRPr lang="en-US" sz="1600" dirty="0"/>
          </a:p>
        </p:txBody>
      </p:sp>
      <p:sp>
        <p:nvSpPr>
          <p:cNvPr id="12" name="Shape 8"/>
          <p:cNvSpPr/>
          <p:nvPr/>
        </p:nvSpPr>
        <p:spPr>
          <a:xfrm>
            <a:off x="6153912" y="1691640"/>
            <a:ext cx="5477256" cy="2103120"/>
          </a:xfrm>
          <a:prstGeom prst="roundRect">
            <a:avLst>
              <a:gd name="adj" fmla="val 9565"/>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13" name="Shape 9"/>
          <p:cNvSpPr/>
          <p:nvPr/>
        </p:nvSpPr>
        <p:spPr>
          <a:xfrm>
            <a:off x="6428232" y="1920240"/>
            <a:ext cx="548640" cy="548640"/>
          </a:xfrm>
          <a:prstGeom prst="ellipse">
            <a:avLst/>
          </a:prstGeom>
          <a:solidFill>
            <a:srgbClr val="CBEFD6"/>
          </a:solidFill>
          <a:ln w="12700">
            <a:solidFill>
              <a:srgbClr val="CBEFD6"/>
            </a:solidFill>
            <a:prstDash val="solid"/>
          </a:ln>
        </p:spPr>
      </p:sp>
      <p:pic>
        <p:nvPicPr>
          <p:cNvPr id="14" name="Image 2" descr="preencoded.png">    </p:cNvPr>
          <p:cNvPicPr>
            <a:picLocks noChangeAspect="1"/>
          </p:cNvPicPr>
          <p:nvPr/>
        </p:nvPicPr>
        <p:blipFill>
          <a:blip r:embed="rId3"/>
          <a:stretch>
            <a:fillRect/>
          </a:stretch>
        </p:blipFill>
        <p:spPr>
          <a:xfrm>
            <a:off x="6565392" y="2057400"/>
            <a:ext cx="274320" cy="274320"/>
          </a:xfrm>
          <a:prstGeom prst="rect">
            <a:avLst/>
          </a:prstGeom>
        </p:spPr>
      </p:pic>
      <p:sp>
        <p:nvSpPr>
          <p:cNvPr id="15" name="Text 10"/>
          <p:cNvSpPr txBox="1"/>
          <p:nvPr/>
        </p:nvSpPr>
        <p:spPr>
          <a:xfrm>
            <a:off x="7159752" y="2029968"/>
            <a:ext cx="3657600" cy="36576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Promoter Portal</a:t>
            </a:r>
            <a:endParaRPr lang="en-US" sz="1800" dirty="0"/>
          </a:p>
        </p:txBody>
      </p:sp>
      <p:sp>
        <p:nvSpPr>
          <p:cNvPr id="16" name="Text 11"/>
          <p:cNvSpPr txBox="1"/>
          <p:nvPr/>
        </p:nvSpPr>
        <p:spPr>
          <a:xfrm>
            <a:off x="6473952" y="2743200"/>
            <a:ext cx="4837176" cy="960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31B26"/>
                </a:solidFill>
                <a:latin typeface="Calibri" pitchFamily="34" charset="0"/>
                <a:ea typeface="Calibri" pitchFamily="34" charset="-122"/>
                <a:cs typeface="Calibri" pitchFamily="34" charset="-120"/>
              </a:rPr>
              <a:t>Choose batches to promote and track sales</a:t>
            </a:r>
            <a:endParaRPr lang="en-US" sz="1300" dirty="0"/>
          </a:p>
          <a:p>
            <a:pPr marL="177800" indent="-177800">
              <a:spcAft>
                <a:spcPts val="500"/>
              </a:spcAft>
              <a:buSzPct val="100000"/>
              <a:buChar char="•"/>
            </a:pPr>
            <a:r>
              <a:rPr lang="en-US" sz="1300" dirty="0">
                <a:solidFill>
                  <a:srgbClr val="131B26"/>
                </a:solidFill>
                <a:latin typeface="Calibri" pitchFamily="34" charset="0"/>
                <a:ea typeface="Calibri" pitchFamily="34" charset="-122"/>
                <a:cs typeface="Calibri" pitchFamily="34" charset="-120"/>
              </a:rPr>
              <a:t>Request coupons and payouts</a:t>
            </a:r>
            <a:endParaRPr lang="en-US" sz="1300" dirty="0"/>
          </a:p>
          <a:p>
            <a:pPr marL="177800" indent="-177800">
              <a:spcAft>
                <a:spcPts val="500"/>
              </a:spcAft>
              <a:buSzPct val="100000"/>
              <a:buChar char="•"/>
            </a:pPr>
            <a:r>
              <a:rPr lang="en-US" sz="1300" dirty="0">
                <a:solidFill>
                  <a:srgbClr val="131B26"/>
                </a:solidFill>
                <a:latin typeface="Calibri" pitchFamily="34" charset="0"/>
                <a:ea typeface="Calibri" pitchFamily="34" charset="-122"/>
                <a:cs typeface="Calibri" pitchFamily="34" charset="-120"/>
              </a:rPr>
              <a:t>Profile stats and support tickets</a:t>
            </a:r>
            <a:endParaRPr lang="en-US" sz="1300" dirty="0"/>
          </a:p>
        </p:txBody>
      </p:sp>
      <p:sp>
        <p:nvSpPr>
          <p:cNvPr id="17" name="Shape 12"/>
          <p:cNvSpPr/>
          <p:nvPr/>
        </p:nvSpPr>
        <p:spPr>
          <a:xfrm>
            <a:off x="6153912" y="4023360"/>
            <a:ext cx="5477256" cy="2103120"/>
          </a:xfrm>
          <a:prstGeom prst="roundRect">
            <a:avLst>
              <a:gd name="adj" fmla="val 9565"/>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18" name="Shape 13"/>
          <p:cNvSpPr/>
          <p:nvPr/>
        </p:nvSpPr>
        <p:spPr>
          <a:xfrm>
            <a:off x="6428232" y="4251960"/>
            <a:ext cx="548640" cy="548640"/>
          </a:xfrm>
          <a:prstGeom prst="ellipse">
            <a:avLst/>
          </a:prstGeom>
          <a:solidFill>
            <a:srgbClr val="F7ECBE"/>
          </a:solidFill>
          <a:ln w="12700">
            <a:solidFill>
              <a:srgbClr val="F7ECBE"/>
            </a:solidFill>
            <a:prstDash val="solid"/>
          </a:ln>
        </p:spPr>
      </p:sp>
      <p:pic>
        <p:nvPicPr>
          <p:cNvPr id="19" name="Image 3" descr="preencoded.png">    </p:cNvPr>
          <p:cNvPicPr>
            <a:picLocks noChangeAspect="1"/>
          </p:cNvPicPr>
          <p:nvPr/>
        </p:nvPicPr>
        <p:blipFill>
          <a:blip r:embed="rId4"/>
          <a:stretch>
            <a:fillRect/>
          </a:stretch>
        </p:blipFill>
        <p:spPr>
          <a:xfrm>
            <a:off x="6565392" y="4389120"/>
            <a:ext cx="274320" cy="274320"/>
          </a:xfrm>
          <a:prstGeom prst="rect">
            <a:avLst/>
          </a:prstGeom>
        </p:spPr>
      </p:pic>
      <p:sp>
        <p:nvSpPr>
          <p:cNvPr id="20" name="Text 14"/>
          <p:cNvSpPr txBox="1"/>
          <p:nvPr/>
        </p:nvSpPr>
        <p:spPr>
          <a:xfrm>
            <a:off x="7159752" y="4361688"/>
            <a:ext cx="3657600" cy="365760"/>
          </a:xfrm>
          <a:prstGeom prst="rect">
            <a:avLst/>
          </a:prstGeom>
          <a:noFill/>
          <a:ln/>
        </p:spPr>
        <p:txBody>
          <a:bodyPr wrap="square" lIns="0" tIns="0" rIns="0" bIns="0" rtlCol="0" anchor="t"/>
          <a:lstStyle/>
          <a:p>
            <a:pPr algn="l" indent="0" marL="0">
              <a:buNone/>
            </a:pPr>
            <a:r>
              <a:rPr lang="en-US" sz="1800" b="1" dirty="0">
                <a:solidFill>
                  <a:srgbClr val="131B26"/>
                </a:solidFill>
                <a:latin typeface="Arial" pitchFamily="34" charset="0"/>
                <a:ea typeface="Arial" pitchFamily="34" charset="-122"/>
                <a:cs typeface="Arial" pitchFamily="34" charset="-120"/>
              </a:rPr>
              <a:t>Intern Hub</a:t>
            </a:r>
            <a:endParaRPr lang="en-US" sz="1800" dirty="0"/>
          </a:p>
        </p:txBody>
      </p:sp>
      <p:sp>
        <p:nvSpPr>
          <p:cNvPr id="21" name="Text 15"/>
          <p:cNvSpPr txBox="1"/>
          <p:nvPr/>
        </p:nvSpPr>
        <p:spPr>
          <a:xfrm>
            <a:off x="6473952" y="5074920"/>
            <a:ext cx="4837176" cy="960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31B26"/>
                </a:solidFill>
                <a:latin typeface="Calibri" pitchFamily="34" charset="0"/>
                <a:ea typeface="Calibri" pitchFamily="34" charset="-122"/>
                <a:cs typeface="Calibri" pitchFamily="34" charset="-120"/>
              </a:rPr>
              <a:t>Applications, trials, and task assignment</a:t>
            </a:r>
            <a:endParaRPr lang="en-US" sz="1300" dirty="0"/>
          </a:p>
          <a:p>
            <a:pPr marL="177800" indent="-177800">
              <a:spcAft>
                <a:spcPts val="500"/>
              </a:spcAft>
              <a:buSzPct val="100000"/>
              <a:buChar char="•"/>
            </a:pPr>
            <a:r>
              <a:rPr lang="en-US" sz="1300" dirty="0">
                <a:solidFill>
                  <a:srgbClr val="131B26"/>
                </a:solidFill>
                <a:latin typeface="Calibri" pitchFamily="34" charset="0"/>
                <a:ea typeface="Calibri" pitchFamily="34" charset="-122"/>
                <a:cs typeface="Calibri" pitchFamily="34" charset="-120"/>
              </a:rPr>
              <a:t>Task workspace with question drafts and review</a:t>
            </a:r>
            <a:endParaRPr lang="en-US" sz="1300" dirty="0"/>
          </a:p>
          <a:p>
            <a:pPr marL="177800" indent="-177800">
              <a:spcAft>
                <a:spcPts val="500"/>
              </a:spcAft>
              <a:buSzPct val="100000"/>
              <a:buChar char="•"/>
            </a:pPr>
            <a:r>
              <a:rPr lang="en-US" sz="1300" dirty="0">
                <a:solidFill>
                  <a:srgbClr val="131B26"/>
                </a:solidFill>
                <a:latin typeface="Calibri" pitchFamily="34" charset="0"/>
                <a:ea typeface="Calibri" pitchFamily="34" charset="-122"/>
                <a:cs typeface="Calibri" pitchFamily="34" charset="-120"/>
              </a:rPr>
              <a:t>Auto-generated offer letter and certificate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TOOLBOX</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Technologies and Tools</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600200"/>
            <a:ext cx="11094415" cy="676656"/>
          </a:xfrm>
          <a:prstGeom prst="roundRect">
            <a:avLst>
              <a:gd name="adj" fmla="val 2702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8" name="Shape 5"/>
          <p:cNvSpPr/>
          <p:nvPr/>
        </p:nvSpPr>
        <p:spPr>
          <a:xfrm>
            <a:off x="731520" y="1691640"/>
            <a:ext cx="493776" cy="493776"/>
          </a:xfrm>
          <a:prstGeom prst="ellipse">
            <a:avLst/>
          </a:prstGeom>
          <a:solidFill>
            <a:srgbClr val="D2ECFC"/>
          </a:solidFill>
          <a:ln w="12700">
            <a:solidFill>
              <a:srgbClr val="D2ECFC"/>
            </a:solidFill>
            <a:prstDash val="solid"/>
          </a:ln>
        </p:spPr>
      </p:sp>
      <p:pic>
        <p:nvPicPr>
          <p:cNvPr id="9" name="Image 1" descr="preencoded.png">    </p:cNvPr>
          <p:cNvPicPr>
            <a:picLocks noChangeAspect="1"/>
          </p:cNvPicPr>
          <p:nvPr/>
        </p:nvPicPr>
        <p:blipFill>
          <a:blip r:embed="rId2"/>
          <a:stretch>
            <a:fillRect/>
          </a:stretch>
        </p:blipFill>
        <p:spPr>
          <a:xfrm>
            <a:off x="854964" y="1815084"/>
            <a:ext cx="246888" cy="246888"/>
          </a:xfrm>
          <a:prstGeom prst="rect">
            <a:avLst/>
          </a:prstGeom>
        </p:spPr>
      </p:pic>
      <p:sp>
        <p:nvSpPr>
          <p:cNvPr id="10" name="Text 6"/>
          <p:cNvSpPr txBox="1"/>
          <p:nvPr/>
        </p:nvSpPr>
        <p:spPr>
          <a:xfrm>
            <a:off x="1417320" y="1600200"/>
            <a:ext cx="1828800" cy="676656"/>
          </a:xfrm>
          <a:prstGeom prst="rect">
            <a:avLst/>
          </a:prstGeom>
          <a:noFill/>
          <a:ln/>
        </p:spPr>
        <p:txBody>
          <a:bodyPr wrap="square" lIns="0" tIns="0" rIns="0" bIns="0" rtlCol="0" anchor="ctr"/>
          <a:lstStyle/>
          <a:p>
            <a:pPr algn="l" indent="0" marL="0">
              <a:buNone/>
            </a:pPr>
            <a:r>
              <a:rPr lang="en-US" sz="1500" b="1" dirty="0">
                <a:solidFill>
                  <a:srgbClr val="131B26"/>
                </a:solidFill>
                <a:latin typeface="Arial" pitchFamily="34" charset="0"/>
                <a:ea typeface="Arial" pitchFamily="34" charset="-122"/>
                <a:cs typeface="Arial" pitchFamily="34" charset="-120"/>
              </a:rPr>
              <a:t>Frontend</a:t>
            </a:r>
            <a:endParaRPr lang="en-US" sz="1500" dirty="0"/>
          </a:p>
        </p:txBody>
      </p:sp>
      <p:sp>
        <p:nvSpPr>
          <p:cNvPr id="11" name="Shape 7"/>
          <p:cNvSpPr/>
          <p:nvPr/>
        </p:nvSpPr>
        <p:spPr>
          <a:xfrm>
            <a:off x="3337560" y="1764792"/>
            <a:ext cx="708660" cy="347472"/>
          </a:xfrm>
          <a:prstGeom prst="roundRect">
            <a:avLst>
              <a:gd name="adj" fmla="val 50000"/>
            </a:avLst>
          </a:prstGeom>
          <a:solidFill>
            <a:srgbClr val="D2ECFC"/>
          </a:solidFill>
          <a:ln w="9525">
            <a:solidFill>
              <a:srgbClr val="D2ECFC"/>
            </a:solidFill>
            <a:prstDash val="solid"/>
          </a:ln>
        </p:spPr>
      </p:sp>
      <p:sp>
        <p:nvSpPr>
          <p:cNvPr id="12" name="Text 8"/>
          <p:cNvSpPr txBox="1"/>
          <p:nvPr/>
        </p:nvSpPr>
        <p:spPr>
          <a:xfrm>
            <a:off x="3337560" y="1764792"/>
            <a:ext cx="70866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React</a:t>
            </a:r>
            <a:endParaRPr lang="en-US" sz="1200" dirty="0"/>
          </a:p>
        </p:txBody>
      </p:sp>
      <p:sp>
        <p:nvSpPr>
          <p:cNvPr id="13" name="Shape 9"/>
          <p:cNvSpPr/>
          <p:nvPr/>
        </p:nvSpPr>
        <p:spPr>
          <a:xfrm>
            <a:off x="4155948" y="1764792"/>
            <a:ext cx="1051560" cy="347472"/>
          </a:xfrm>
          <a:prstGeom prst="roundRect">
            <a:avLst>
              <a:gd name="adj" fmla="val 50000"/>
            </a:avLst>
          </a:prstGeom>
          <a:solidFill>
            <a:srgbClr val="D2ECFC"/>
          </a:solidFill>
          <a:ln w="9525">
            <a:solidFill>
              <a:srgbClr val="D2ECFC"/>
            </a:solidFill>
            <a:prstDash val="solid"/>
          </a:ln>
        </p:spPr>
      </p:sp>
      <p:sp>
        <p:nvSpPr>
          <p:cNvPr id="14" name="Text 10"/>
          <p:cNvSpPr txBox="1"/>
          <p:nvPr/>
        </p:nvSpPr>
        <p:spPr>
          <a:xfrm>
            <a:off x="4155948" y="1764792"/>
            <a:ext cx="105156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TypeScript</a:t>
            </a:r>
            <a:endParaRPr lang="en-US" sz="1200" dirty="0"/>
          </a:p>
        </p:txBody>
      </p:sp>
      <p:sp>
        <p:nvSpPr>
          <p:cNvPr id="15" name="Shape 11"/>
          <p:cNvSpPr/>
          <p:nvPr/>
        </p:nvSpPr>
        <p:spPr>
          <a:xfrm>
            <a:off x="5317236" y="1764792"/>
            <a:ext cx="1394460" cy="347472"/>
          </a:xfrm>
          <a:prstGeom prst="roundRect">
            <a:avLst>
              <a:gd name="adj" fmla="val 50000"/>
            </a:avLst>
          </a:prstGeom>
          <a:solidFill>
            <a:srgbClr val="D2ECFC"/>
          </a:solidFill>
          <a:ln w="9525">
            <a:solidFill>
              <a:srgbClr val="D2ECFC"/>
            </a:solidFill>
            <a:prstDash val="solid"/>
          </a:ln>
        </p:spPr>
      </p:sp>
      <p:sp>
        <p:nvSpPr>
          <p:cNvPr id="16" name="Text 12"/>
          <p:cNvSpPr txBox="1"/>
          <p:nvPr/>
        </p:nvSpPr>
        <p:spPr>
          <a:xfrm>
            <a:off x="5317236" y="1764792"/>
            <a:ext cx="139446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TanStack Router</a:t>
            </a:r>
            <a:endParaRPr lang="en-US" sz="1200" dirty="0"/>
          </a:p>
        </p:txBody>
      </p:sp>
      <p:sp>
        <p:nvSpPr>
          <p:cNvPr id="17" name="Shape 13"/>
          <p:cNvSpPr/>
          <p:nvPr/>
        </p:nvSpPr>
        <p:spPr>
          <a:xfrm>
            <a:off x="6821424" y="1764792"/>
            <a:ext cx="1325880" cy="347472"/>
          </a:xfrm>
          <a:prstGeom prst="roundRect">
            <a:avLst>
              <a:gd name="adj" fmla="val 50000"/>
            </a:avLst>
          </a:prstGeom>
          <a:solidFill>
            <a:srgbClr val="D2ECFC"/>
          </a:solidFill>
          <a:ln w="9525">
            <a:solidFill>
              <a:srgbClr val="D2ECFC"/>
            </a:solidFill>
            <a:prstDash val="solid"/>
          </a:ln>
        </p:spPr>
      </p:sp>
      <p:sp>
        <p:nvSpPr>
          <p:cNvPr id="18" name="Text 14"/>
          <p:cNvSpPr txBox="1"/>
          <p:nvPr/>
        </p:nvSpPr>
        <p:spPr>
          <a:xfrm>
            <a:off x="6821424" y="1764792"/>
            <a:ext cx="132588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TanStack Query</a:t>
            </a:r>
            <a:endParaRPr lang="en-US" sz="1200" dirty="0"/>
          </a:p>
        </p:txBody>
      </p:sp>
      <p:sp>
        <p:nvSpPr>
          <p:cNvPr id="19" name="Shape 15"/>
          <p:cNvSpPr/>
          <p:nvPr/>
        </p:nvSpPr>
        <p:spPr>
          <a:xfrm>
            <a:off x="8257032" y="1764792"/>
            <a:ext cx="1188720" cy="347472"/>
          </a:xfrm>
          <a:prstGeom prst="roundRect">
            <a:avLst>
              <a:gd name="adj" fmla="val 50000"/>
            </a:avLst>
          </a:prstGeom>
          <a:solidFill>
            <a:srgbClr val="D2ECFC"/>
          </a:solidFill>
          <a:ln w="9525">
            <a:solidFill>
              <a:srgbClr val="D2ECFC"/>
            </a:solidFill>
            <a:prstDash val="solid"/>
          </a:ln>
        </p:spPr>
      </p:sp>
      <p:sp>
        <p:nvSpPr>
          <p:cNvPr id="20" name="Text 16"/>
          <p:cNvSpPr txBox="1"/>
          <p:nvPr/>
        </p:nvSpPr>
        <p:spPr>
          <a:xfrm>
            <a:off x="8257032" y="1764792"/>
            <a:ext cx="118872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Tailwind CSS</a:t>
            </a:r>
            <a:endParaRPr lang="en-US" sz="1200" dirty="0"/>
          </a:p>
        </p:txBody>
      </p:sp>
      <p:sp>
        <p:nvSpPr>
          <p:cNvPr id="21" name="Shape 17"/>
          <p:cNvSpPr/>
          <p:nvPr/>
        </p:nvSpPr>
        <p:spPr>
          <a:xfrm>
            <a:off x="9555480" y="1764792"/>
            <a:ext cx="1325880" cy="347472"/>
          </a:xfrm>
          <a:prstGeom prst="roundRect">
            <a:avLst>
              <a:gd name="adj" fmla="val 50000"/>
            </a:avLst>
          </a:prstGeom>
          <a:solidFill>
            <a:srgbClr val="D2ECFC"/>
          </a:solidFill>
          <a:ln w="9525">
            <a:solidFill>
              <a:srgbClr val="D2ECFC"/>
            </a:solidFill>
            <a:prstDash val="solid"/>
          </a:ln>
        </p:spPr>
      </p:sp>
      <p:sp>
        <p:nvSpPr>
          <p:cNvPr id="22" name="Text 18"/>
          <p:cNvSpPr txBox="1"/>
          <p:nvPr/>
        </p:nvSpPr>
        <p:spPr>
          <a:xfrm>
            <a:off x="9555480" y="1764792"/>
            <a:ext cx="132588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Radix / shadcn</a:t>
            </a:r>
            <a:endParaRPr lang="en-US" sz="1200" dirty="0"/>
          </a:p>
        </p:txBody>
      </p:sp>
      <p:sp>
        <p:nvSpPr>
          <p:cNvPr id="23" name="Shape 19"/>
          <p:cNvSpPr/>
          <p:nvPr/>
        </p:nvSpPr>
        <p:spPr>
          <a:xfrm>
            <a:off x="548640" y="2359152"/>
            <a:ext cx="11094415" cy="676656"/>
          </a:xfrm>
          <a:prstGeom prst="roundRect">
            <a:avLst>
              <a:gd name="adj" fmla="val 2702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4" name="Shape 20"/>
          <p:cNvSpPr/>
          <p:nvPr/>
        </p:nvSpPr>
        <p:spPr>
          <a:xfrm>
            <a:off x="731520" y="2450592"/>
            <a:ext cx="493776" cy="493776"/>
          </a:xfrm>
          <a:prstGeom prst="ellipse">
            <a:avLst/>
          </a:prstGeom>
          <a:solidFill>
            <a:srgbClr val="C7EEEA"/>
          </a:solidFill>
          <a:ln w="12700">
            <a:solidFill>
              <a:srgbClr val="C7EEEA"/>
            </a:solidFill>
            <a:prstDash val="solid"/>
          </a:ln>
        </p:spPr>
      </p:sp>
      <p:pic>
        <p:nvPicPr>
          <p:cNvPr id="25" name="Image 2" descr="preencoded.png">    </p:cNvPr>
          <p:cNvPicPr>
            <a:picLocks noChangeAspect="1"/>
          </p:cNvPicPr>
          <p:nvPr/>
        </p:nvPicPr>
        <p:blipFill>
          <a:blip r:embed="rId3"/>
          <a:stretch>
            <a:fillRect/>
          </a:stretch>
        </p:blipFill>
        <p:spPr>
          <a:xfrm>
            <a:off x="854964" y="2574036"/>
            <a:ext cx="246888" cy="246888"/>
          </a:xfrm>
          <a:prstGeom prst="rect">
            <a:avLst/>
          </a:prstGeom>
        </p:spPr>
      </p:pic>
      <p:sp>
        <p:nvSpPr>
          <p:cNvPr id="26" name="Text 21"/>
          <p:cNvSpPr txBox="1"/>
          <p:nvPr/>
        </p:nvSpPr>
        <p:spPr>
          <a:xfrm>
            <a:off x="1417320" y="2359152"/>
            <a:ext cx="1828800" cy="676656"/>
          </a:xfrm>
          <a:prstGeom prst="rect">
            <a:avLst/>
          </a:prstGeom>
          <a:noFill/>
          <a:ln/>
        </p:spPr>
        <p:txBody>
          <a:bodyPr wrap="square" lIns="0" tIns="0" rIns="0" bIns="0" rtlCol="0" anchor="ctr"/>
          <a:lstStyle/>
          <a:p>
            <a:pPr algn="l" indent="0" marL="0">
              <a:buNone/>
            </a:pPr>
            <a:r>
              <a:rPr lang="en-US" sz="1500" b="1" dirty="0">
                <a:solidFill>
                  <a:srgbClr val="131B26"/>
                </a:solidFill>
                <a:latin typeface="Arial" pitchFamily="34" charset="0"/>
                <a:ea typeface="Arial" pitchFamily="34" charset="-122"/>
                <a:cs typeface="Arial" pitchFamily="34" charset="-120"/>
              </a:rPr>
              <a:t>Backend</a:t>
            </a:r>
            <a:endParaRPr lang="en-US" sz="1500" dirty="0"/>
          </a:p>
        </p:txBody>
      </p:sp>
      <p:sp>
        <p:nvSpPr>
          <p:cNvPr id="27" name="Shape 22"/>
          <p:cNvSpPr/>
          <p:nvPr/>
        </p:nvSpPr>
        <p:spPr>
          <a:xfrm>
            <a:off x="3337560" y="2523744"/>
            <a:ext cx="1325880" cy="347472"/>
          </a:xfrm>
          <a:prstGeom prst="roundRect">
            <a:avLst>
              <a:gd name="adj" fmla="val 50000"/>
            </a:avLst>
          </a:prstGeom>
          <a:solidFill>
            <a:srgbClr val="C7EEEA"/>
          </a:solidFill>
          <a:ln w="9525">
            <a:solidFill>
              <a:srgbClr val="C7EEEA"/>
            </a:solidFill>
            <a:prstDash val="solid"/>
          </a:ln>
        </p:spPr>
      </p:sp>
      <p:sp>
        <p:nvSpPr>
          <p:cNvPr id="28" name="Text 23"/>
          <p:cNvSpPr txBox="1"/>
          <p:nvPr/>
        </p:nvSpPr>
        <p:spPr>
          <a:xfrm>
            <a:off x="3337560" y="2523744"/>
            <a:ext cx="132588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TanStack Start</a:t>
            </a:r>
            <a:endParaRPr lang="en-US" sz="1200" dirty="0"/>
          </a:p>
        </p:txBody>
      </p:sp>
      <p:sp>
        <p:nvSpPr>
          <p:cNvPr id="29" name="Shape 24"/>
          <p:cNvSpPr/>
          <p:nvPr/>
        </p:nvSpPr>
        <p:spPr>
          <a:xfrm>
            <a:off x="4773168" y="2523744"/>
            <a:ext cx="1463040" cy="347472"/>
          </a:xfrm>
          <a:prstGeom prst="roundRect">
            <a:avLst>
              <a:gd name="adj" fmla="val 50000"/>
            </a:avLst>
          </a:prstGeom>
          <a:solidFill>
            <a:srgbClr val="C7EEEA"/>
          </a:solidFill>
          <a:ln w="9525">
            <a:solidFill>
              <a:srgbClr val="C7EEEA"/>
            </a:solidFill>
            <a:prstDash val="solid"/>
          </a:ln>
        </p:spPr>
      </p:sp>
      <p:sp>
        <p:nvSpPr>
          <p:cNvPr id="30" name="Text 25"/>
          <p:cNvSpPr txBox="1"/>
          <p:nvPr/>
        </p:nvSpPr>
        <p:spPr>
          <a:xfrm>
            <a:off x="4773168" y="2523744"/>
            <a:ext cx="146304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Server functions</a:t>
            </a:r>
            <a:endParaRPr lang="en-US" sz="1200" dirty="0"/>
          </a:p>
        </p:txBody>
      </p:sp>
      <p:sp>
        <p:nvSpPr>
          <p:cNvPr id="31" name="Shape 26"/>
          <p:cNvSpPr/>
          <p:nvPr/>
        </p:nvSpPr>
        <p:spPr>
          <a:xfrm>
            <a:off x="6345936" y="2523744"/>
            <a:ext cx="845820" cy="347472"/>
          </a:xfrm>
          <a:prstGeom prst="roundRect">
            <a:avLst>
              <a:gd name="adj" fmla="val 50000"/>
            </a:avLst>
          </a:prstGeom>
          <a:solidFill>
            <a:srgbClr val="C7EEEA"/>
          </a:solidFill>
          <a:ln w="9525">
            <a:solidFill>
              <a:srgbClr val="C7EEEA"/>
            </a:solidFill>
            <a:prstDash val="solid"/>
          </a:ln>
        </p:spPr>
      </p:sp>
      <p:sp>
        <p:nvSpPr>
          <p:cNvPr id="32" name="Text 27"/>
          <p:cNvSpPr txBox="1"/>
          <p:nvPr/>
        </p:nvSpPr>
        <p:spPr>
          <a:xfrm>
            <a:off x="6345936" y="2523744"/>
            <a:ext cx="84582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Node.js</a:t>
            </a:r>
            <a:endParaRPr lang="en-US" sz="1200" dirty="0"/>
          </a:p>
        </p:txBody>
      </p:sp>
      <p:sp>
        <p:nvSpPr>
          <p:cNvPr id="33" name="Shape 28"/>
          <p:cNvSpPr/>
          <p:nvPr/>
        </p:nvSpPr>
        <p:spPr>
          <a:xfrm>
            <a:off x="7301484" y="2523744"/>
            <a:ext cx="2080260" cy="347472"/>
          </a:xfrm>
          <a:prstGeom prst="roundRect">
            <a:avLst>
              <a:gd name="adj" fmla="val 50000"/>
            </a:avLst>
          </a:prstGeom>
          <a:solidFill>
            <a:srgbClr val="C7EEEA"/>
          </a:solidFill>
          <a:ln w="9525">
            <a:solidFill>
              <a:srgbClr val="C7EEEA"/>
            </a:solidFill>
            <a:prstDash val="solid"/>
          </a:ln>
        </p:spPr>
      </p:sp>
      <p:sp>
        <p:nvSpPr>
          <p:cNvPr id="34" name="Text 29"/>
          <p:cNvSpPr txBox="1"/>
          <p:nvPr/>
        </p:nvSpPr>
        <p:spPr>
          <a:xfrm>
            <a:off x="7301484" y="2523744"/>
            <a:ext cx="208026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Role-based access control</a:t>
            </a:r>
            <a:endParaRPr lang="en-US" sz="1200" dirty="0"/>
          </a:p>
        </p:txBody>
      </p:sp>
      <p:sp>
        <p:nvSpPr>
          <p:cNvPr id="35" name="Shape 30"/>
          <p:cNvSpPr/>
          <p:nvPr/>
        </p:nvSpPr>
        <p:spPr>
          <a:xfrm>
            <a:off x="548640" y="3118104"/>
            <a:ext cx="11094415" cy="676656"/>
          </a:xfrm>
          <a:prstGeom prst="roundRect">
            <a:avLst>
              <a:gd name="adj" fmla="val 2702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36" name="Shape 31"/>
          <p:cNvSpPr/>
          <p:nvPr/>
        </p:nvSpPr>
        <p:spPr>
          <a:xfrm>
            <a:off x="731520" y="3209544"/>
            <a:ext cx="493776" cy="493776"/>
          </a:xfrm>
          <a:prstGeom prst="ellipse">
            <a:avLst/>
          </a:prstGeom>
          <a:solidFill>
            <a:srgbClr val="EDDEF9"/>
          </a:solidFill>
          <a:ln w="12700">
            <a:solidFill>
              <a:srgbClr val="EDDEF9"/>
            </a:solidFill>
            <a:prstDash val="solid"/>
          </a:ln>
        </p:spPr>
      </p:sp>
      <p:pic>
        <p:nvPicPr>
          <p:cNvPr id="37" name="Image 3" descr="preencoded.png">    </p:cNvPr>
          <p:cNvPicPr>
            <a:picLocks noChangeAspect="1"/>
          </p:cNvPicPr>
          <p:nvPr/>
        </p:nvPicPr>
        <p:blipFill>
          <a:blip r:embed="rId4"/>
          <a:stretch>
            <a:fillRect/>
          </a:stretch>
        </p:blipFill>
        <p:spPr>
          <a:xfrm>
            <a:off x="854964" y="3332988"/>
            <a:ext cx="246888" cy="246888"/>
          </a:xfrm>
          <a:prstGeom prst="rect">
            <a:avLst/>
          </a:prstGeom>
        </p:spPr>
      </p:pic>
      <p:sp>
        <p:nvSpPr>
          <p:cNvPr id="38" name="Text 32"/>
          <p:cNvSpPr txBox="1"/>
          <p:nvPr/>
        </p:nvSpPr>
        <p:spPr>
          <a:xfrm>
            <a:off x="1417320" y="3118104"/>
            <a:ext cx="1828800" cy="676656"/>
          </a:xfrm>
          <a:prstGeom prst="rect">
            <a:avLst/>
          </a:prstGeom>
          <a:noFill/>
          <a:ln/>
        </p:spPr>
        <p:txBody>
          <a:bodyPr wrap="square" lIns="0" tIns="0" rIns="0" bIns="0" rtlCol="0" anchor="ctr"/>
          <a:lstStyle/>
          <a:p>
            <a:pPr algn="l" indent="0" marL="0">
              <a:buNone/>
            </a:pPr>
            <a:r>
              <a:rPr lang="en-US" sz="1500" b="1" dirty="0">
                <a:solidFill>
                  <a:srgbClr val="131B26"/>
                </a:solidFill>
                <a:latin typeface="Arial" pitchFamily="34" charset="0"/>
                <a:ea typeface="Arial" pitchFamily="34" charset="-122"/>
                <a:cs typeface="Arial" pitchFamily="34" charset="-120"/>
              </a:rPr>
              <a:t>Data &amp; storage</a:t>
            </a:r>
            <a:endParaRPr lang="en-US" sz="1500" dirty="0"/>
          </a:p>
        </p:txBody>
      </p:sp>
      <p:sp>
        <p:nvSpPr>
          <p:cNvPr id="39" name="Shape 33"/>
          <p:cNvSpPr/>
          <p:nvPr/>
        </p:nvSpPr>
        <p:spPr>
          <a:xfrm>
            <a:off x="3337560" y="3282696"/>
            <a:ext cx="1257300" cy="347472"/>
          </a:xfrm>
          <a:prstGeom prst="roundRect">
            <a:avLst>
              <a:gd name="adj" fmla="val 50000"/>
            </a:avLst>
          </a:prstGeom>
          <a:solidFill>
            <a:srgbClr val="EDDEF9"/>
          </a:solidFill>
          <a:ln w="9525">
            <a:solidFill>
              <a:srgbClr val="EDDEF9"/>
            </a:solidFill>
            <a:prstDash val="solid"/>
          </a:ln>
        </p:spPr>
      </p:sp>
      <p:sp>
        <p:nvSpPr>
          <p:cNvPr id="40" name="Text 34"/>
          <p:cNvSpPr txBox="1"/>
          <p:nvPr/>
        </p:nvSpPr>
        <p:spPr>
          <a:xfrm>
            <a:off x="3337560" y="3282696"/>
            <a:ext cx="125730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MongoDB Atlas</a:t>
            </a:r>
            <a:endParaRPr lang="en-US" sz="1200" dirty="0"/>
          </a:p>
        </p:txBody>
      </p:sp>
      <p:sp>
        <p:nvSpPr>
          <p:cNvPr id="41" name="Shape 35"/>
          <p:cNvSpPr/>
          <p:nvPr/>
        </p:nvSpPr>
        <p:spPr>
          <a:xfrm>
            <a:off x="4704588" y="3282696"/>
            <a:ext cx="777240" cy="347472"/>
          </a:xfrm>
          <a:prstGeom prst="roundRect">
            <a:avLst>
              <a:gd name="adj" fmla="val 50000"/>
            </a:avLst>
          </a:prstGeom>
          <a:solidFill>
            <a:srgbClr val="EDDEF9"/>
          </a:solidFill>
          <a:ln w="9525">
            <a:solidFill>
              <a:srgbClr val="EDDEF9"/>
            </a:solidFill>
            <a:prstDash val="solid"/>
          </a:ln>
        </p:spPr>
      </p:sp>
      <p:sp>
        <p:nvSpPr>
          <p:cNvPr id="42" name="Text 36"/>
          <p:cNvSpPr txBox="1"/>
          <p:nvPr/>
        </p:nvSpPr>
        <p:spPr>
          <a:xfrm>
            <a:off x="4704588" y="3282696"/>
            <a:ext cx="77724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AWS S3</a:t>
            </a:r>
            <a:endParaRPr lang="en-US" sz="1200" dirty="0"/>
          </a:p>
        </p:txBody>
      </p:sp>
      <p:sp>
        <p:nvSpPr>
          <p:cNvPr id="43" name="Shape 37"/>
          <p:cNvSpPr/>
          <p:nvPr/>
        </p:nvSpPr>
        <p:spPr>
          <a:xfrm>
            <a:off x="5591556" y="3282696"/>
            <a:ext cx="1051560" cy="347472"/>
          </a:xfrm>
          <a:prstGeom prst="roundRect">
            <a:avLst>
              <a:gd name="adj" fmla="val 50000"/>
            </a:avLst>
          </a:prstGeom>
          <a:solidFill>
            <a:srgbClr val="EDDEF9"/>
          </a:solidFill>
          <a:ln w="9525">
            <a:solidFill>
              <a:srgbClr val="EDDEF9"/>
            </a:solidFill>
            <a:prstDash val="solid"/>
          </a:ln>
        </p:spPr>
      </p:sp>
      <p:sp>
        <p:nvSpPr>
          <p:cNvPr id="44" name="Text 38"/>
          <p:cNvSpPr txBox="1"/>
          <p:nvPr/>
        </p:nvSpPr>
        <p:spPr>
          <a:xfrm>
            <a:off x="5591556" y="3282696"/>
            <a:ext cx="105156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CloudFront</a:t>
            </a:r>
            <a:endParaRPr lang="en-US" sz="1200" dirty="0"/>
          </a:p>
        </p:txBody>
      </p:sp>
      <p:sp>
        <p:nvSpPr>
          <p:cNvPr id="45" name="Shape 39"/>
          <p:cNvSpPr/>
          <p:nvPr/>
        </p:nvSpPr>
        <p:spPr>
          <a:xfrm>
            <a:off x="6752844" y="3282696"/>
            <a:ext cx="1463040" cy="347472"/>
          </a:xfrm>
          <a:prstGeom prst="roundRect">
            <a:avLst>
              <a:gd name="adj" fmla="val 50000"/>
            </a:avLst>
          </a:prstGeom>
          <a:solidFill>
            <a:srgbClr val="EDDEF9"/>
          </a:solidFill>
          <a:ln w="9525">
            <a:solidFill>
              <a:srgbClr val="EDDEF9"/>
            </a:solidFill>
            <a:prstDash val="solid"/>
          </a:ln>
        </p:spPr>
      </p:sp>
      <p:sp>
        <p:nvSpPr>
          <p:cNvPr id="46" name="Text 40"/>
          <p:cNvSpPr txBox="1"/>
          <p:nvPr/>
        </p:nvSpPr>
        <p:spPr>
          <a:xfrm>
            <a:off x="6752844" y="3282696"/>
            <a:ext cx="146304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Supabase Storage</a:t>
            </a:r>
            <a:endParaRPr lang="en-US" sz="1200" dirty="0"/>
          </a:p>
        </p:txBody>
      </p:sp>
      <p:sp>
        <p:nvSpPr>
          <p:cNvPr id="47" name="Shape 41"/>
          <p:cNvSpPr/>
          <p:nvPr/>
        </p:nvSpPr>
        <p:spPr>
          <a:xfrm>
            <a:off x="548640" y="3877056"/>
            <a:ext cx="11094415" cy="676656"/>
          </a:xfrm>
          <a:prstGeom prst="roundRect">
            <a:avLst>
              <a:gd name="adj" fmla="val 2702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48" name="Shape 42"/>
          <p:cNvSpPr/>
          <p:nvPr/>
        </p:nvSpPr>
        <p:spPr>
          <a:xfrm>
            <a:off x="731520" y="3968496"/>
            <a:ext cx="493776" cy="493776"/>
          </a:xfrm>
          <a:prstGeom prst="ellipse">
            <a:avLst/>
          </a:prstGeom>
          <a:solidFill>
            <a:srgbClr val="FFD6CD"/>
          </a:solidFill>
          <a:ln w="12700">
            <a:solidFill>
              <a:srgbClr val="FFD6CD"/>
            </a:solidFill>
            <a:prstDash val="solid"/>
          </a:ln>
        </p:spPr>
      </p:sp>
      <p:pic>
        <p:nvPicPr>
          <p:cNvPr id="49" name="Image 4" descr="preencoded.png">    </p:cNvPr>
          <p:cNvPicPr>
            <a:picLocks noChangeAspect="1"/>
          </p:cNvPicPr>
          <p:nvPr/>
        </p:nvPicPr>
        <p:blipFill>
          <a:blip r:embed="rId5"/>
          <a:stretch>
            <a:fillRect/>
          </a:stretch>
        </p:blipFill>
        <p:spPr>
          <a:xfrm>
            <a:off x="854964" y="4091940"/>
            <a:ext cx="246888" cy="246888"/>
          </a:xfrm>
          <a:prstGeom prst="rect">
            <a:avLst/>
          </a:prstGeom>
        </p:spPr>
      </p:pic>
      <p:sp>
        <p:nvSpPr>
          <p:cNvPr id="50" name="Text 43"/>
          <p:cNvSpPr txBox="1"/>
          <p:nvPr/>
        </p:nvSpPr>
        <p:spPr>
          <a:xfrm>
            <a:off x="1417320" y="3877056"/>
            <a:ext cx="1828800" cy="676656"/>
          </a:xfrm>
          <a:prstGeom prst="rect">
            <a:avLst/>
          </a:prstGeom>
          <a:noFill/>
          <a:ln/>
        </p:spPr>
        <p:txBody>
          <a:bodyPr wrap="square" lIns="0" tIns="0" rIns="0" bIns="0" rtlCol="0" anchor="ctr"/>
          <a:lstStyle/>
          <a:p>
            <a:pPr algn="l" indent="0" marL="0">
              <a:buNone/>
            </a:pPr>
            <a:r>
              <a:rPr lang="en-US" sz="1500" b="1" dirty="0">
                <a:solidFill>
                  <a:srgbClr val="131B26"/>
                </a:solidFill>
                <a:latin typeface="Arial" pitchFamily="34" charset="0"/>
                <a:ea typeface="Arial" pitchFamily="34" charset="-122"/>
                <a:cs typeface="Arial" pitchFamily="34" charset="-120"/>
              </a:rPr>
              <a:t>Security</a:t>
            </a:r>
            <a:endParaRPr lang="en-US" sz="1500" dirty="0"/>
          </a:p>
        </p:txBody>
      </p:sp>
      <p:sp>
        <p:nvSpPr>
          <p:cNvPr id="51" name="Shape 44"/>
          <p:cNvSpPr/>
          <p:nvPr/>
        </p:nvSpPr>
        <p:spPr>
          <a:xfrm>
            <a:off x="3337560" y="4041648"/>
            <a:ext cx="1257300" cy="347472"/>
          </a:xfrm>
          <a:prstGeom prst="roundRect">
            <a:avLst>
              <a:gd name="adj" fmla="val 50000"/>
            </a:avLst>
          </a:prstGeom>
          <a:solidFill>
            <a:srgbClr val="FFD6CD"/>
          </a:solidFill>
          <a:ln w="9525">
            <a:solidFill>
              <a:srgbClr val="FFD6CD"/>
            </a:solidFill>
            <a:prstDash val="solid"/>
          </a:ln>
        </p:spPr>
      </p:sp>
      <p:sp>
        <p:nvSpPr>
          <p:cNvPr id="52" name="Text 45"/>
          <p:cNvSpPr txBox="1"/>
          <p:nvPr/>
        </p:nvSpPr>
        <p:spPr>
          <a:xfrm>
            <a:off x="3337560" y="4041648"/>
            <a:ext cx="125730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Firebase Auth</a:t>
            </a:r>
            <a:endParaRPr lang="en-US" sz="1200" dirty="0"/>
          </a:p>
        </p:txBody>
      </p:sp>
      <p:sp>
        <p:nvSpPr>
          <p:cNvPr id="53" name="Shape 46"/>
          <p:cNvSpPr/>
          <p:nvPr/>
        </p:nvSpPr>
        <p:spPr>
          <a:xfrm>
            <a:off x="4704588" y="4041648"/>
            <a:ext cx="1600200" cy="347472"/>
          </a:xfrm>
          <a:prstGeom prst="roundRect">
            <a:avLst>
              <a:gd name="adj" fmla="val 50000"/>
            </a:avLst>
          </a:prstGeom>
          <a:solidFill>
            <a:srgbClr val="FFD6CD"/>
          </a:solidFill>
          <a:ln w="9525">
            <a:solidFill>
              <a:srgbClr val="FFD6CD"/>
            </a:solidFill>
            <a:prstDash val="solid"/>
          </a:ln>
        </p:spPr>
      </p:sp>
      <p:sp>
        <p:nvSpPr>
          <p:cNvPr id="54" name="Text 47"/>
          <p:cNvSpPr txBox="1"/>
          <p:nvPr/>
        </p:nvSpPr>
        <p:spPr>
          <a:xfrm>
            <a:off x="4704588" y="4041648"/>
            <a:ext cx="160020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Firebase Admin SDK</a:t>
            </a:r>
            <a:endParaRPr lang="en-US" sz="1200" dirty="0"/>
          </a:p>
        </p:txBody>
      </p:sp>
      <p:sp>
        <p:nvSpPr>
          <p:cNvPr id="55" name="Shape 48"/>
          <p:cNvSpPr/>
          <p:nvPr/>
        </p:nvSpPr>
        <p:spPr>
          <a:xfrm>
            <a:off x="6414516" y="4041648"/>
            <a:ext cx="1668780" cy="347472"/>
          </a:xfrm>
          <a:prstGeom prst="roundRect">
            <a:avLst>
              <a:gd name="adj" fmla="val 50000"/>
            </a:avLst>
          </a:prstGeom>
          <a:solidFill>
            <a:srgbClr val="FFD6CD"/>
          </a:solidFill>
          <a:ln w="9525">
            <a:solidFill>
              <a:srgbClr val="FFD6CD"/>
            </a:solidFill>
            <a:prstDash val="solid"/>
          </a:ln>
        </p:spPr>
      </p:sp>
      <p:sp>
        <p:nvSpPr>
          <p:cNvPr id="56" name="Text 49"/>
          <p:cNvSpPr txBox="1"/>
          <p:nvPr/>
        </p:nvSpPr>
        <p:spPr>
          <a:xfrm>
            <a:off x="6414516" y="4041648"/>
            <a:ext cx="166878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HMAC session tokens</a:t>
            </a:r>
            <a:endParaRPr lang="en-US" sz="1200" dirty="0"/>
          </a:p>
        </p:txBody>
      </p:sp>
      <p:sp>
        <p:nvSpPr>
          <p:cNvPr id="57" name="Shape 50"/>
          <p:cNvSpPr/>
          <p:nvPr/>
        </p:nvSpPr>
        <p:spPr>
          <a:xfrm>
            <a:off x="8193024" y="4041648"/>
            <a:ext cx="982980" cy="347472"/>
          </a:xfrm>
          <a:prstGeom prst="roundRect">
            <a:avLst>
              <a:gd name="adj" fmla="val 50000"/>
            </a:avLst>
          </a:prstGeom>
          <a:solidFill>
            <a:srgbClr val="FFD6CD"/>
          </a:solidFill>
          <a:ln w="9525">
            <a:solidFill>
              <a:srgbClr val="FFD6CD"/>
            </a:solidFill>
            <a:prstDash val="solid"/>
          </a:ln>
        </p:spPr>
      </p:sp>
      <p:sp>
        <p:nvSpPr>
          <p:cNvPr id="58" name="Text 51"/>
          <p:cNvSpPr txBox="1"/>
          <p:nvPr/>
        </p:nvSpPr>
        <p:spPr>
          <a:xfrm>
            <a:off x="8193024" y="4041648"/>
            <a:ext cx="98298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Email OTP</a:t>
            </a:r>
            <a:endParaRPr lang="en-US" sz="1200" dirty="0"/>
          </a:p>
        </p:txBody>
      </p:sp>
      <p:sp>
        <p:nvSpPr>
          <p:cNvPr id="59" name="Shape 52"/>
          <p:cNvSpPr/>
          <p:nvPr/>
        </p:nvSpPr>
        <p:spPr>
          <a:xfrm>
            <a:off x="9285732" y="4041648"/>
            <a:ext cx="1394460" cy="347472"/>
          </a:xfrm>
          <a:prstGeom prst="roundRect">
            <a:avLst>
              <a:gd name="adj" fmla="val 50000"/>
            </a:avLst>
          </a:prstGeom>
          <a:solidFill>
            <a:srgbClr val="FFD6CD"/>
          </a:solidFill>
          <a:ln w="9525">
            <a:solidFill>
              <a:srgbClr val="FFD6CD"/>
            </a:solidFill>
            <a:prstDash val="solid"/>
          </a:ln>
        </p:spPr>
      </p:sp>
      <p:sp>
        <p:nvSpPr>
          <p:cNvPr id="60" name="Text 53"/>
          <p:cNvSpPr txBox="1"/>
          <p:nvPr/>
        </p:nvSpPr>
        <p:spPr>
          <a:xfrm>
            <a:off x="9285732" y="4041648"/>
            <a:ext cx="139446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CSRF middleware</a:t>
            </a:r>
            <a:endParaRPr lang="en-US" sz="1200" dirty="0"/>
          </a:p>
        </p:txBody>
      </p:sp>
      <p:sp>
        <p:nvSpPr>
          <p:cNvPr id="61" name="Shape 54"/>
          <p:cNvSpPr/>
          <p:nvPr/>
        </p:nvSpPr>
        <p:spPr>
          <a:xfrm>
            <a:off x="548640" y="4636008"/>
            <a:ext cx="11094415" cy="676656"/>
          </a:xfrm>
          <a:prstGeom prst="roundRect">
            <a:avLst>
              <a:gd name="adj" fmla="val 2702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62" name="Shape 55"/>
          <p:cNvSpPr/>
          <p:nvPr/>
        </p:nvSpPr>
        <p:spPr>
          <a:xfrm>
            <a:off x="731520" y="4727448"/>
            <a:ext cx="493776" cy="493776"/>
          </a:xfrm>
          <a:prstGeom prst="ellipse">
            <a:avLst/>
          </a:prstGeom>
          <a:solidFill>
            <a:srgbClr val="CBEFD6"/>
          </a:solidFill>
          <a:ln w="12700">
            <a:solidFill>
              <a:srgbClr val="CBEFD6"/>
            </a:solidFill>
            <a:prstDash val="solid"/>
          </a:ln>
        </p:spPr>
      </p:sp>
      <p:pic>
        <p:nvPicPr>
          <p:cNvPr id="63" name="Image 5" descr="preencoded.png">    </p:cNvPr>
          <p:cNvPicPr>
            <a:picLocks noChangeAspect="1"/>
          </p:cNvPicPr>
          <p:nvPr/>
        </p:nvPicPr>
        <p:blipFill>
          <a:blip r:embed="rId6"/>
          <a:stretch>
            <a:fillRect/>
          </a:stretch>
        </p:blipFill>
        <p:spPr>
          <a:xfrm>
            <a:off x="854964" y="4850892"/>
            <a:ext cx="246888" cy="246888"/>
          </a:xfrm>
          <a:prstGeom prst="rect">
            <a:avLst/>
          </a:prstGeom>
        </p:spPr>
      </p:pic>
      <p:sp>
        <p:nvSpPr>
          <p:cNvPr id="64" name="Text 56"/>
          <p:cNvSpPr txBox="1"/>
          <p:nvPr/>
        </p:nvSpPr>
        <p:spPr>
          <a:xfrm>
            <a:off x="1417320" y="4636008"/>
            <a:ext cx="1828800" cy="676656"/>
          </a:xfrm>
          <a:prstGeom prst="rect">
            <a:avLst/>
          </a:prstGeom>
          <a:noFill/>
          <a:ln/>
        </p:spPr>
        <p:txBody>
          <a:bodyPr wrap="square" lIns="0" tIns="0" rIns="0" bIns="0" rtlCol="0" anchor="ctr"/>
          <a:lstStyle/>
          <a:p>
            <a:pPr algn="l" indent="0" marL="0">
              <a:buNone/>
            </a:pPr>
            <a:r>
              <a:rPr lang="en-US" sz="1500" b="1" dirty="0">
                <a:solidFill>
                  <a:srgbClr val="131B26"/>
                </a:solidFill>
                <a:latin typeface="Arial" pitchFamily="34" charset="0"/>
                <a:ea typeface="Arial" pitchFamily="34" charset="-122"/>
                <a:cs typeface="Arial" pitchFamily="34" charset="-120"/>
              </a:rPr>
              <a:t>Payments &amp; email</a:t>
            </a:r>
            <a:endParaRPr lang="en-US" sz="1500" dirty="0"/>
          </a:p>
        </p:txBody>
      </p:sp>
      <p:sp>
        <p:nvSpPr>
          <p:cNvPr id="65" name="Shape 57"/>
          <p:cNvSpPr/>
          <p:nvPr/>
        </p:nvSpPr>
        <p:spPr>
          <a:xfrm>
            <a:off x="3337560" y="4800600"/>
            <a:ext cx="914400" cy="347472"/>
          </a:xfrm>
          <a:prstGeom prst="roundRect">
            <a:avLst>
              <a:gd name="adj" fmla="val 50000"/>
            </a:avLst>
          </a:prstGeom>
          <a:solidFill>
            <a:srgbClr val="CBEFD6"/>
          </a:solidFill>
          <a:ln w="9525">
            <a:solidFill>
              <a:srgbClr val="CBEFD6"/>
            </a:solidFill>
            <a:prstDash val="solid"/>
          </a:ln>
        </p:spPr>
      </p:sp>
      <p:sp>
        <p:nvSpPr>
          <p:cNvPr id="66" name="Text 58"/>
          <p:cNvSpPr txBox="1"/>
          <p:nvPr/>
        </p:nvSpPr>
        <p:spPr>
          <a:xfrm>
            <a:off x="3337560" y="4800600"/>
            <a:ext cx="91440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Razorpay</a:t>
            </a:r>
            <a:endParaRPr lang="en-US" sz="1200" dirty="0"/>
          </a:p>
        </p:txBody>
      </p:sp>
      <p:sp>
        <p:nvSpPr>
          <p:cNvPr id="67" name="Shape 59"/>
          <p:cNvSpPr/>
          <p:nvPr/>
        </p:nvSpPr>
        <p:spPr>
          <a:xfrm>
            <a:off x="4361688" y="4800600"/>
            <a:ext cx="777240" cy="347472"/>
          </a:xfrm>
          <a:prstGeom prst="roundRect">
            <a:avLst>
              <a:gd name="adj" fmla="val 50000"/>
            </a:avLst>
          </a:prstGeom>
          <a:solidFill>
            <a:srgbClr val="CBEFD6"/>
          </a:solidFill>
          <a:ln w="9525">
            <a:solidFill>
              <a:srgbClr val="CBEFD6"/>
            </a:solidFill>
            <a:prstDash val="solid"/>
          </a:ln>
        </p:spPr>
      </p:sp>
      <p:sp>
        <p:nvSpPr>
          <p:cNvPr id="68" name="Text 60"/>
          <p:cNvSpPr txBox="1"/>
          <p:nvPr/>
        </p:nvSpPr>
        <p:spPr>
          <a:xfrm>
            <a:off x="4361688" y="4800600"/>
            <a:ext cx="77724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Resend</a:t>
            </a:r>
            <a:endParaRPr lang="en-US" sz="1200" dirty="0"/>
          </a:p>
        </p:txBody>
      </p:sp>
      <p:sp>
        <p:nvSpPr>
          <p:cNvPr id="69" name="Shape 61"/>
          <p:cNvSpPr/>
          <p:nvPr/>
        </p:nvSpPr>
        <p:spPr>
          <a:xfrm>
            <a:off x="548640" y="5394960"/>
            <a:ext cx="11094415" cy="676656"/>
          </a:xfrm>
          <a:prstGeom prst="roundRect">
            <a:avLst>
              <a:gd name="adj" fmla="val 2702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70" name="Shape 62"/>
          <p:cNvSpPr/>
          <p:nvPr/>
        </p:nvSpPr>
        <p:spPr>
          <a:xfrm>
            <a:off x="731520" y="5486400"/>
            <a:ext cx="493776" cy="493776"/>
          </a:xfrm>
          <a:prstGeom prst="ellipse">
            <a:avLst/>
          </a:prstGeom>
          <a:solidFill>
            <a:srgbClr val="F7ECBE"/>
          </a:solidFill>
          <a:ln w="12700">
            <a:solidFill>
              <a:srgbClr val="F7ECBE"/>
            </a:solidFill>
            <a:prstDash val="solid"/>
          </a:ln>
        </p:spPr>
      </p:sp>
      <p:pic>
        <p:nvPicPr>
          <p:cNvPr id="71" name="Image 6" descr="preencoded.png">    </p:cNvPr>
          <p:cNvPicPr>
            <a:picLocks noChangeAspect="1"/>
          </p:cNvPicPr>
          <p:nvPr/>
        </p:nvPicPr>
        <p:blipFill>
          <a:blip r:embed="rId7"/>
          <a:stretch>
            <a:fillRect/>
          </a:stretch>
        </p:blipFill>
        <p:spPr>
          <a:xfrm>
            <a:off x="854964" y="5609844"/>
            <a:ext cx="246888" cy="246888"/>
          </a:xfrm>
          <a:prstGeom prst="rect">
            <a:avLst/>
          </a:prstGeom>
        </p:spPr>
      </p:pic>
      <p:sp>
        <p:nvSpPr>
          <p:cNvPr id="72" name="Text 63"/>
          <p:cNvSpPr txBox="1"/>
          <p:nvPr/>
        </p:nvSpPr>
        <p:spPr>
          <a:xfrm>
            <a:off x="1417320" y="5394960"/>
            <a:ext cx="1828800" cy="676656"/>
          </a:xfrm>
          <a:prstGeom prst="rect">
            <a:avLst/>
          </a:prstGeom>
          <a:noFill/>
          <a:ln/>
        </p:spPr>
        <p:txBody>
          <a:bodyPr wrap="square" lIns="0" tIns="0" rIns="0" bIns="0" rtlCol="0" anchor="ctr"/>
          <a:lstStyle/>
          <a:p>
            <a:pPr algn="l" indent="0" marL="0">
              <a:buNone/>
            </a:pPr>
            <a:r>
              <a:rPr lang="en-US" sz="1500" b="1" dirty="0">
                <a:solidFill>
                  <a:srgbClr val="131B26"/>
                </a:solidFill>
                <a:latin typeface="Arial" pitchFamily="34" charset="0"/>
                <a:ea typeface="Arial" pitchFamily="34" charset="-122"/>
                <a:cs typeface="Arial" pitchFamily="34" charset="-120"/>
              </a:rPr>
              <a:t>Dev &amp; deploy</a:t>
            </a:r>
            <a:endParaRPr lang="en-US" sz="1500" dirty="0"/>
          </a:p>
        </p:txBody>
      </p:sp>
      <p:sp>
        <p:nvSpPr>
          <p:cNvPr id="73" name="Shape 64"/>
          <p:cNvSpPr/>
          <p:nvPr/>
        </p:nvSpPr>
        <p:spPr>
          <a:xfrm>
            <a:off x="3337560" y="5559552"/>
            <a:ext cx="845820" cy="347472"/>
          </a:xfrm>
          <a:prstGeom prst="roundRect">
            <a:avLst>
              <a:gd name="adj" fmla="val 50000"/>
            </a:avLst>
          </a:prstGeom>
          <a:solidFill>
            <a:srgbClr val="F7ECBE"/>
          </a:solidFill>
          <a:ln w="9525">
            <a:solidFill>
              <a:srgbClr val="F7ECBE"/>
            </a:solidFill>
            <a:prstDash val="solid"/>
          </a:ln>
        </p:spPr>
      </p:sp>
      <p:sp>
        <p:nvSpPr>
          <p:cNvPr id="74" name="Text 65"/>
          <p:cNvSpPr txBox="1"/>
          <p:nvPr/>
        </p:nvSpPr>
        <p:spPr>
          <a:xfrm>
            <a:off x="3337560" y="5559552"/>
            <a:ext cx="84582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VS Code</a:t>
            </a:r>
            <a:endParaRPr lang="en-US" sz="1200" dirty="0"/>
          </a:p>
        </p:txBody>
      </p:sp>
      <p:sp>
        <p:nvSpPr>
          <p:cNvPr id="75" name="Shape 66"/>
          <p:cNvSpPr/>
          <p:nvPr/>
        </p:nvSpPr>
        <p:spPr>
          <a:xfrm>
            <a:off x="4293108" y="5559552"/>
            <a:ext cx="571500" cy="347472"/>
          </a:xfrm>
          <a:prstGeom prst="roundRect">
            <a:avLst>
              <a:gd name="adj" fmla="val 50000"/>
            </a:avLst>
          </a:prstGeom>
          <a:solidFill>
            <a:srgbClr val="F7ECBE"/>
          </a:solidFill>
          <a:ln w="9525">
            <a:solidFill>
              <a:srgbClr val="F7ECBE"/>
            </a:solidFill>
            <a:prstDash val="solid"/>
          </a:ln>
        </p:spPr>
      </p:sp>
      <p:sp>
        <p:nvSpPr>
          <p:cNvPr id="76" name="Text 67"/>
          <p:cNvSpPr txBox="1"/>
          <p:nvPr/>
        </p:nvSpPr>
        <p:spPr>
          <a:xfrm>
            <a:off x="4293108" y="5559552"/>
            <a:ext cx="57150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Git</a:t>
            </a:r>
            <a:endParaRPr lang="en-US" sz="1200" dirty="0"/>
          </a:p>
        </p:txBody>
      </p:sp>
      <p:sp>
        <p:nvSpPr>
          <p:cNvPr id="77" name="Shape 68"/>
          <p:cNvSpPr/>
          <p:nvPr/>
        </p:nvSpPr>
        <p:spPr>
          <a:xfrm>
            <a:off x="4974336" y="5559552"/>
            <a:ext cx="777240" cy="347472"/>
          </a:xfrm>
          <a:prstGeom prst="roundRect">
            <a:avLst>
              <a:gd name="adj" fmla="val 50000"/>
            </a:avLst>
          </a:prstGeom>
          <a:solidFill>
            <a:srgbClr val="F7ECBE"/>
          </a:solidFill>
          <a:ln w="9525">
            <a:solidFill>
              <a:srgbClr val="F7ECBE"/>
            </a:solidFill>
            <a:prstDash val="solid"/>
          </a:ln>
        </p:spPr>
      </p:sp>
      <p:sp>
        <p:nvSpPr>
          <p:cNvPr id="78" name="Text 69"/>
          <p:cNvSpPr txBox="1"/>
          <p:nvPr/>
        </p:nvSpPr>
        <p:spPr>
          <a:xfrm>
            <a:off x="4974336" y="5559552"/>
            <a:ext cx="77724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GitHub</a:t>
            </a:r>
            <a:endParaRPr lang="en-US" sz="1200" dirty="0"/>
          </a:p>
        </p:txBody>
      </p:sp>
      <p:sp>
        <p:nvSpPr>
          <p:cNvPr id="79" name="Shape 70"/>
          <p:cNvSpPr/>
          <p:nvPr/>
        </p:nvSpPr>
        <p:spPr>
          <a:xfrm>
            <a:off x="5861304" y="5559552"/>
            <a:ext cx="777240" cy="347472"/>
          </a:xfrm>
          <a:prstGeom prst="roundRect">
            <a:avLst>
              <a:gd name="adj" fmla="val 50000"/>
            </a:avLst>
          </a:prstGeom>
          <a:solidFill>
            <a:srgbClr val="F7ECBE"/>
          </a:solidFill>
          <a:ln w="9525">
            <a:solidFill>
              <a:srgbClr val="F7ECBE"/>
            </a:solidFill>
            <a:prstDash val="solid"/>
          </a:ln>
        </p:spPr>
      </p:sp>
      <p:sp>
        <p:nvSpPr>
          <p:cNvPr id="80" name="Text 71"/>
          <p:cNvSpPr txBox="1"/>
          <p:nvPr/>
        </p:nvSpPr>
        <p:spPr>
          <a:xfrm>
            <a:off x="5861304" y="5559552"/>
            <a:ext cx="777240" cy="347472"/>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Vercel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SYSTEM DESIGN</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System Architecture</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91640"/>
            <a:ext cx="2743200" cy="4206240"/>
          </a:xfrm>
          <a:prstGeom prst="roundRect">
            <a:avLst>
              <a:gd name="adj" fmla="val 7333"/>
            </a:avLst>
          </a:prstGeom>
          <a:solidFill>
            <a:srgbClr val="D2ECFC"/>
          </a:solidFill>
          <a:ln w="12700">
            <a:solidFill>
              <a:srgbClr val="D2ECFC"/>
            </a:solidFill>
            <a:prstDash val="solid"/>
          </a:ln>
        </p:spPr>
      </p:sp>
      <p:sp>
        <p:nvSpPr>
          <p:cNvPr id="8" name="Text 5"/>
          <p:cNvSpPr txBox="1"/>
          <p:nvPr/>
        </p:nvSpPr>
        <p:spPr>
          <a:xfrm>
            <a:off x="822960" y="1874520"/>
            <a:ext cx="2194560" cy="228600"/>
          </a:xfrm>
          <a:prstGeom prst="rect">
            <a:avLst/>
          </a:prstGeom>
          <a:noFill/>
          <a:ln/>
        </p:spPr>
        <p:txBody>
          <a:bodyPr wrap="square" lIns="0" tIns="0" rIns="0" bIns="0" rtlCol="0" anchor="t"/>
          <a:lstStyle/>
          <a:p>
            <a:pPr algn="l" indent="0" marL="0">
              <a:buNone/>
            </a:pPr>
            <a:r>
              <a:rPr lang="en-US" sz="1100" b="1" spc="300" kern="0" dirty="0">
                <a:solidFill>
                  <a:srgbClr val="004E90"/>
                </a:solidFill>
                <a:latin typeface="Calibri" pitchFamily="34" charset="0"/>
                <a:ea typeface="Calibri" pitchFamily="34" charset="-122"/>
                <a:cs typeface="Calibri" pitchFamily="34" charset="-120"/>
              </a:rPr>
              <a:t>CLIENT</a:t>
            </a:r>
            <a:endParaRPr lang="en-US" sz="1100" dirty="0"/>
          </a:p>
        </p:txBody>
      </p:sp>
      <p:sp>
        <p:nvSpPr>
          <p:cNvPr id="9" name="Text 6"/>
          <p:cNvSpPr txBox="1"/>
          <p:nvPr/>
        </p:nvSpPr>
        <p:spPr>
          <a:xfrm>
            <a:off x="822960" y="2148840"/>
            <a:ext cx="2286000" cy="320040"/>
          </a:xfrm>
          <a:prstGeom prst="rect">
            <a:avLst/>
          </a:prstGeom>
          <a:noFill/>
          <a:ln/>
        </p:spPr>
        <p:txBody>
          <a:bodyPr wrap="square" lIns="0" tIns="0" rIns="0" bIns="0" rtlCol="0" anchor="t"/>
          <a:lstStyle/>
          <a:p>
            <a:pPr algn="l" indent="0" marL="0">
              <a:buNone/>
            </a:pPr>
            <a:r>
              <a:rPr lang="en-US" sz="1600" b="1" dirty="0">
                <a:solidFill>
                  <a:srgbClr val="131B26"/>
                </a:solidFill>
                <a:latin typeface="Arial" pitchFamily="34" charset="0"/>
                <a:ea typeface="Arial" pitchFamily="34" charset="-122"/>
                <a:cs typeface="Arial" pitchFamily="34" charset="-120"/>
              </a:rPr>
              <a:t>React + TypeScript</a:t>
            </a:r>
            <a:endParaRPr lang="en-US" sz="1600" dirty="0"/>
          </a:p>
        </p:txBody>
      </p:sp>
      <p:sp>
        <p:nvSpPr>
          <p:cNvPr id="10" name="Shape 7"/>
          <p:cNvSpPr/>
          <p:nvPr/>
        </p:nvSpPr>
        <p:spPr>
          <a:xfrm>
            <a:off x="822960" y="2743200"/>
            <a:ext cx="2194560" cy="457200"/>
          </a:xfrm>
          <a:prstGeom prst="roundRect">
            <a:avLst>
              <a:gd name="adj" fmla="val 50000"/>
            </a:avLst>
          </a:prstGeom>
          <a:solidFill>
            <a:srgbClr val="FFFFFF"/>
          </a:solidFill>
          <a:ln w="9525">
            <a:solidFill>
              <a:srgbClr val="FFFFFF"/>
            </a:solidFill>
            <a:prstDash val="solid"/>
          </a:ln>
        </p:spPr>
      </p:sp>
      <p:sp>
        <p:nvSpPr>
          <p:cNvPr id="11" name="Text 8"/>
          <p:cNvSpPr txBox="1"/>
          <p:nvPr/>
        </p:nvSpPr>
        <p:spPr>
          <a:xfrm>
            <a:off x="822960" y="2743200"/>
            <a:ext cx="2194560" cy="457200"/>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Student portal</a:t>
            </a:r>
            <a:endParaRPr lang="en-US" sz="1200" dirty="0"/>
          </a:p>
        </p:txBody>
      </p:sp>
      <p:sp>
        <p:nvSpPr>
          <p:cNvPr id="12" name="Shape 9"/>
          <p:cNvSpPr/>
          <p:nvPr/>
        </p:nvSpPr>
        <p:spPr>
          <a:xfrm>
            <a:off x="822960" y="3346704"/>
            <a:ext cx="2194560" cy="457200"/>
          </a:xfrm>
          <a:prstGeom prst="roundRect">
            <a:avLst>
              <a:gd name="adj" fmla="val 50000"/>
            </a:avLst>
          </a:prstGeom>
          <a:solidFill>
            <a:srgbClr val="FFFFFF"/>
          </a:solidFill>
          <a:ln w="9525">
            <a:solidFill>
              <a:srgbClr val="FFFFFF"/>
            </a:solidFill>
            <a:prstDash val="solid"/>
          </a:ln>
        </p:spPr>
      </p:sp>
      <p:sp>
        <p:nvSpPr>
          <p:cNvPr id="13" name="Text 10"/>
          <p:cNvSpPr txBox="1"/>
          <p:nvPr/>
        </p:nvSpPr>
        <p:spPr>
          <a:xfrm>
            <a:off x="822960" y="3346704"/>
            <a:ext cx="2194560" cy="457200"/>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Mentor portal</a:t>
            </a:r>
            <a:endParaRPr lang="en-US" sz="1200" dirty="0"/>
          </a:p>
        </p:txBody>
      </p:sp>
      <p:sp>
        <p:nvSpPr>
          <p:cNvPr id="14" name="Shape 11"/>
          <p:cNvSpPr/>
          <p:nvPr/>
        </p:nvSpPr>
        <p:spPr>
          <a:xfrm>
            <a:off x="822960" y="3950208"/>
            <a:ext cx="2194560" cy="457200"/>
          </a:xfrm>
          <a:prstGeom prst="roundRect">
            <a:avLst>
              <a:gd name="adj" fmla="val 50000"/>
            </a:avLst>
          </a:prstGeom>
          <a:solidFill>
            <a:srgbClr val="FFFFFF"/>
          </a:solidFill>
          <a:ln w="9525">
            <a:solidFill>
              <a:srgbClr val="FFFFFF"/>
            </a:solidFill>
            <a:prstDash val="solid"/>
          </a:ln>
        </p:spPr>
      </p:sp>
      <p:sp>
        <p:nvSpPr>
          <p:cNvPr id="15" name="Text 12"/>
          <p:cNvSpPr txBox="1"/>
          <p:nvPr/>
        </p:nvSpPr>
        <p:spPr>
          <a:xfrm>
            <a:off x="822960" y="3950208"/>
            <a:ext cx="2194560" cy="457200"/>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Promoter portal</a:t>
            </a:r>
            <a:endParaRPr lang="en-US" sz="1200" dirty="0"/>
          </a:p>
        </p:txBody>
      </p:sp>
      <p:sp>
        <p:nvSpPr>
          <p:cNvPr id="16" name="Shape 13"/>
          <p:cNvSpPr/>
          <p:nvPr/>
        </p:nvSpPr>
        <p:spPr>
          <a:xfrm>
            <a:off x="822960" y="4553712"/>
            <a:ext cx="2194560" cy="457200"/>
          </a:xfrm>
          <a:prstGeom prst="roundRect">
            <a:avLst>
              <a:gd name="adj" fmla="val 50000"/>
            </a:avLst>
          </a:prstGeom>
          <a:solidFill>
            <a:srgbClr val="FFFFFF"/>
          </a:solidFill>
          <a:ln w="9525">
            <a:solidFill>
              <a:srgbClr val="FFFFFF"/>
            </a:solidFill>
            <a:prstDash val="solid"/>
          </a:ln>
        </p:spPr>
      </p:sp>
      <p:sp>
        <p:nvSpPr>
          <p:cNvPr id="17" name="Text 14"/>
          <p:cNvSpPr txBox="1"/>
          <p:nvPr/>
        </p:nvSpPr>
        <p:spPr>
          <a:xfrm>
            <a:off x="822960" y="4553712"/>
            <a:ext cx="2194560" cy="457200"/>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Admin dashboard</a:t>
            </a:r>
            <a:endParaRPr lang="en-US" sz="1200" dirty="0"/>
          </a:p>
        </p:txBody>
      </p:sp>
      <p:sp>
        <p:nvSpPr>
          <p:cNvPr id="18" name="Shape 15"/>
          <p:cNvSpPr/>
          <p:nvPr/>
        </p:nvSpPr>
        <p:spPr>
          <a:xfrm>
            <a:off x="822960" y="5157216"/>
            <a:ext cx="2194560" cy="457200"/>
          </a:xfrm>
          <a:prstGeom prst="roundRect">
            <a:avLst>
              <a:gd name="adj" fmla="val 50000"/>
            </a:avLst>
          </a:prstGeom>
          <a:solidFill>
            <a:srgbClr val="FFFFFF"/>
          </a:solidFill>
          <a:ln w="9525">
            <a:solidFill>
              <a:srgbClr val="FFFFFF"/>
            </a:solidFill>
            <a:prstDash val="solid"/>
          </a:ln>
        </p:spPr>
      </p:sp>
      <p:sp>
        <p:nvSpPr>
          <p:cNvPr id="19" name="Text 16"/>
          <p:cNvSpPr txBox="1"/>
          <p:nvPr/>
        </p:nvSpPr>
        <p:spPr>
          <a:xfrm>
            <a:off x="822960" y="5157216"/>
            <a:ext cx="2194560" cy="457200"/>
          </a:xfrm>
          <a:prstGeom prst="rect">
            <a:avLst/>
          </a:prstGeom>
          <a:noFill/>
          <a:ln/>
        </p:spPr>
        <p:txBody>
          <a:bodyPr wrap="square" lIns="0" tIns="0" rIns="0" bIns="0" rtlCol="0" anchor="ctr"/>
          <a:lstStyle/>
          <a:p>
            <a:pPr algn="ctr" indent="0" marL="0">
              <a:buNone/>
            </a:pPr>
            <a:r>
              <a:rPr lang="en-US" sz="1200" b="1" dirty="0">
                <a:solidFill>
                  <a:srgbClr val="131B26"/>
                </a:solidFill>
                <a:latin typeface="Calibri" pitchFamily="34" charset="0"/>
                <a:ea typeface="Calibri" pitchFamily="34" charset="-122"/>
                <a:cs typeface="Calibri" pitchFamily="34" charset="-120"/>
              </a:rPr>
              <a:t>Intern hub</a:t>
            </a:r>
            <a:endParaRPr lang="en-US" sz="1200" dirty="0"/>
          </a:p>
        </p:txBody>
      </p:sp>
      <p:sp>
        <p:nvSpPr>
          <p:cNvPr id="20" name="Shape 17"/>
          <p:cNvSpPr/>
          <p:nvPr/>
        </p:nvSpPr>
        <p:spPr>
          <a:xfrm>
            <a:off x="4206240" y="1691640"/>
            <a:ext cx="3291840" cy="4206240"/>
          </a:xfrm>
          <a:prstGeom prst="roundRect">
            <a:avLst>
              <a:gd name="adj" fmla="val 6111"/>
            </a:avLst>
          </a:prstGeom>
          <a:solidFill>
            <a:srgbClr val="004E90"/>
          </a:solidFill>
          <a:ln w="12700">
            <a:solidFill>
              <a:srgbClr val="004E90"/>
            </a:solidFill>
            <a:prstDash val="solid"/>
          </a:ln>
        </p:spPr>
      </p:sp>
      <p:sp>
        <p:nvSpPr>
          <p:cNvPr id="21" name="Text 18"/>
          <p:cNvSpPr txBox="1"/>
          <p:nvPr/>
        </p:nvSpPr>
        <p:spPr>
          <a:xfrm>
            <a:off x="4480560" y="1874520"/>
            <a:ext cx="2194560" cy="228600"/>
          </a:xfrm>
          <a:prstGeom prst="rect">
            <a:avLst/>
          </a:prstGeom>
          <a:noFill/>
          <a:ln/>
        </p:spPr>
        <p:txBody>
          <a:bodyPr wrap="square" lIns="0" tIns="0" rIns="0" bIns="0" rtlCol="0" anchor="t"/>
          <a:lstStyle/>
          <a:p>
            <a:pPr algn="l" indent="0" marL="0">
              <a:buNone/>
            </a:pPr>
            <a:r>
              <a:rPr lang="en-US" sz="1100" b="1" spc="300" kern="0" dirty="0">
                <a:solidFill>
                  <a:srgbClr val="D2ECFC"/>
                </a:solidFill>
                <a:latin typeface="Calibri" pitchFamily="34" charset="0"/>
                <a:ea typeface="Calibri" pitchFamily="34" charset="-122"/>
                <a:cs typeface="Calibri" pitchFamily="34" charset="-120"/>
              </a:rPr>
              <a:t>SERVER</a:t>
            </a:r>
            <a:endParaRPr lang="en-US" sz="1100" dirty="0"/>
          </a:p>
        </p:txBody>
      </p:sp>
      <p:sp>
        <p:nvSpPr>
          <p:cNvPr id="22" name="Text 19"/>
          <p:cNvSpPr txBox="1"/>
          <p:nvPr/>
        </p:nvSpPr>
        <p:spPr>
          <a:xfrm>
            <a:off x="4480560" y="2148840"/>
            <a:ext cx="2743200" cy="68580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TanStack Start</a:t>
            </a:r>
            <a:endParaRPr lang="en-US" sz="1600" dirty="0"/>
          </a:p>
          <a:p>
            <a:pPr algn="l" indent="0" marL="0">
              <a:buNone/>
            </a:pPr>
            <a:r>
              <a:rPr lang="en-US" sz="1600" b="1" dirty="0">
                <a:solidFill>
                  <a:srgbClr val="FFFFFF"/>
                </a:solidFill>
                <a:latin typeface="Arial" pitchFamily="34" charset="0"/>
                <a:ea typeface="Arial" pitchFamily="34" charset="-122"/>
                <a:cs typeface="Arial" pitchFamily="34" charset="-120"/>
              </a:rPr>
              <a:t>Server Functions</a:t>
            </a:r>
            <a:endParaRPr lang="en-US" sz="1600" dirty="0"/>
          </a:p>
        </p:txBody>
      </p:sp>
      <p:sp>
        <p:nvSpPr>
          <p:cNvPr id="23" name="Shape 20"/>
          <p:cNvSpPr/>
          <p:nvPr/>
        </p:nvSpPr>
        <p:spPr>
          <a:xfrm>
            <a:off x="4480560" y="3017520"/>
            <a:ext cx="2743200" cy="420624"/>
          </a:xfrm>
          <a:prstGeom prst="roundRect">
            <a:avLst>
              <a:gd name="adj" fmla="val 50000"/>
            </a:avLst>
          </a:prstGeom>
          <a:solidFill>
            <a:srgbClr val="1A6BB0"/>
          </a:solidFill>
          <a:ln w="9525">
            <a:solidFill>
              <a:srgbClr val="1A6BB0"/>
            </a:solidFill>
            <a:prstDash val="solid"/>
          </a:ln>
        </p:spPr>
      </p:sp>
      <p:sp>
        <p:nvSpPr>
          <p:cNvPr id="24" name="Text 21"/>
          <p:cNvSpPr txBox="1"/>
          <p:nvPr/>
        </p:nvSpPr>
        <p:spPr>
          <a:xfrm>
            <a:off x="4480560" y="3017520"/>
            <a:ext cx="27432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CSRF + error middleware</a:t>
            </a:r>
            <a:endParaRPr lang="en-US" sz="1200" dirty="0"/>
          </a:p>
        </p:txBody>
      </p:sp>
      <p:sp>
        <p:nvSpPr>
          <p:cNvPr id="25" name="Shape 22"/>
          <p:cNvSpPr/>
          <p:nvPr/>
        </p:nvSpPr>
        <p:spPr>
          <a:xfrm>
            <a:off x="4480560" y="3566160"/>
            <a:ext cx="2743200" cy="420624"/>
          </a:xfrm>
          <a:prstGeom prst="roundRect">
            <a:avLst>
              <a:gd name="adj" fmla="val 50000"/>
            </a:avLst>
          </a:prstGeom>
          <a:solidFill>
            <a:srgbClr val="1A6BB0"/>
          </a:solidFill>
          <a:ln w="9525">
            <a:solidFill>
              <a:srgbClr val="1A6BB0"/>
            </a:solidFill>
            <a:prstDash val="solid"/>
          </a:ln>
        </p:spPr>
      </p:sp>
      <p:sp>
        <p:nvSpPr>
          <p:cNvPr id="26" name="Text 23"/>
          <p:cNvSpPr txBox="1"/>
          <p:nvPr/>
        </p:nvSpPr>
        <p:spPr>
          <a:xfrm>
            <a:off x="4480560" y="3566160"/>
            <a:ext cx="27432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Token / session verification</a:t>
            </a:r>
            <a:endParaRPr lang="en-US" sz="1200" dirty="0"/>
          </a:p>
        </p:txBody>
      </p:sp>
      <p:sp>
        <p:nvSpPr>
          <p:cNvPr id="27" name="Shape 24"/>
          <p:cNvSpPr/>
          <p:nvPr/>
        </p:nvSpPr>
        <p:spPr>
          <a:xfrm>
            <a:off x="4480560" y="4114800"/>
            <a:ext cx="2743200" cy="420624"/>
          </a:xfrm>
          <a:prstGeom prst="roundRect">
            <a:avLst>
              <a:gd name="adj" fmla="val 50000"/>
            </a:avLst>
          </a:prstGeom>
          <a:solidFill>
            <a:srgbClr val="1A6BB0"/>
          </a:solidFill>
          <a:ln w="9525">
            <a:solidFill>
              <a:srgbClr val="1A6BB0"/>
            </a:solidFill>
            <a:prstDash val="solid"/>
          </a:ln>
        </p:spPr>
      </p:sp>
      <p:sp>
        <p:nvSpPr>
          <p:cNvPr id="28" name="Text 25"/>
          <p:cNvSpPr txBox="1"/>
          <p:nvPr/>
        </p:nvSpPr>
        <p:spPr>
          <a:xfrm>
            <a:off x="4480560" y="4114800"/>
            <a:ext cx="27432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Input validation</a:t>
            </a:r>
            <a:endParaRPr lang="en-US" sz="1200" dirty="0"/>
          </a:p>
        </p:txBody>
      </p:sp>
      <p:sp>
        <p:nvSpPr>
          <p:cNvPr id="29" name="Shape 26"/>
          <p:cNvSpPr/>
          <p:nvPr/>
        </p:nvSpPr>
        <p:spPr>
          <a:xfrm>
            <a:off x="4480560" y="4663440"/>
            <a:ext cx="2743200" cy="420624"/>
          </a:xfrm>
          <a:prstGeom prst="roundRect">
            <a:avLst>
              <a:gd name="adj" fmla="val 50000"/>
            </a:avLst>
          </a:prstGeom>
          <a:solidFill>
            <a:srgbClr val="1A6BB0"/>
          </a:solidFill>
          <a:ln w="9525">
            <a:solidFill>
              <a:srgbClr val="1A6BB0"/>
            </a:solidFill>
            <a:prstDash val="solid"/>
          </a:ln>
        </p:spPr>
      </p:sp>
      <p:sp>
        <p:nvSpPr>
          <p:cNvPr id="30" name="Text 27"/>
          <p:cNvSpPr txBox="1"/>
          <p:nvPr/>
        </p:nvSpPr>
        <p:spPr>
          <a:xfrm>
            <a:off x="4480560" y="4663440"/>
            <a:ext cx="27432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Business logic</a:t>
            </a:r>
            <a:endParaRPr lang="en-US" sz="1200" dirty="0"/>
          </a:p>
        </p:txBody>
      </p:sp>
      <p:sp>
        <p:nvSpPr>
          <p:cNvPr id="31" name="Shape 28"/>
          <p:cNvSpPr/>
          <p:nvPr/>
        </p:nvSpPr>
        <p:spPr>
          <a:xfrm>
            <a:off x="4480560" y="5212080"/>
            <a:ext cx="2743200" cy="420624"/>
          </a:xfrm>
          <a:prstGeom prst="roundRect">
            <a:avLst>
              <a:gd name="adj" fmla="val 50000"/>
            </a:avLst>
          </a:prstGeom>
          <a:solidFill>
            <a:srgbClr val="1A6BB0"/>
          </a:solidFill>
          <a:ln w="9525">
            <a:solidFill>
              <a:srgbClr val="1A6BB0"/>
            </a:solidFill>
            <a:prstDash val="solid"/>
          </a:ln>
        </p:spPr>
      </p:sp>
      <p:sp>
        <p:nvSpPr>
          <p:cNvPr id="32" name="Text 29"/>
          <p:cNvSpPr txBox="1"/>
          <p:nvPr/>
        </p:nvSpPr>
        <p:spPr>
          <a:xfrm>
            <a:off x="4480560" y="5212080"/>
            <a:ext cx="27432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In-memory TTL cache</a:t>
            </a:r>
            <a:endParaRPr lang="en-US" sz="1200" dirty="0"/>
          </a:p>
        </p:txBody>
      </p:sp>
      <p:sp>
        <p:nvSpPr>
          <p:cNvPr id="33" name="Shape 30"/>
          <p:cNvSpPr/>
          <p:nvPr/>
        </p:nvSpPr>
        <p:spPr>
          <a:xfrm>
            <a:off x="3337560" y="3794760"/>
            <a:ext cx="777240" cy="0"/>
          </a:xfrm>
          <a:prstGeom prst="line">
            <a:avLst/>
          </a:prstGeom>
          <a:noFill/>
          <a:ln w="25400">
            <a:solidFill>
              <a:srgbClr val="004E90"/>
            </a:solidFill>
            <a:prstDash val="solid"/>
            <a:tailEnd type="triangle"/>
          </a:ln>
        </p:spPr>
      </p:sp>
      <p:sp>
        <p:nvSpPr>
          <p:cNvPr id="34" name="Shape 31"/>
          <p:cNvSpPr/>
          <p:nvPr/>
        </p:nvSpPr>
        <p:spPr>
          <a:xfrm>
            <a:off x="7543800" y="2057400"/>
            <a:ext cx="1005840" cy="0"/>
          </a:xfrm>
          <a:prstGeom prst="line">
            <a:avLst/>
          </a:prstGeom>
          <a:noFill/>
          <a:ln w="15875">
            <a:solidFill>
              <a:srgbClr val="606A74"/>
            </a:solidFill>
            <a:prstDash val="solid"/>
            <a:tailEnd type="triangle"/>
          </a:ln>
        </p:spPr>
      </p:sp>
      <p:sp>
        <p:nvSpPr>
          <p:cNvPr id="35" name="Shape 32"/>
          <p:cNvSpPr/>
          <p:nvPr/>
        </p:nvSpPr>
        <p:spPr>
          <a:xfrm>
            <a:off x="8595360" y="1783080"/>
            <a:ext cx="3044952" cy="548640"/>
          </a:xfrm>
          <a:prstGeom prst="roundRect">
            <a:avLst>
              <a:gd name="adj" fmla="val 2666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36" name="Shape 33"/>
          <p:cNvSpPr/>
          <p:nvPr/>
        </p:nvSpPr>
        <p:spPr>
          <a:xfrm>
            <a:off x="8705088" y="1847088"/>
            <a:ext cx="420624" cy="420624"/>
          </a:xfrm>
          <a:prstGeom prst="ellipse">
            <a:avLst/>
          </a:prstGeom>
          <a:solidFill>
            <a:srgbClr val="EDDEF9"/>
          </a:solidFill>
          <a:ln w="12700">
            <a:solidFill>
              <a:srgbClr val="EDDEF9"/>
            </a:solidFill>
            <a:prstDash val="solid"/>
          </a:ln>
        </p:spPr>
      </p:sp>
      <p:pic>
        <p:nvPicPr>
          <p:cNvPr id="37" name="Image 1" descr="preencoded.png">    </p:cNvPr>
          <p:cNvPicPr>
            <a:picLocks noChangeAspect="1"/>
          </p:cNvPicPr>
          <p:nvPr/>
        </p:nvPicPr>
        <p:blipFill>
          <a:blip r:embed="rId2"/>
          <a:stretch>
            <a:fillRect/>
          </a:stretch>
        </p:blipFill>
        <p:spPr>
          <a:xfrm>
            <a:off x="8810244" y="1952244"/>
            <a:ext cx="210312" cy="210312"/>
          </a:xfrm>
          <a:prstGeom prst="rect">
            <a:avLst/>
          </a:prstGeom>
        </p:spPr>
      </p:pic>
      <p:sp>
        <p:nvSpPr>
          <p:cNvPr id="38" name="Text 34"/>
          <p:cNvSpPr txBox="1"/>
          <p:nvPr/>
        </p:nvSpPr>
        <p:spPr>
          <a:xfrm>
            <a:off x="9253728" y="1828800"/>
            <a:ext cx="2313432" cy="256032"/>
          </a:xfrm>
          <a:prstGeom prst="rect">
            <a:avLst/>
          </a:prstGeom>
          <a:noFill/>
          <a:ln/>
        </p:spPr>
        <p:txBody>
          <a:bodyPr wrap="square" lIns="0" tIns="0" rIns="0" bIns="0" rtlCol="0" anchor="t"/>
          <a:lstStyle/>
          <a:p>
            <a:pPr algn="l" indent="0" marL="0">
              <a:buNone/>
            </a:pPr>
            <a:r>
              <a:rPr lang="en-US" sz="1300" b="1" dirty="0">
                <a:solidFill>
                  <a:srgbClr val="131B26"/>
                </a:solidFill>
                <a:latin typeface="Arial" pitchFamily="34" charset="0"/>
                <a:ea typeface="Arial" pitchFamily="34" charset="-122"/>
                <a:cs typeface="Arial" pitchFamily="34" charset="-120"/>
              </a:rPr>
              <a:t>MongoDB Atlas</a:t>
            </a:r>
            <a:endParaRPr lang="en-US" sz="1300" dirty="0"/>
          </a:p>
        </p:txBody>
      </p:sp>
      <p:sp>
        <p:nvSpPr>
          <p:cNvPr id="39" name="Text 35"/>
          <p:cNvSpPr txBox="1"/>
          <p:nvPr/>
        </p:nvSpPr>
        <p:spPr>
          <a:xfrm>
            <a:off x="9253728" y="2075688"/>
            <a:ext cx="2313432" cy="219456"/>
          </a:xfrm>
          <a:prstGeom prst="rect">
            <a:avLst/>
          </a:prstGeom>
          <a:noFill/>
          <a:ln/>
        </p:spPr>
        <p:txBody>
          <a:bodyPr wrap="square" lIns="0" tIns="0" rIns="0" bIns="0" rtlCol="0" anchor="t"/>
          <a:lstStyle/>
          <a:p>
            <a:pPr algn="l" indent="0" marL="0">
              <a:buNone/>
            </a:pPr>
            <a:r>
              <a:rPr lang="en-US" sz="1100" dirty="0">
                <a:solidFill>
                  <a:srgbClr val="606A74"/>
                </a:solidFill>
                <a:latin typeface="Calibri" pitchFamily="34" charset="0"/>
                <a:ea typeface="Calibri" pitchFamily="34" charset="-122"/>
                <a:cs typeface="Calibri" pitchFamily="34" charset="-120"/>
              </a:rPr>
              <a:t>Application data</a:t>
            </a:r>
            <a:endParaRPr lang="en-US" sz="1100" dirty="0"/>
          </a:p>
        </p:txBody>
      </p:sp>
      <p:sp>
        <p:nvSpPr>
          <p:cNvPr id="40" name="Shape 36"/>
          <p:cNvSpPr/>
          <p:nvPr/>
        </p:nvSpPr>
        <p:spPr>
          <a:xfrm>
            <a:off x="7543800" y="2752344"/>
            <a:ext cx="1005840" cy="0"/>
          </a:xfrm>
          <a:prstGeom prst="line">
            <a:avLst/>
          </a:prstGeom>
          <a:noFill/>
          <a:ln w="15875">
            <a:solidFill>
              <a:srgbClr val="606A74"/>
            </a:solidFill>
            <a:prstDash val="solid"/>
            <a:tailEnd type="triangle"/>
          </a:ln>
        </p:spPr>
      </p:sp>
      <p:sp>
        <p:nvSpPr>
          <p:cNvPr id="41" name="Shape 37"/>
          <p:cNvSpPr/>
          <p:nvPr/>
        </p:nvSpPr>
        <p:spPr>
          <a:xfrm>
            <a:off x="8595360" y="2478024"/>
            <a:ext cx="3044952" cy="548640"/>
          </a:xfrm>
          <a:prstGeom prst="roundRect">
            <a:avLst>
              <a:gd name="adj" fmla="val 2666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42" name="Shape 38"/>
          <p:cNvSpPr/>
          <p:nvPr/>
        </p:nvSpPr>
        <p:spPr>
          <a:xfrm>
            <a:off x="8705088" y="2542032"/>
            <a:ext cx="420624" cy="420624"/>
          </a:xfrm>
          <a:prstGeom prst="ellipse">
            <a:avLst/>
          </a:prstGeom>
          <a:solidFill>
            <a:srgbClr val="FFD6CD"/>
          </a:solidFill>
          <a:ln w="12700">
            <a:solidFill>
              <a:srgbClr val="FFD6CD"/>
            </a:solidFill>
            <a:prstDash val="solid"/>
          </a:ln>
        </p:spPr>
      </p:sp>
      <p:pic>
        <p:nvPicPr>
          <p:cNvPr id="43" name="Image 2" descr="preencoded.png">    </p:cNvPr>
          <p:cNvPicPr>
            <a:picLocks noChangeAspect="1"/>
          </p:cNvPicPr>
          <p:nvPr/>
        </p:nvPicPr>
        <p:blipFill>
          <a:blip r:embed="rId3"/>
          <a:stretch>
            <a:fillRect/>
          </a:stretch>
        </p:blipFill>
        <p:spPr>
          <a:xfrm>
            <a:off x="8810244" y="2647188"/>
            <a:ext cx="210312" cy="210312"/>
          </a:xfrm>
          <a:prstGeom prst="rect">
            <a:avLst/>
          </a:prstGeom>
        </p:spPr>
      </p:pic>
      <p:sp>
        <p:nvSpPr>
          <p:cNvPr id="44" name="Text 39"/>
          <p:cNvSpPr txBox="1"/>
          <p:nvPr/>
        </p:nvSpPr>
        <p:spPr>
          <a:xfrm>
            <a:off x="9253728" y="2523744"/>
            <a:ext cx="2313432" cy="256032"/>
          </a:xfrm>
          <a:prstGeom prst="rect">
            <a:avLst/>
          </a:prstGeom>
          <a:noFill/>
          <a:ln/>
        </p:spPr>
        <p:txBody>
          <a:bodyPr wrap="square" lIns="0" tIns="0" rIns="0" bIns="0" rtlCol="0" anchor="t"/>
          <a:lstStyle/>
          <a:p>
            <a:pPr algn="l" indent="0" marL="0">
              <a:buNone/>
            </a:pPr>
            <a:r>
              <a:rPr lang="en-US" sz="1300" b="1" dirty="0">
                <a:solidFill>
                  <a:srgbClr val="131B26"/>
                </a:solidFill>
                <a:latin typeface="Arial" pitchFamily="34" charset="0"/>
                <a:ea typeface="Arial" pitchFamily="34" charset="-122"/>
                <a:cs typeface="Arial" pitchFamily="34" charset="-120"/>
              </a:rPr>
              <a:t>Firebase Auth</a:t>
            </a:r>
            <a:endParaRPr lang="en-US" sz="1300" dirty="0"/>
          </a:p>
        </p:txBody>
      </p:sp>
      <p:sp>
        <p:nvSpPr>
          <p:cNvPr id="45" name="Text 40"/>
          <p:cNvSpPr txBox="1"/>
          <p:nvPr/>
        </p:nvSpPr>
        <p:spPr>
          <a:xfrm>
            <a:off x="9253728" y="2770632"/>
            <a:ext cx="2313432" cy="219456"/>
          </a:xfrm>
          <a:prstGeom prst="rect">
            <a:avLst/>
          </a:prstGeom>
          <a:noFill/>
          <a:ln/>
        </p:spPr>
        <p:txBody>
          <a:bodyPr wrap="square" lIns="0" tIns="0" rIns="0" bIns="0" rtlCol="0" anchor="t"/>
          <a:lstStyle/>
          <a:p>
            <a:pPr algn="l" indent="0" marL="0">
              <a:buNone/>
            </a:pPr>
            <a:r>
              <a:rPr lang="en-US" sz="1100" dirty="0">
                <a:solidFill>
                  <a:srgbClr val="606A74"/>
                </a:solidFill>
                <a:latin typeface="Calibri" pitchFamily="34" charset="0"/>
                <a:ea typeface="Calibri" pitchFamily="34" charset="-122"/>
                <a:cs typeface="Calibri" pitchFamily="34" charset="-120"/>
              </a:rPr>
              <a:t>Identity and tokens</a:t>
            </a:r>
            <a:endParaRPr lang="en-US" sz="1100" dirty="0"/>
          </a:p>
        </p:txBody>
      </p:sp>
      <p:sp>
        <p:nvSpPr>
          <p:cNvPr id="46" name="Shape 41"/>
          <p:cNvSpPr/>
          <p:nvPr/>
        </p:nvSpPr>
        <p:spPr>
          <a:xfrm>
            <a:off x="7543800" y="3447288"/>
            <a:ext cx="1005840" cy="0"/>
          </a:xfrm>
          <a:prstGeom prst="line">
            <a:avLst/>
          </a:prstGeom>
          <a:noFill/>
          <a:ln w="15875">
            <a:solidFill>
              <a:srgbClr val="606A74"/>
            </a:solidFill>
            <a:prstDash val="solid"/>
            <a:tailEnd type="triangle"/>
          </a:ln>
        </p:spPr>
      </p:sp>
      <p:sp>
        <p:nvSpPr>
          <p:cNvPr id="47" name="Shape 42"/>
          <p:cNvSpPr/>
          <p:nvPr/>
        </p:nvSpPr>
        <p:spPr>
          <a:xfrm>
            <a:off x="8595360" y="3172968"/>
            <a:ext cx="3044952" cy="548640"/>
          </a:xfrm>
          <a:prstGeom prst="roundRect">
            <a:avLst>
              <a:gd name="adj" fmla="val 2666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48" name="Shape 43"/>
          <p:cNvSpPr/>
          <p:nvPr/>
        </p:nvSpPr>
        <p:spPr>
          <a:xfrm>
            <a:off x="8705088" y="3236976"/>
            <a:ext cx="420624" cy="420624"/>
          </a:xfrm>
          <a:prstGeom prst="ellipse">
            <a:avLst/>
          </a:prstGeom>
          <a:solidFill>
            <a:srgbClr val="D2ECFC"/>
          </a:solidFill>
          <a:ln w="12700">
            <a:solidFill>
              <a:srgbClr val="D2ECFC"/>
            </a:solidFill>
            <a:prstDash val="solid"/>
          </a:ln>
        </p:spPr>
      </p:sp>
      <p:pic>
        <p:nvPicPr>
          <p:cNvPr id="49" name="Image 3" descr="preencoded.png">    </p:cNvPr>
          <p:cNvPicPr>
            <a:picLocks noChangeAspect="1"/>
          </p:cNvPicPr>
          <p:nvPr/>
        </p:nvPicPr>
        <p:blipFill>
          <a:blip r:embed="rId4"/>
          <a:stretch>
            <a:fillRect/>
          </a:stretch>
        </p:blipFill>
        <p:spPr>
          <a:xfrm>
            <a:off x="8810244" y="3342132"/>
            <a:ext cx="210312" cy="210312"/>
          </a:xfrm>
          <a:prstGeom prst="rect">
            <a:avLst/>
          </a:prstGeom>
        </p:spPr>
      </p:pic>
      <p:sp>
        <p:nvSpPr>
          <p:cNvPr id="50" name="Text 44"/>
          <p:cNvSpPr txBox="1"/>
          <p:nvPr/>
        </p:nvSpPr>
        <p:spPr>
          <a:xfrm>
            <a:off x="9253728" y="3218688"/>
            <a:ext cx="2313432" cy="256032"/>
          </a:xfrm>
          <a:prstGeom prst="rect">
            <a:avLst/>
          </a:prstGeom>
          <a:noFill/>
          <a:ln/>
        </p:spPr>
        <p:txBody>
          <a:bodyPr wrap="square" lIns="0" tIns="0" rIns="0" bIns="0" rtlCol="0" anchor="t"/>
          <a:lstStyle/>
          <a:p>
            <a:pPr algn="l" indent="0" marL="0">
              <a:buNone/>
            </a:pPr>
            <a:r>
              <a:rPr lang="en-US" sz="1300" b="1" dirty="0">
                <a:solidFill>
                  <a:srgbClr val="131B26"/>
                </a:solidFill>
                <a:latin typeface="Arial" pitchFamily="34" charset="0"/>
                <a:ea typeface="Arial" pitchFamily="34" charset="-122"/>
                <a:cs typeface="Arial" pitchFamily="34" charset="-120"/>
              </a:rPr>
              <a:t>AWS S3 + CloudFront</a:t>
            </a:r>
            <a:endParaRPr lang="en-US" sz="1300" dirty="0"/>
          </a:p>
        </p:txBody>
      </p:sp>
      <p:sp>
        <p:nvSpPr>
          <p:cNvPr id="51" name="Text 45"/>
          <p:cNvSpPr txBox="1"/>
          <p:nvPr/>
        </p:nvSpPr>
        <p:spPr>
          <a:xfrm>
            <a:off x="9253728" y="3465576"/>
            <a:ext cx="2313432" cy="219456"/>
          </a:xfrm>
          <a:prstGeom prst="rect">
            <a:avLst/>
          </a:prstGeom>
          <a:noFill/>
          <a:ln/>
        </p:spPr>
        <p:txBody>
          <a:bodyPr wrap="square" lIns="0" tIns="0" rIns="0" bIns="0" rtlCol="0" anchor="t"/>
          <a:lstStyle/>
          <a:p>
            <a:pPr algn="l" indent="0" marL="0">
              <a:buNone/>
            </a:pPr>
            <a:r>
              <a:rPr lang="en-US" sz="1100" dirty="0">
                <a:solidFill>
                  <a:srgbClr val="606A74"/>
                </a:solidFill>
                <a:latin typeface="Calibri" pitchFamily="34" charset="0"/>
                <a:ea typeface="Calibri" pitchFamily="34" charset="-122"/>
                <a:cs typeface="Calibri" pitchFamily="34" charset="-120"/>
              </a:rPr>
              <a:t>Lecture videos</a:t>
            </a:r>
            <a:endParaRPr lang="en-US" sz="1100" dirty="0"/>
          </a:p>
        </p:txBody>
      </p:sp>
      <p:sp>
        <p:nvSpPr>
          <p:cNvPr id="52" name="Shape 46"/>
          <p:cNvSpPr/>
          <p:nvPr/>
        </p:nvSpPr>
        <p:spPr>
          <a:xfrm>
            <a:off x="7543800" y="4142232"/>
            <a:ext cx="1005840" cy="0"/>
          </a:xfrm>
          <a:prstGeom prst="line">
            <a:avLst/>
          </a:prstGeom>
          <a:noFill/>
          <a:ln w="15875">
            <a:solidFill>
              <a:srgbClr val="606A74"/>
            </a:solidFill>
            <a:prstDash val="solid"/>
            <a:tailEnd type="triangle"/>
          </a:ln>
        </p:spPr>
      </p:sp>
      <p:sp>
        <p:nvSpPr>
          <p:cNvPr id="53" name="Shape 47"/>
          <p:cNvSpPr/>
          <p:nvPr/>
        </p:nvSpPr>
        <p:spPr>
          <a:xfrm>
            <a:off x="8595360" y="3867912"/>
            <a:ext cx="3044952" cy="548640"/>
          </a:xfrm>
          <a:prstGeom prst="roundRect">
            <a:avLst>
              <a:gd name="adj" fmla="val 2666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54" name="Shape 48"/>
          <p:cNvSpPr/>
          <p:nvPr/>
        </p:nvSpPr>
        <p:spPr>
          <a:xfrm>
            <a:off x="8705088" y="3931920"/>
            <a:ext cx="420624" cy="420624"/>
          </a:xfrm>
          <a:prstGeom prst="ellipse">
            <a:avLst/>
          </a:prstGeom>
          <a:solidFill>
            <a:srgbClr val="C7EEEA"/>
          </a:solidFill>
          <a:ln w="12700">
            <a:solidFill>
              <a:srgbClr val="C7EEEA"/>
            </a:solidFill>
            <a:prstDash val="solid"/>
          </a:ln>
        </p:spPr>
      </p:sp>
      <p:pic>
        <p:nvPicPr>
          <p:cNvPr id="55" name="Image 4" descr="preencoded.png">    </p:cNvPr>
          <p:cNvPicPr>
            <a:picLocks noChangeAspect="1"/>
          </p:cNvPicPr>
          <p:nvPr/>
        </p:nvPicPr>
        <p:blipFill>
          <a:blip r:embed="rId5"/>
          <a:stretch>
            <a:fillRect/>
          </a:stretch>
        </p:blipFill>
        <p:spPr>
          <a:xfrm>
            <a:off x="8810244" y="4037076"/>
            <a:ext cx="210312" cy="210312"/>
          </a:xfrm>
          <a:prstGeom prst="rect">
            <a:avLst/>
          </a:prstGeom>
        </p:spPr>
      </p:pic>
      <p:sp>
        <p:nvSpPr>
          <p:cNvPr id="56" name="Text 49"/>
          <p:cNvSpPr txBox="1"/>
          <p:nvPr/>
        </p:nvSpPr>
        <p:spPr>
          <a:xfrm>
            <a:off x="9253728" y="3913632"/>
            <a:ext cx="2313432" cy="256032"/>
          </a:xfrm>
          <a:prstGeom prst="rect">
            <a:avLst/>
          </a:prstGeom>
          <a:noFill/>
          <a:ln/>
        </p:spPr>
        <p:txBody>
          <a:bodyPr wrap="square" lIns="0" tIns="0" rIns="0" bIns="0" rtlCol="0" anchor="t"/>
          <a:lstStyle/>
          <a:p>
            <a:pPr algn="l" indent="0" marL="0">
              <a:buNone/>
            </a:pPr>
            <a:r>
              <a:rPr lang="en-US" sz="1300" b="1" dirty="0">
                <a:solidFill>
                  <a:srgbClr val="131B26"/>
                </a:solidFill>
                <a:latin typeface="Arial" pitchFamily="34" charset="0"/>
                <a:ea typeface="Arial" pitchFamily="34" charset="-122"/>
                <a:cs typeface="Arial" pitchFamily="34" charset="-120"/>
              </a:rPr>
              <a:t>Supabase Storage</a:t>
            </a:r>
            <a:endParaRPr lang="en-US" sz="1300" dirty="0"/>
          </a:p>
        </p:txBody>
      </p:sp>
      <p:sp>
        <p:nvSpPr>
          <p:cNvPr id="57" name="Text 50"/>
          <p:cNvSpPr txBox="1"/>
          <p:nvPr/>
        </p:nvSpPr>
        <p:spPr>
          <a:xfrm>
            <a:off x="9253728" y="4160520"/>
            <a:ext cx="2313432" cy="219456"/>
          </a:xfrm>
          <a:prstGeom prst="rect">
            <a:avLst/>
          </a:prstGeom>
          <a:noFill/>
          <a:ln/>
        </p:spPr>
        <p:txBody>
          <a:bodyPr wrap="square" lIns="0" tIns="0" rIns="0" bIns="0" rtlCol="0" anchor="t"/>
          <a:lstStyle/>
          <a:p>
            <a:pPr algn="l" indent="0" marL="0">
              <a:buNone/>
            </a:pPr>
            <a:r>
              <a:rPr lang="en-US" sz="1100" dirty="0">
                <a:solidFill>
                  <a:srgbClr val="606A74"/>
                </a:solidFill>
                <a:latin typeface="Calibri" pitchFamily="34" charset="0"/>
                <a:ea typeface="Calibri" pitchFamily="34" charset="-122"/>
                <a:cs typeface="Calibri" pitchFamily="34" charset="-120"/>
              </a:rPr>
              <a:t>Images and documents</a:t>
            </a:r>
            <a:endParaRPr lang="en-US" sz="1100" dirty="0"/>
          </a:p>
        </p:txBody>
      </p:sp>
      <p:sp>
        <p:nvSpPr>
          <p:cNvPr id="58" name="Shape 51"/>
          <p:cNvSpPr/>
          <p:nvPr/>
        </p:nvSpPr>
        <p:spPr>
          <a:xfrm>
            <a:off x="7543800" y="4837176"/>
            <a:ext cx="1005840" cy="0"/>
          </a:xfrm>
          <a:prstGeom prst="line">
            <a:avLst/>
          </a:prstGeom>
          <a:noFill/>
          <a:ln w="15875">
            <a:solidFill>
              <a:srgbClr val="606A74"/>
            </a:solidFill>
            <a:prstDash val="solid"/>
            <a:tailEnd type="triangle"/>
          </a:ln>
        </p:spPr>
      </p:sp>
      <p:sp>
        <p:nvSpPr>
          <p:cNvPr id="59" name="Shape 52"/>
          <p:cNvSpPr/>
          <p:nvPr/>
        </p:nvSpPr>
        <p:spPr>
          <a:xfrm>
            <a:off x="8595360" y="4562856"/>
            <a:ext cx="3044952" cy="548640"/>
          </a:xfrm>
          <a:prstGeom prst="roundRect">
            <a:avLst>
              <a:gd name="adj" fmla="val 2666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60" name="Shape 53"/>
          <p:cNvSpPr/>
          <p:nvPr/>
        </p:nvSpPr>
        <p:spPr>
          <a:xfrm>
            <a:off x="8705088" y="4626864"/>
            <a:ext cx="420624" cy="420624"/>
          </a:xfrm>
          <a:prstGeom prst="ellipse">
            <a:avLst/>
          </a:prstGeom>
          <a:solidFill>
            <a:srgbClr val="F7ECBE"/>
          </a:solidFill>
          <a:ln w="12700">
            <a:solidFill>
              <a:srgbClr val="F7ECBE"/>
            </a:solidFill>
            <a:prstDash val="solid"/>
          </a:ln>
        </p:spPr>
      </p:sp>
      <p:pic>
        <p:nvPicPr>
          <p:cNvPr id="61" name="Image 5" descr="preencoded.png">    </p:cNvPr>
          <p:cNvPicPr>
            <a:picLocks noChangeAspect="1"/>
          </p:cNvPicPr>
          <p:nvPr/>
        </p:nvPicPr>
        <p:blipFill>
          <a:blip r:embed="rId6"/>
          <a:stretch>
            <a:fillRect/>
          </a:stretch>
        </p:blipFill>
        <p:spPr>
          <a:xfrm>
            <a:off x="8810244" y="4732020"/>
            <a:ext cx="210312" cy="210312"/>
          </a:xfrm>
          <a:prstGeom prst="rect">
            <a:avLst/>
          </a:prstGeom>
        </p:spPr>
      </p:pic>
      <p:sp>
        <p:nvSpPr>
          <p:cNvPr id="62" name="Text 54"/>
          <p:cNvSpPr txBox="1"/>
          <p:nvPr/>
        </p:nvSpPr>
        <p:spPr>
          <a:xfrm>
            <a:off x="9253728" y="4608576"/>
            <a:ext cx="2313432" cy="256032"/>
          </a:xfrm>
          <a:prstGeom prst="rect">
            <a:avLst/>
          </a:prstGeom>
          <a:noFill/>
          <a:ln/>
        </p:spPr>
        <p:txBody>
          <a:bodyPr wrap="square" lIns="0" tIns="0" rIns="0" bIns="0" rtlCol="0" anchor="t"/>
          <a:lstStyle/>
          <a:p>
            <a:pPr algn="l" indent="0" marL="0">
              <a:buNone/>
            </a:pPr>
            <a:r>
              <a:rPr lang="en-US" sz="1300" b="1" dirty="0">
                <a:solidFill>
                  <a:srgbClr val="131B26"/>
                </a:solidFill>
                <a:latin typeface="Arial" pitchFamily="34" charset="0"/>
                <a:ea typeface="Arial" pitchFamily="34" charset="-122"/>
                <a:cs typeface="Arial" pitchFamily="34" charset="-120"/>
              </a:rPr>
              <a:t>Resend</a:t>
            </a:r>
            <a:endParaRPr lang="en-US" sz="1300" dirty="0"/>
          </a:p>
        </p:txBody>
      </p:sp>
      <p:sp>
        <p:nvSpPr>
          <p:cNvPr id="63" name="Text 55"/>
          <p:cNvSpPr txBox="1"/>
          <p:nvPr/>
        </p:nvSpPr>
        <p:spPr>
          <a:xfrm>
            <a:off x="9253728" y="4855464"/>
            <a:ext cx="2313432" cy="219456"/>
          </a:xfrm>
          <a:prstGeom prst="rect">
            <a:avLst/>
          </a:prstGeom>
          <a:noFill/>
          <a:ln/>
        </p:spPr>
        <p:txBody>
          <a:bodyPr wrap="square" lIns="0" tIns="0" rIns="0" bIns="0" rtlCol="0" anchor="t"/>
          <a:lstStyle/>
          <a:p>
            <a:pPr algn="l" indent="0" marL="0">
              <a:buNone/>
            </a:pPr>
            <a:r>
              <a:rPr lang="en-US" sz="1100" dirty="0">
                <a:solidFill>
                  <a:srgbClr val="606A74"/>
                </a:solidFill>
                <a:latin typeface="Calibri" pitchFamily="34" charset="0"/>
                <a:ea typeface="Calibri" pitchFamily="34" charset="-122"/>
                <a:cs typeface="Calibri" pitchFamily="34" charset="-120"/>
              </a:rPr>
              <a:t>Transactional email</a:t>
            </a:r>
            <a:endParaRPr lang="en-US" sz="1100" dirty="0"/>
          </a:p>
        </p:txBody>
      </p:sp>
      <p:sp>
        <p:nvSpPr>
          <p:cNvPr id="64" name="Shape 56"/>
          <p:cNvSpPr/>
          <p:nvPr/>
        </p:nvSpPr>
        <p:spPr>
          <a:xfrm>
            <a:off x="7543800" y="5532120"/>
            <a:ext cx="1005840" cy="0"/>
          </a:xfrm>
          <a:prstGeom prst="line">
            <a:avLst/>
          </a:prstGeom>
          <a:noFill/>
          <a:ln w="15875">
            <a:solidFill>
              <a:srgbClr val="606A74"/>
            </a:solidFill>
            <a:prstDash val="solid"/>
            <a:tailEnd type="triangle"/>
          </a:ln>
        </p:spPr>
      </p:sp>
      <p:sp>
        <p:nvSpPr>
          <p:cNvPr id="65" name="Shape 57"/>
          <p:cNvSpPr/>
          <p:nvPr/>
        </p:nvSpPr>
        <p:spPr>
          <a:xfrm>
            <a:off x="8595360" y="5257800"/>
            <a:ext cx="3044952" cy="548640"/>
          </a:xfrm>
          <a:prstGeom prst="roundRect">
            <a:avLst>
              <a:gd name="adj" fmla="val 26667"/>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66" name="Shape 58"/>
          <p:cNvSpPr/>
          <p:nvPr/>
        </p:nvSpPr>
        <p:spPr>
          <a:xfrm>
            <a:off x="8705088" y="5321808"/>
            <a:ext cx="420624" cy="420624"/>
          </a:xfrm>
          <a:prstGeom prst="ellipse">
            <a:avLst/>
          </a:prstGeom>
          <a:solidFill>
            <a:srgbClr val="CBEFD6"/>
          </a:solidFill>
          <a:ln w="12700">
            <a:solidFill>
              <a:srgbClr val="CBEFD6"/>
            </a:solidFill>
            <a:prstDash val="solid"/>
          </a:ln>
        </p:spPr>
      </p:sp>
      <p:pic>
        <p:nvPicPr>
          <p:cNvPr id="67" name="Image 6" descr="preencoded.png">    </p:cNvPr>
          <p:cNvPicPr>
            <a:picLocks noChangeAspect="1"/>
          </p:cNvPicPr>
          <p:nvPr/>
        </p:nvPicPr>
        <p:blipFill>
          <a:blip r:embed="rId7"/>
          <a:stretch>
            <a:fillRect/>
          </a:stretch>
        </p:blipFill>
        <p:spPr>
          <a:xfrm>
            <a:off x="8810244" y="5426964"/>
            <a:ext cx="210312" cy="210312"/>
          </a:xfrm>
          <a:prstGeom prst="rect">
            <a:avLst/>
          </a:prstGeom>
        </p:spPr>
      </p:pic>
      <p:sp>
        <p:nvSpPr>
          <p:cNvPr id="68" name="Text 59"/>
          <p:cNvSpPr txBox="1"/>
          <p:nvPr/>
        </p:nvSpPr>
        <p:spPr>
          <a:xfrm>
            <a:off x="9253728" y="5303520"/>
            <a:ext cx="2313432" cy="256032"/>
          </a:xfrm>
          <a:prstGeom prst="rect">
            <a:avLst/>
          </a:prstGeom>
          <a:noFill/>
          <a:ln/>
        </p:spPr>
        <p:txBody>
          <a:bodyPr wrap="square" lIns="0" tIns="0" rIns="0" bIns="0" rtlCol="0" anchor="t"/>
          <a:lstStyle/>
          <a:p>
            <a:pPr algn="l" indent="0" marL="0">
              <a:buNone/>
            </a:pPr>
            <a:r>
              <a:rPr lang="en-US" sz="1300" b="1" dirty="0">
                <a:solidFill>
                  <a:srgbClr val="131B26"/>
                </a:solidFill>
                <a:latin typeface="Arial" pitchFamily="34" charset="0"/>
                <a:ea typeface="Arial" pitchFamily="34" charset="-122"/>
                <a:cs typeface="Arial" pitchFamily="34" charset="-120"/>
              </a:rPr>
              <a:t>Razorpay</a:t>
            </a:r>
            <a:endParaRPr lang="en-US" sz="1300" dirty="0"/>
          </a:p>
        </p:txBody>
      </p:sp>
      <p:sp>
        <p:nvSpPr>
          <p:cNvPr id="69" name="Text 60"/>
          <p:cNvSpPr txBox="1"/>
          <p:nvPr/>
        </p:nvSpPr>
        <p:spPr>
          <a:xfrm>
            <a:off x="9253728" y="5550408"/>
            <a:ext cx="2313432" cy="219456"/>
          </a:xfrm>
          <a:prstGeom prst="rect">
            <a:avLst/>
          </a:prstGeom>
          <a:noFill/>
          <a:ln/>
        </p:spPr>
        <p:txBody>
          <a:bodyPr wrap="square" lIns="0" tIns="0" rIns="0" bIns="0" rtlCol="0" anchor="t"/>
          <a:lstStyle/>
          <a:p>
            <a:pPr algn="l" indent="0" marL="0">
              <a:buNone/>
            </a:pPr>
            <a:r>
              <a:rPr lang="en-US" sz="1100" dirty="0">
                <a:solidFill>
                  <a:srgbClr val="606A74"/>
                </a:solidFill>
                <a:latin typeface="Calibri" pitchFamily="34" charset="0"/>
                <a:ea typeface="Calibri" pitchFamily="34" charset="-122"/>
                <a:cs typeface="Calibri" pitchFamily="34" charset="-120"/>
              </a:rPr>
              <a:t>Payments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IMPACT</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The Project by the Numbers</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691640"/>
            <a:ext cx="2606040" cy="2286000"/>
          </a:xfrm>
          <a:prstGeom prst="roundRect">
            <a:avLst>
              <a:gd name="adj" fmla="val 12000"/>
            </a:avLst>
          </a:prstGeom>
          <a:solidFill>
            <a:srgbClr val="D2ECFC"/>
          </a:solidFill>
          <a:ln w="12700">
            <a:solidFill>
              <a:srgbClr val="D2ECFC"/>
            </a:solidFill>
            <a:prstDash val="solid"/>
          </a:ln>
        </p:spPr>
      </p:sp>
      <p:sp>
        <p:nvSpPr>
          <p:cNvPr id="8" name="Text 5"/>
          <p:cNvSpPr txBox="1"/>
          <p:nvPr/>
        </p:nvSpPr>
        <p:spPr>
          <a:xfrm>
            <a:off x="548640" y="2148840"/>
            <a:ext cx="2606040" cy="1005840"/>
          </a:xfrm>
          <a:prstGeom prst="rect">
            <a:avLst/>
          </a:prstGeom>
          <a:noFill/>
          <a:ln/>
        </p:spPr>
        <p:txBody>
          <a:bodyPr wrap="square" lIns="0" tIns="0" rIns="0" bIns="0" rtlCol="0" anchor="t"/>
          <a:lstStyle/>
          <a:p>
            <a:pPr algn="ctr" indent="0" marL="0">
              <a:buNone/>
            </a:pPr>
            <a:r>
              <a:rPr lang="en-US" sz="5400" b="1" dirty="0">
                <a:solidFill>
                  <a:srgbClr val="004E90"/>
                </a:solidFill>
                <a:latin typeface="Arial" pitchFamily="34" charset="0"/>
                <a:ea typeface="Arial" pitchFamily="34" charset="-122"/>
                <a:cs typeface="Arial" pitchFamily="34" charset="-120"/>
              </a:rPr>
              <a:t>58K+</a:t>
            </a:r>
            <a:endParaRPr lang="en-US" sz="5400" dirty="0"/>
          </a:p>
        </p:txBody>
      </p:sp>
      <p:sp>
        <p:nvSpPr>
          <p:cNvPr id="9" name="Text 6"/>
          <p:cNvSpPr txBox="1"/>
          <p:nvPr/>
        </p:nvSpPr>
        <p:spPr>
          <a:xfrm>
            <a:off x="548640" y="3246120"/>
            <a:ext cx="2606040" cy="365760"/>
          </a:xfrm>
          <a:prstGeom prst="rect">
            <a:avLst/>
          </a:prstGeom>
          <a:noFill/>
          <a:ln/>
        </p:spPr>
        <p:txBody>
          <a:bodyPr wrap="square" lIns="0" tIns="0" rIns="0" bIns="0" rtlCol="0" anchor="t"/>
          <a:lstStyle/>
          <a:p>
            <a:pPr algn="ctr" indent="0" marL="0">
              <a:buNone/>
            </a:pPr>
            <a:r>
              <a:rPr lang="en-US" sz="1500" dirty="0">
                <a:solidFill>
                  <a:srgbClr val="131B26"/>
                </a:solidFill>
                <a:latin typeface="Calibri" pitchFamily="34" charset="0"/>
                <a:ea typeface="Calibri" pitchFamily="34" charset="-122"/>
                <a:cs typeface="Calibri" pitchFamily="34" charset="-120"/>
              </a:rPr>
              <a:t>lines of TypeScript / TSX</a:t>
            </a:r>
            <a:endParaRPr lang="en-US" sz="1500" dirty="0"/>
          </a:p>
        </p:txBody>
      </p:sp>
      <p:sp>
        <p:nvSpPr>
          <p:cNvPr id="10" name="Shape 7"/>
          <p:cNvSpPr/>
          <p:nvPr/>
        </p:nvSpPr>
        <p:spPr>
          <a:xfrm>
            <a:off x="3378098" y="1691640"/>
            <a:ext cx="2606040" cy="2286000"/>
          </a:xfrm>
          <a:prstGeom prst="roundRect">
            <a:avLst>
              <a:gd name="adj" fmla="val 12000"/>
            </a:avLst>
          </a:prstGeom>
          <a:solidFill>
            <a:srgbClr val="EDDEF9"/>
          </a:solidFill>
          <a:ln w="12700">
            <a:solidFill>
              <a:srgbClr val="EDDEF9"/>
            </a:solidFill>
            <a:prstDash val="solid"/>
          </a:ln>
        </p:spPr>
      </p:sp>
      <p:sp>
        <p:nvSpPr>
          <p:cNvPr id="11" name="Text 8"/>
          <p:cNvSpPr txBox="1"/>
          <p:nvPr/>
        </p:nvSpPr>
        <p:spPr>
          <a:xfrm>
            <a:off x="3378098" y="2148840"/>
            <a:ext cx="2606040" cy="1005840"/>
          </a:xfrm>
          <a:prstGeom prst="rect">
            <a:avLst/>
          </a:prstGeom>
          <a:noFill/>
          <a:ln/>
        </p:spPr>
        <p:txBody>
          <a:bodyPr wrap="square" lIns="0" tIns="0" rIns="0" bIns="0" rtlCol="0" anchor="t"/>
          <a:lstStyle/>
          <a:p>
            <a:pPr algn="ctr" indent="0" marL="0">
              <a:buNone/>
            </a:pPr>
            <a:r>
              <a:rPr lang="en-US" sz="5400" b="1" dirty="0">
                <a:solidFill>
                  <a:srgbClr val="7A4B9A"/>
                </a:solidFill>
                <a:latin typeface="Arial" pitchFamily="34" charset="0"/>
                <a:ea typeface="Arial" pitchFamily="34" charset="-122"/>
                <a:cs typeface="Arial" pitchFamily="34" charset="-120"/>
              </a:rPr>
              <a:t>270+</a:t>
            </a:r>
            <a:endParaRPr lang="en-US" sz="5400" dirty="0"/>
          </a:p>
        </p:txBody>
      </p:sp>
      <p:sp>
        <p:nvSpPr>
          <p:cNvPr id="12" name="Text 9"/>
          <p:cNvSpPr txBox="1"/>
          <p:nvPr/>
        </p:nvSpPr>
        <p:spPr>
          <a:xfrm>
            <a:off x="3378098" y="3246120"/>
            <a:ext cx="2606040" cy="365760"/>
          </a:xfrm>
          <a:prstGeom prst="rect">
            <a:avLst/>
          </a:prstGeom>
          <a:noFill/>
          <a:ln/>
        </p:spPr>
        <p:txBody>
          <a:bodyPr wrap="square" lIns="0" tIns="0" rIns="0" bIns="0" rtlCol="0" anchor="t"/>
          <a:lstStyle/>
          <a:p>
            <a:pPr algn="ctr" indent="0" marL="0">
              <a:buNone/>
            </a:pPr>
            <a:r>
              <a:rPr lang="en-US" sz="1500" dirty="0">
                <a:solidFill>
                  <a:srgbClr val="131B26"/>
                </a:solidFill>
                <a:latin typeface="Calibri" pitchFamily="34" charset="0"/>
                <a:ea typeface="Calibri" pitchFamily="34" charset="-122"/>
                <a:cs typeface="Calibri" pitchFamily="34" charset="-120"/>
              </a:rPr>
              <a:t>server functions</a:t>
            </a:r>
            <a:endParaRPr lang="en-US" sz="1500" dirty="0"/>
          </a:p>
        </p:txBody>
      </p:sp>
      <p:sp>
        <p:nvSpPr>
          <p:cNvPr id="13" name="Shape 10"/>
          <p:cNvSpPr/>
          <p:nvPr/>
        </p:nvSpPr>
        <p:spPr>
          <a:xfrm>
            <a:off x="6207557" y="1691640"/>
            <a:ext cx="2606040" cy="2286000"/>
          </a:xfrm>
          <a:prstGeom prst="roundRect">
            <a:avLst>
              <a:gd name="adj" fmla="val 12000"/>
            </a:avLst>
          </a:prstGeom>
          <a:solidFill>
            <a:srgbClr val="C7EEEA"/>
          </a:solidFill>
          <a:ln w="12700">
            <a:solidFill>
              <a:srgbClr val="C7EEEA"/>
            </a:solidFill>
            <a:prstDash val="solid"/>
          </a:ln>
        </p:spPr>
      </p:sp>
      <p:sp>
        <p:nvSpPr>
          <p:cNvPr id="14" name="Text 11"/>
          <p:cNvSpPr txBox="1"/>
          <p:nvPr/>
        </p:nvSpPr>
        <p:spPr>
          <a:xfrm>
            <a:off x="6207557" y="2148840"/>
            <a:ext cx="2606040" cy="1005840"/>
          </a:xfrm>
          <a:prstGeom prst="rect">
            <a:avLst/>
          </a:prstGeom>
          <a:noFill/>
          <a:ln/>
        </p:spPr>
        <p:txBody>
          <a:bodyPr wrap="square" lIns="0" tIns="0" rIns="0" bIns="0" rtlCol="0" anchor="t"/>
          <a:lstStyle/>
          <a:p>
            <a:pPr algn="ctr" indent="0" marL="0">
              <a:buNone/>
            </a:pPr>
            <a:r>
              <a:rPr lang="en-US" sz="5400" b="1" dirty="0">
                <a:solidFill>
                  <a:srgbClr val="00847E"/>
                </a:solidFill>
                <a:latin typeface="Arial" pitchFamily="34" charset="0"/>
                <a:ea typeface="Arial" pitchFamily="34" charset="-122"/>
                <a:cs typeface="Arial" pitchFamily="34" charset="-120"/>
              </a:rPr>
              <a:t>35+</a:t>
            </a:r>
            <a:endParaRPr lang="en-US" sz="5400" dirty="0"/>
          </a:p>
        </p:txBody>
      </p:sp>
      <p:sp>
        <p:nvSpPr>
          <p:cNvPr id="15" name="Text 12"/>
          <p:cNvSpPr txBox="1"/>
          <p:nvPr/>
        </p:nvSpPr>
        <p:spPr>
          <a:xfrm>
            <a:off x="6207557" y="3246120"/>
            <a:ext cx="2606040" cy="365760"/>
          </a:xfrm>
          <a:prstGeom prst="rect">
            <a:avLst/>
          </a:prstGeom>
          <a:noFill/>
          <a:ln/>
        </p:spPr>
        <p:txBody>
          <a:bodyPr wrap="square" lIns="0" tIns="0" rIns="0" bIns="0" rtlCol="0" anchor="t"/>
          <a:lstStyle/>
          <a:p>
            <a:pPr algn="ctr" indent="0" marL="0">
              <a:buNone/>
            </a:pPr>
            <a:r>
              <a:rPr lang="en-US" sz="1500" dirty="0">
                <a:solidFill>
                  <a:srgbClr val="131B26"/>
                </a:solidFill>
                <a:latin typeface="Calibri" pitchFamily="34" charset="0"/>
                <a:ea typeface="Calibri" pitchFamily="34" charset="-122"/>
                <a:cs typeface="Calibri" pitchFamily="34" charset="-120"/>
              </a:rPr>
              <a:t>application routes</a:t>
            </a:r>
            <a:endParaRPr lang="en-US" sz="1500" dirty="0"/>
          </a:p>
        </p:txBody>
      </p:sp>
      <p:sp>
        <p:nvSpPr>
          <p:cNvPr id="16" name="Shape 13"/>
          <p:cNvSpPr/>
          <p:nvPr/>
        </p:nvSpPr>
        <p:spPr>
          <a:xfrm>
            <a:off x="9037015" y="1691640"/>
            <a:ext cx="2606040" cy="2286000"/>
          </a:xfrm>
          <a:prstGeom prst="roundRect">
            <a:avLst>
              <a:gd name="adj" fmla="val 12000"/>
            </a:avLst>
          </a:prstGeom>
          <a:solidFill>
            <a:srgbClr val="CBEFD6"/>
          </a:solidFill>
          <a:ln w="12700">
            <a:solidFill>
              <a:srgbClr val="CBEFD6"/>
            </a:solidFill>
            <a:prstDash val="solid"/>
          </a:ln>
        </p:spPr>
      </p:sp>
      <p:sp>
        <p:nvSpPr>
          <p:cNvPr id="17" name="Text 14"/>
          <p:cNvSpPr txBox="1"/>
          <p:nvPr/>
        </p:nvSpPr>
        <p:spPr>
          <a:xfrm>
            <a:off x="9037015" y="2148840"/>
            <a:ext cx="2606040" cy="1005840"/>
          </a:xfrm>
          <a:prstGeom prst="rect">
            <a:avLst/>
          </a:prstGeom>
          <a:noFill/>
          <a:ln/>
        </p:spPr>
        <p:txBody>
          <a:bodyPr wrap="square" lIns="0" tIns="0" rIns="0" bIns="0" rtlCol="0" anchor="t"/>
          <a:lstStyle/>
          <a:p>
            <a:pPr algn="ctr" indent="0" marL="0">
              <a:buNone/>
            </a:pPr>
            <a:r>
              <a:rPr lang="en-US" sz="5400" b="1" dirty="0">
                <a:solidFill>
                  <a:srgbClr val="258651"/>
                </a:solidFill>
                <a:latin typeface="Arial" pitchFamily="34" charset="0"/>
                <a:ea typeface="Arial" pitchFamily="34" charset="-122"/>
                <a:cs typeface="Arial" pitchFamily="34" charset="-120"/>
              </a:rPr>
              <a:t>45+</a:t>
            </a:r>
            <a:endParaRPr lang="en-US" sz="5400" dirty="0"/>
          </a:p>
        </p:txBody>
      </p:sp>
      <p:sp>
        <p:nvSpPr>
          <p:cNvPr id="18" name="Text 15"/>
          <p:cNvSpPr txBox="1"/>
          <p:nvPr/>
        </p:nvSpPr>
        <p:spPr>
          <a:xfrm>
            <a:off x="9037015" y="3246120"/>
            <a:ext cx="2606040" cy="365760"/>
          </a:xfrm>
          <a:prstGeom prst="rect">
            <a:avLst/>
          </a:prstGeom>
          <a:noFill/>
          <a:ln/>
        </p:spPr>
        <p:txBody>
          <a:bodyPr wrap="square" lIns="0" tIns="0" rIns="0" bIns="0" rtlCol="0" anchor="t"/>
          <a:lstStyle/>
          <a:p>
            <a:pPr algn="ctr" indent="0" marL="0">
              <a:buNone/>
            </a:pPr>
            <a:r>
              <a:rPr lang="en-US" sz="1500" dirty="0">
                <a:solidFill>
                  <a:srgbClr val="131B26"/>
                </a:solidFill>
                <a:latin typeface="Calibri" pitchFamily="34" charset="0"/>
                <a:ea typeface="Calibri" pitchFamily="34" charset="-122"/>
                <a:cs typeface="Calibri" pitchFamily="34" charset="-120"/>
              </a:rPr>
              <a:t>MongoDB collections</a:t>
            </a:r>
            <a:endParaRPr lang="en-US" sz="1500" dirty="0"/>
          </a:p>
        </p:txBody>
      </p:sp>
      <p:sp>
        <p:nvSpPr>
          <p:cNvPr id="19" name="Shape 16"/>
          <p:cNvSpPr/>
          <p:nvPr/>
        </p:nvSpPr>
        <p:spPr>
          <a:xfrm>
            <a:off x="548640" y="4297680"/>
            <a:ext cx="2606040" cy="1463040"/>
          </a:xfrm>
          <a:prstGeom prst="roundRect">
            <a:avLst>
              <a:gd name="adj" fmla="val 13750"/>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0" name="Shape 17"/>
          <p:cNvSpPr/>
          <p:nvPr/>
        </p:nvSpPr>
        <p:spPr>
          <a:xfrm>
            <a:off x="3378098" y="4297680"/>
            <a:ext cx="2606040" cy="1463040"/>
          </a:xfrm>
          <a:prstGeom prst="roundRect">
            <a:avLst>
              <a:gd name="adj" fmla="val 13750"/>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1" name="Shape 18"/>
          <p:cNvSpPr/>
          <p:nvPr/>
        </p:nvSpPr>
        <p:spPr>
          <a:xfrm>
            <a:off x="6207557" y="4297680"/>
            <a:ext cx="2606040" cy="1463040"/>
          </a:xfrm>
          <a:prstGeom prst="roundRect">
            <a:avLst>
              <a:gd name="adj" fmla="val 13750"/>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2" name="Shape 19"/>
          <p:cNvSpPr/>
          <p:nvPr/>
        </p:nvSpPr>
        <p:spPr>
          <a:xfrm>
            <a:off x="9037015" y="4297680"/>
            <a:ext cx="2606040" cy="1463040"/>
          </a:xfrm>
          <a:prstGeom prst="roundRect">
            <a:avLst>
              <a:gd name="adj" fmla="val 13750"/>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3" name="Shape 20"/>
          <p:cNvSpPr/>
          <p:nvPr/>
        </p:nvSpPr>
        <p:spPr>
          <a:xfrm>
            <a:off x="822960" y="4709160"/>
            <a:ext cx="640080" cy="640080"/>
          </a:xfrm>
          <a:prstGeom prst="ellipse">
            <a:avLst/>
          </a:prstGeom>
          <a:solidFill>
            <a:srgbClr val="DDEEFB"/>
          </a:solidFill>
          <a:ln w="12700">
            <a:solidFill>
              <a:srgbClr val="DDEEFB"/>
            </a:solidFill>
            <a:prstDash val="solid"/>
          </a:ln>
        </p:spPr>
      </p:sp>
      <p:pic>
        <p:nvPicPr>
          <p:cNvPr id="24" name="Image 1" descr="preencoded.png">    </p:cNvPr>
          <p:cNvPicPr>
            <a:picLocks noChangeAspect="1"/>
          </p:cNvPicPr>
          <p:nvPr/>
        </p:nvPicPr>
        <p:blipFill>
          <a:blip r:embed="rId2"/>
          <a:stretch>
            <a:fillRect/>
          </a:stretch>
        </p:blipFill>
        <p:spPr>
          <a:xfrm>
            <a:off x="982980" y="4869180"/>
            <a:ext cx="320040" cy="320040"/>
          </a:xfrm>
          <a:prstGeom prst="rect">
            <a:avLst/>
          </a:prstGeom>
        </p:spPr>
      </p:pic>
      <p:sp>
        <p:nvSpPr>
          <p:cNvPr id="25" name="Text 21"/>
          <p:cNvSpPr txBox="1"/>
          <p:nvPr/>
        </p:nvSpPr>
        <p:spPr>
          <a:xfrm>
            <a:off x="1645920" y="4553712"/>
            <a:ext cx="1417320" cy="548640"/>
          </a:xfrm>
          <a:prstGeom prst="rect">
            <a:avLst/>
          </a:prstGeom>
          <a:noFill/>
          <a:ln/>
        </p:spPr>
        <p:txBody>
          <a:bodyPr wrap="square" lIns="0" tIns="0" rIns="0" bIns="0" rtlCol="0" anchor="t"/>
          <a:lstStyle/>
          <a:p>
            <a:pPr algn="l" indent="0" marL="0">
              <a:buNone/>
            </a:pPr>
            <a:r>
              <a:rPr lang="en-US" sz="2600" b="1" dirty="0">
                <a:solidFill>
                  <a:srgbClr val="004E90"/>
                </a:solidFill>
                <a:latin typeface="Arial" pitchFamily="34" charset="0"/>
                <a:ea typeface="Arial" pitchFamily="34" charset="-122"/>
                <a:cs typeface="Arial" pitchFamily="34" charset="-120"/>
              </a:rPr>
              <a:t>5</a:t>
            </a:r>
            <a:endParaRPr lang="en-US" sz="2600" dirty="0"/>
          </a:p>
        </p:txBody>
      </p:sp>
      <p:sp>
        <p:nvSpPr>
          <p:cNvPr id="26" name="Text 22"/>
          <p:cNvSpPr txBox="1"/>
          <p:nvPr/>
        </p:nvSpPr>
        <p:spPr>
          <a:xfrm>
            <a:off x="1645920" y="5102352"/>
            <a:ext cx="1417320" cy="45720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role-based portals</a:t>
            </a:r>
            <a:endParaRPr lang="en-US" sz="1300" dirty="0"/>
          </a:p>
        </p:txBody>
      </p:sp>
      <p:sp>
        <p:nvSpPr>
          <p:cNvPr id="27" name="Shape 23"/>
          <p:cNvSpPr/>
          <p:nvPr/>
        </p:nvSpPr>
        <p:spPr>
          <a:xfrm>
            <a:off x="3652418" y="4709160"/>
            <a:ext cx="640080" cy="640080"/>
          </a:xfrm>
          <a:prstGeom prst="ellipse">
            <a:avLst/>
          </a:prstGeom>
          <a:solidFill>
            <a:srgbClr val="DDEEFB"/>
          </a:solidFill>
          <a:ln w="12700">
            <a:solidFill>
              <a:srgbClr val="DDEEFB"/>
            </a:solidFill>
            <a:prstDash val="solid"/>
          </a:ln>
        </p:spPr>
      </p:sp>
      <p:pic>
        <p:nvPicPr>
          <p:cNvPr id="28" name="Image 2" descr="preencoded.png">    </p:cNvPr>
          <p:cNvPicPr>
            <a:picLocks noChangeAspect="1"/>
          </p:cNvPicPr>
          <p:nvPr/>
        </p:nvPicPr>
        <p:blipFill>
          <a:blip r:embed="rId3"/>
          <a:stretch>
            <a:fillRect/>
          </a:stretch>
        </p:blipFill>
        <p:spPr>
          <a:xfrm>
            <a:off x="3812438" y="4869180"/>
            <a:ext cx="320040" cy="320040"/>
          </a:xfrm>
          <a:prstGeom prst="rect">
            <a:avLst/>
          </a:prstGeom>
        </p:spPr>
      </p:pic>
      <p:sp>
        <p:nvSpPr>
          <p:cNvPr id="29" name="Text 24"/>
          <p:cNvSpPr txBox="1"/>
          <p:nvPr/>
        </p:nvSpPr>
        <p:spPr>
          <a:xfrm>
            <a:off x="4475378" y="4553712"/>
            <a:ext cx="1417320" cy="548640"/>
          </a:xfrm>
          <a:prstGeom prst="rect">
            <a:avLst/>
          </a:prstGeom>
          <a:noFill/>
          <a:ln/>
        </p:spPr>
        <p:txBody>
          <a:bodyPr wrap="square" lIns="0" tIns="0" rIns="0" bIns="0" rtlCol="0" anchor="t"/>
          <a:lstStyle/>
          <a:p>
            <a:pPr algn="l" indent="0" marL="0">
              <a:buNone/>
            </a:pPr>
            <a:r>
              <a:rPr lang="en-US" sz="2600" b="1" dirty="0">
                <a:solidFill>
                  <a:srgbClr val="004E90"/>
                </a:solidFill>
                <a:latin typeface="Arial" pitchFamily="34" charset="0"/>
                <a:ea typeface="Arial" pitchFamily="34" charset="-122"/>
                <a:cs typeface="Arial" pitchFamily="34" charset="-120"/>
              </a:rPr>
              <a:t>4</a:t>
            </a:r>
            <a:endParaRPr lang="en-US" sz="2600" dirty="0"/>
          </a:p>
        </p:txBody>
      </p:sp>
      <p:sp>
        <p:nvSpPr>
          <p:cNvPr id="30" name="Text 25"/>
          <p:cNvSpPr txBox="1"/>
          <p:nvPr/>
        </p:nvSpPr>
        <p:spPr>
          <a:xfrm>
            <a:off x="4475378" y="5102352"/>
            <a:ext cx="1417320" cy="45720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exams supported</a:t>
            </a:r>
            <a:endParaRPr lang="en-US" sz="1300" dirty="0"/>
          </a:p>
        </p:txBody>
      </p:sp>
      <p:sp>
        <p:nvSpPr>
          <p:cNvPr id="31" name="Shape 26"/>
          <p:cNvSpPr/>
          <p:nvPr/>
        </p:nvSpPr>
        <p:spPr>
          <a:xfrm>
            <a:off x="6481877" y="4709160"/>
            <a:ext cx="640080" cy="640080"/>
          </a:xfrm>
          <a:prstGeom prst="ellipse">
            <a:avLst/>
          </a:prstGeom>
          <a:solidFill>
            <a:srgbClr val="DDEEFB"/>
          </a:solidFill>
          <a:ln w="12700">
            <a:solidFill>
              <a:srgbClr val="DDEEFB"/>
            </a:solidFill>
            <a:prstDash val="solid"/>
          </a:ln>
        </p:spPr>
      </p:sp>
      <p:pic>
        <p:nvPicPr>
          <p:cNvPr id="32" name="Image 3" descr="preencoded.png">    </p:cNvPr>
          <p:cNvPicPr>
            <a:picLocks noChangeAspect="1"/>
          </p:cNvPicPr>
          <p:nvPr/>
        </p:nvPicPr>
        <p:blipFill>
          <a:blip r:embed="rId4"/>
          <a:stretch>
            <a:fillRect/>
          </a:stretch>
        </p:blipFill>
        <p:spPr>
          <a:xfrm>
            <a:off x="6641897" y="4869180"/>
            <a:ext cx="320040" cy="320040"/>
          </a:xfrm>
          <a:prstGeom prst="rect">
            <a:avLst/>
          </a:prstGeom>
        </p:spPr>
      </p:pic>
      <p:sp>
        <p:nvSpPr>
          <p:cNvPr id="33" name="Text 27"/>
          <p:cNvSpPr txBox="1"/>
          <p:nvPr/>
        </p:nvSpPr>
        <p:spPr>
          <a:xfrm>
            <a:off x="7304837" y="4553712"/>
            <a:ext cx="1417320" cy="548640"/>
          </a:xfrm>
          <a:prstGeom prst="rect">
            <a:avLst/>
          </a:prstGeom>
          <a:noFill/>
          <a:ln/>
        </p:spPr>
        <p:txBody>
          <a:bodyPr wrap="square" lIns="0" tIns="0" rIns="0" bIns="0" rtlCol="0" anchor="t"/>
          <a:lstStyle/>
          <a:p>
            <a:pPr algn="l" indent="0" marL="0">
              <a:buNone/>
            </a:pPr>
            <a:r>
              <a:rPr lang="en-US" sz="2600" b="1" dirty="0">
                <a:solidFill>
                  <a:srgbClr val="004E90"/>
                </a:solidFill>
                <a:latin typeface="Arial" pitchFamily="34" charset="0"/>
                <a:ea typeface="Arial" pitchFamily="34" charset="-122"/>
                <a:cs typeface="Arial" pitchFamily="34" charset="-120"/>
              </a:rPr>
              <a:t>3</a:t>
            </a:r>
            <a:endParaRPr lang="en-US" sz="2600" dirty="0"/>
          </a:p>
        </p:txBody>
      </p:sp>
      <p:sp>
        <p:nvSpPr>
          <p:cNvPr id="34" name="Text 28"/>
          <p:cNvSpPr txBox="1"/>
          <p:nvPr/>
        </p:nvSpPr>
        <p:spPr>
          <a:xfrm>
            <a:off x="7304837" y="5102352"/>
            <a:ext cx="1417320" cy="45720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revenue streams</a:t>
            </a:r>
            <a:endParaRPr lang="en-US" sz="1300" dirty="0"/>
          </a:p>
        </p:txBody>
      </p:sp>
      <p:sp>
        <p:nvSpPr>
          <p:cNvPr id="35" name="Shape 29"/>
          <p:cNvSpPr/>
          <p:nvPr/>
        </p:nvSpPr>
        <p:spPr>
          <a:xfrm>
            <a:off x="9311335" y="4709160"/>
            <a:ext cx="640080" cy="640080"/>
          </a:xfrm>
          <a:prstGeom prst="ellipse">
            <a:avLst/>
          </a:prstGeom>
          <a:solidFill>
            <a:srgbClr val="DDEEFB"/>
          </a:solidFill>
          <a:ln w="12700">
            <a:solidFill>
              <a:srgbClr val="DDEEFB"/>
            </a:solidFill>
            <a:prstDash val="solid"/>
          </a:ln>
        </p:spPr>
      </p:sp>
      <p:pic>
        <p:nvPicPr>
          <p:cNvPr id="36" name="Image 4" descr="preencoded.png">    </p:cNvPr>
          <p:cNvPicPr>
            <a:picLocks noChangeAspect="1"/>
          </p:cNvPicPr>
          <p:nvPr/>
        </p:nvPicPr>
        <p:blipFill>
          <a:blip r:embed="rId5"/>
          <a:stretch>
            <a:fillRect/>
          </a:stretch>
        </p:blipFill>
        <p:spPr>
          <a:xfrm>
            <a:off x="9471355" y="4869180"/>
            <a:ext cx="320040" cy="320040"/>
          </a:xfrm>
          <a:prstGeom prst="rect">
            <a:avLst/>
          </a:prstGeom>
        </p:spPr>
      </p:pic>
      <p:sp>
        <p:nvSpPr>
          <p:cNvPr id="37" name="Text 30"/>
          <p:cNvSpPr txBox="1"/>
          <p:nvPr/>
        </p:nvSpPr>
        <p:spPr>
          <a:xfrm>
            <a:off x="10134295" y="4553712"/>
            <a:ext cx="1417320" cy="548640"/>
          </a:xfrm>
          <a:prstGeom prst="rect">
            <a:avLst/>
          </a:prstGeom>
          <a:noFill/>
          <a:ln/>
        </p:spPr>
        <p:txBody>
          <a:bodyPr wrap="square" lIns="0" tIns="0" rIns="0" bIns="0" rtlCol="0" anchor="t"/>
          <a:lstStyle/>
          <a:p>
            <a:pPr algn="l" indent="0" marL="0">
              <a:buNone/>
            </a:pPr>
            <a:r>
              <a:rPr lang="en-US" sz="2600" b="1" dirty="0">
                <a:solidFill>
                  <a:srgbClr val="004E90"/>
                </a:solidFill>
                <a:latin typeface="Arial" pitchFamily="34" charset="0"/>
                <a:ea typeface="Arial" pitchFamily="34" charset="-122"/>
                <a:cs typeface="Arial" pitchFamily="34" charset="-120"/>
              </a:rPr>
              <a:t>Live</a:t>
            </a:r>
            <a:endParaRPr lang="en-US" sz="2600" dirty="0"/>
          </a:p>
        </p:txBody>
      </p:sp>
      <p:sp>
        <p:nvSpPr>
          <p:cNvPr id="38" name="Text 31"/>
          <p:cNvSpPr txBox="1"/>
          <p:nvPr/>
        </p:nvSpPr>
        <p:spPr>
          <a:xfrm>
            <a:off x="10134295" y="5102352"/>
            <a:ext cx="1417320" cy="45720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at www.edurack.in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PROBLEM SOLVING</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Challenges and How I Solved Them</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1645920"/>
            <a:ext cx="4206240" cy="1024128"/>
          </a:xfrm>
          <a:prstGeom prst="roundRect">
            <a:avLst>
              <a:gd name="adj" fmla="val 17857"/>
            </a:avLst>
          </a:prstGeom>
          <a:solidFill>
            <a:srgbClr val="FFD6CD"/>
          </a:solidFill>
          <a:ln w="12700">
            <a:solidFill>
              <a:srgbClr val="FFD6CD"/>
            </a:solidFill>
            <a:prstDash val="solid"/>
          </a:ln>
        </p:spPr>
      </p:sp>
      <p:sp>
        <p:nvSpPr>
          <p:cNvPr id="8" name="Text 5"/>
          <p:cNvSpPr txBox="1"/>
          <p:nvPr/>
        </p:nvSpPr>
        <p:spPr>
          <a:xfrm>
            <a:off x="822960" y="1801368"/>
            <a:ext cx="3749040" cy="320040"/>
          </a:xfrm>
          <a:prstGeom prst="rect">
            <a:avLst/>
          </a:prstGeom>
          <a:noFill/>
          <a:ln/>
        </p:spPr>
        <p:txBody>
          <a:bodyPr wrap="square" lIns="0" tIns="0" rIns="0" bIns="0" rtlCol="0" anchor="t"/>
          <a:lstStyle/>
          <a:p>
            <a:pPr algn="l" indent="0" marL="0">
              <a:buNone/>
            </a:pPr>
            <a:r>
              <a:rPr lang="en-US" sz="1500" b="1" dirty="0">
                <a:solidFill>
                  <a:srgbClr val="131B26"/>
                </a:solidFill>
                <a:latin typeface="Arial" pitchFamily="34" charset="0"/>
                <a:ea typeface="Arial" pitchFamily="34" charset="-122"/>
                <a:cs typeface="Arial" pitchFamily="34" charset="-120"/>
              </a:rPr>
              <a:t>Email delivery blocked</a:t>
            </a:r>
            <a:endParaRPr lang="en-US" sz="1500" dirty="0"/>
          </a:p>
        </p:txBody>
      </p:sp>
      <p:sp>
        <p:nvSpPr>
          <p:cNvPr id="9" name="Text 6"/>
          <p:cNvSpPr txBox="1"/>
          <p:nvPr/>
        </p:nvSpPr>
        <p:spPr>
          <a:xfrm>
            <a:off x="822960" y="2157984"/>
            <a:ext cx="3749040" cy="457200"/>
          </a:xfrm>
          <a:prstGeom prst="rect">
            <a:avLst/>
          </a:prstGeom>
          <a:noFill/>
          <a:ln/>
        </p:spPr>
        <p:txBody>
          <a:bodyPr wrap="square" lIns="0" tIns="0" rIns="0" bIns="0" rtlCol="0" anchor="t"/>
          <a:lstStyle/>
          <a:p>
            <a:pPr algn="l" indent="0" marL="0">
              <a:buNone/>
            </a:pPr>
            <a:r>
              <a:rPr lang="en-US" sz="1200" dirty="0">
                <a:solidFill>
                  <a:srgbClr val="131B26"/>
                </a:solidFill>
                <a:latin typeface="Calibri" pitchFamily="34" charset="0"/>
                <a:ea typeface="Calibri" pitchFamily="34" charset="-122"/>
                <a:cs typeface="Calibri" pitchFamily="34" charset="-120"/>
              </a:rPr>
              <a:t>AWS SES production access was denied.</a:t>
            </a:r>
            <a:endParaRPr lang="en-US" sz="1200" dirty="0"/>
          </a:p>
        </p:txBody>
      </p:sp>
      <p:sp>
        <p:nvSpPr>
          <p:cNvPr id="10" name="Shape 7"/>
          <p:cNvSpPr/>
          <p:nvPr/>
        </p:nvSpPr>
        <p:spPr>
          <a:xfrm>
            <a:off x="4828032" y="2157984"/>
            <a:ext cx="365760" cy="0"/>
          </a:xfrm>
          <a:prstGeom prst="line">
            <a:avLst/>
          </a:prstGeom>
          <a:noFill/>
          <a:ln w="25400">
            <a:solidFill>
              <a:srgbClr val="004E90"/>
            </a:solidFill>
            <a:prstDash val="solid"/>
            <a:tailEnd type="triangle"/>
          </a:ln>
        </p:spPr>
      </p:sp>
      <p:sp>
        <p:nvSpPr>
          <p:cNvPr id="11" name="Shape 8"/>
          <p:cNvSpPr/>
          <p:nvPr/>
        </p:nvSpPr>
        <p:spPr>
          <a:xfrm>
            <a:off x="5266944" y="1645920"/>
            <a:ext cx="6373368" cy="1024128"/>
          </a:xfrm>
          <a:prstGeom prst="roundRect">
            <a:avLst>
              <a:gd name="adj" fmla="val 17857"/>
            </a:avLst>
          </a:prstGeom>
          <a:solidFill>
            <a:srgbClr val="CBEFD6"/>
          </a:solidFill>
          <a:ln w="12700">
            <a:solidFill>
              <a:srgbClr val="CBEFD6"/>
            </a:solidFill>
            <a:prstDash val="solid"/>
          </a:ln>
        </p:spPr>
      </p:sp>
      <p:sp>
        <p:nvSpPr>
          <p:cNvPr id="12" name="Text 9"/>
          <p:cNvSpPr txBox="1"/>
          <p:nvPr/>
        </p:nvSpPr>
        <p:spPr>
          <a:xfrm>
            <a:off x="5541264" y="1645920"/>
            <a:ext cx="5852160" cy="1024128"/>
          </a:xfrm>
          <a:prstGeom prst="rect">
            <a:avLst/>
          </a:prstGeom>
          <a:noFill/>
          <a:ln/>
        </p:spPr>
        <p:txBody>
          <a:bodyPr wrap="square" lIns="0" tIns="0" rIns="0" bIns="0" rtlCol="0" anchor="ctr"/>
          <a:lstStyle/>
          <a:p>
            <a:pPr algn="l" indent="0" marL="0">
              <a:buNone/>
            </a:pPr>
            <a:r>
              <a:rPr lang="en-US" sz="1400" dirty="0">
                <a:solidFill>
                  <a:srgbClr val="131B26"/>
                </a:solidFill>
                <a:latin typeface="Calibri" pitchFamily="34" charset="0"/>
                <a:ea typeface="Calibri" pitchFamily="34" charset="-122"/>
                <a:cs typeface="Calibri" pitchFamily="34" charset="-120"/>
              </a:rPr>
              <a:t>Migrated to Resend behind the same sendMail() interface, so no caller in the codebase had to change.</a:t>
            </a:r>
            <a:endParaRPr lang="en-US" sz="1400" dirty="0"/>
          </a:p>
        </p:txBody>
      </p:sp>
      <p:sp>
        <p:nvSpPr>
          <p:cNvPr id="13" name="Shape 10"/>
          <p:cNvSpPr/>
          <p:nvPr/>
        </p:nvSpPr>
        <p:spPr>
          <a:xfrm>
            <a:off x="548640" y="2816352"/>
            <a:ext cx="4206240" cy="1024128"/>
          </a:xfrm>
          <a:prstGeom prst="roundRect">
            <a:avLst>
              <a:gd name="adj" fmla="val 17857"/>
            </a:avLst>
          </a:prstGeom>
          <a:solidFill>
            <a:srgbClr val="FFD6CD"/>
          </a:solidFill>
          <a:ln w="12700">
            <a:solidFill>
              <a:srgbClr val="FFD6CD"/>
            </a:solidFill>
            <a:prstDash val="solid"/>
          </a:ln>
        </p:spPr>
      </p:sp>
      <p:sp>
        <p:nvSpPr>
          <p:cNvPr id="14" name="Text 11"/>
          <p:cNvSpPr txBox="1"/>
          <p:nvPr/>
        </p:nvSpPr>
        <p:spPr>
          <a:xfrm>
            <a:off x="822960" y="2971800"/>
            <a:ext cx="3749040" cy="320040"/>
          </a:xfrm>
          <a:prstGeom prst="rect">
            <a:avLst/>
          </a:prstGeom>
          <a:noFill/>
          <a:ln/>
        </p:spPr>
        <p:txBody>
          <a:bodyPr wrap="square" lIns="0" tIns="0" rIns="0" bIns="0" rtlCol="0" anchor="t"/>
          <a:lstStyle/>
          <a:p>
            <a:pPr algn="l" indent="0" marL="0">
              <a:buNone/>
            </a:pPr>
            <a:r>
              <a:rPr lang="en-US" sz="1500" b="1" dirty="0">
                <a:solidFill>
                  <a:srgbClr val="131B26"/>
                </a:solidFill>
                <a:latin typeface="Arial" pitchFamily="34" charset="0"/>
                <a:ea typeface="Arial" pitchFamily="34" charset="-122"/>
                <a:cs typeface="Arial" pitchFamily="34" charset="-120"/>
              </a:rPr>
              <a:t>Large lecture uploads</a:t>
            </a:r>
            <a:endParaRPr lang="en-US" sz="1500" dirty="0"/>
          </a:p>
        </p:txBody>
      </p:sp>
      <p:sp>
        <p:nvSpPr>
          <p:cNvPr id="15" name="Text 12"/>
          <p:cNvSpPr txBox="1"/>
          <p:nvPr/>
        </p:nvSpPr>
        <p:spPr>
          <a:xfrm>
            <a:off x="822960" y="3328416"/>
            <a:ext cx="3749040" cy="457200"/>
          </a:xfrm>
          <a:prstGeom prst="rect">
            <a:avLst/>
          </a:prstGeom>
          <a:noFill/>
          <a:ln/>
        </p:spPr>
        <p:txBody>
          <a:bodyPr wrap="square" lIns="0" tIns="0" rIns="0" bIns="0" rtlCol="0" anchor="t"/>
          <a:lstStyle/>
          <a:p>
            <a:pPr algn="l" indent="0" marL="0">
              <a:buNone/>
            </a:pPr>
            <a:r>
              <a:rPr lang="en-US" sz="1200" dirty="0">
                <a:solidFill>
                  <a:srgbClr val="131B26"/>
                </a:solidFill>
                <a:latin typeface="Calibri" pitchFamily="34" charset="0"/>
                <a:ea typeface="Calibri" pitchFamily="34" charset="-122"/>
                <a:cs typeface="Calibri" pitchFamily="34" charset="-120"/>
              </a:rPr>
              <a:t>Supabase's free tier caps single uploads at 50 MB.</a:t>
            </a:r>
            <a:endParaRPr lang="en-US" sz="1200" dirty="0"/>
          </a:p>
        </p:txBody>
      </p:sp>
      <p:sp>
        <p:nvSpPr>
          <p:cNvPr id="16" name="Shape 13"/>
          <p:cNvSpPr/>
          <p:nvPr/>
        </p:nvSpPr>
        <p:spPr>
          <a:xfrm>
            <a:off x="4828032" y="3328416"/>
            <a:ext cx="365760" cy="0"/>
          </a:xfrm>
          <a:prstGeom prst="line">
            <a:avLst/>
          </a:prstGeom>
          <a:noFill/>
          <a:ln w="25400">
            <a:solidFill>
              <a:srgbClr val="004E90"/>
            </a:solidFill>
            <a:prstDash val="solid"/>
            <a:tailEnd type="triangle"/>
          </a:ln>
        </p:spPr>
      </p:sp>
      <p:sp>
        <p:nvSpPr>
          <p:cNvPr id="17" name="Shape 14"/>
          <p:cNvSpPr/>
          <p:nvPr/>
        </p:nvSpPr>
        <p:spPr>
          <a:xfrm>
            <a:off x="5266944" y="2816352"/>
            <a:ext cx="6373368" cy="1024128"/>
          </a:xfrm>
          <a:prstGeom prst="roundRect">
            <a:avLst>
              <a:gd name="adj" fmla="val 17857"/>
            </a:avLst>
          </a:prstGeom>
          <a:solidFill>
            <a:srgbClr val="CBEFD6"/>
          </a:solidFill>
          <a:ln w="12700">
            <a:solidFill>
              <a:srgbClr val="CBEFD6"/>
            </a:solidFill>
            <a:prstDash val="solid"/>
          </a:ln>
        </p:spPr>
      </p:sp>
      <p:sp>
        <p:nvSpPr>
          <p:cNvPr id="18" name="Text 15"/>
          <p:cNvSpPr txBox="1"/>
          <p:nvPr/>
        </p:nvSpPr>
        <p:spPr>
          <a:xfrm>
            <a:off x="5541264" y="2816352"/>
            <a:ext cx="5852160" cy="1024128"/>
          </a:xfrm>
          <a:prstGeom prst="rect">
            <a:avLst/>
          </a:prstGeom>
          <a:noFill/>
          <a:ln/>
        </p:spPr>
        <p:txBody>
          <a:bodyPr wrap="square" lIns="0" tIns="0" rIns="0" bIns="0" rtlCol="0" anchor="ctr"/>
          <a:lstStyle/>
          <a:p>
            <a:pPr algn="l" indent="0" marL="0">
              <a:buNone/>
            </a:pPr>
            <a:r>
              <a:rPr lang="en-US" sz="1400" dirty="0">
                <a:solidFill>
                  <a:srgbClr val="131B26"/>
                </a:solidFill>
                <a:latin typeface="Calibri" pitchFamily="34" charset="0"/>
                <a:ea typeface="Calibri" pitchFamily="34" charset="-122"/>
                <a:cs typeface="Calibri" pitchFamily="34" charset="-120"/>
              </a:rPr>
              <a:t>Built resumable S3 multipart uploads with per-part signed URLs, delivered through CloudFront.</a:t>
            </a:r>
            <a:endParaRPr lang="en-US" sz="1400" dirty="0"/>
          </a:p>
        </p:txBody>
      </p:sp>
      <p:sp>
        <p:nvSpPr>
          <p:cNvPr id="19" name="Shape 16"/>
          <p:cNvSpPr/>
          <p:nvPr/>
        </p:nvSpPr>
        <p:spPr>
          <a:xfrm>
            <a:off x="548640" y="3986784"/>
            <a:ext cx="4206240" cy="1024128"/>
          </a:xfrm>
          <a:prstGeom prst="roundRect">
            <a:avLst>
              <a:gd name="adj" fmla="val 17857"/>
            </a:avLst>
          </a:prstGeom>
          <a:solidFill>
            <a:srgbClr val="FFD6CD"/>
          </a:solidFill>
          <a:ln w="12700">
            <a:solidFill>
              <a:srgbClr val="FFD6CD"/>
            </a:solidFill>
            <a:prstDash val="solid"/>
          </a:ln>
        </p:spPr>
      </p:sp>
      <p:sp>
        <p:nvSpPr>
          <p:cNvPr id="20" name="Text 17"/>
          <p:cNvSpPr txBox="1"/>
          <p:nvPr/>
        </p:nvSpPr>
        <p:spPr>
          <a:xfrm>
            <a:off x="822960" y="4142232"/>
            <a:ext cx="3749040" cy="320040"/>
          </a:xfrm>
          <a:prstGeom prst="rect">
            <a:avLst/>
          </a:prstGeom>
          <a:noFill/>
          <a:ln/>
        </p:spPr>
        <p:txBody>
          <a:bodyPr wrap="square" lIns="0" tIns="0" rIns="0" bIns="0" rtlCol="0" anchor="t"/>
          <a:lstStyle/>
          <a:p>
            <a:pPr algn="l" indent="0" marL="0">
              <a:buNone/>
            </a:pPr>
            <a:r>
              <a:rPr lang="en-US" sz="1500" b="1" dirty="0">
                <a:solidFill>
                  <a:srgbClr val="131B26"/>
                </a:solidFill>
                <a:latin typeface="Arial" pitchFamily="34" charset="0"/>
                <a:ea typeface="Arial" pitchFamily="34" charset="-122"/>
                <a:cs typeface="Arial" pitchFamily="34" charset="-120"/>
              </a:rPr>
              <a:t>Database connections</a:t>
            </a:r>
            <a:endParaRPr lang="en-US" sz="1500" dirty="0"/>
          </a:p>
        </p:txBody>
      </p:sp>
      <p:sp>
        <p:nvSpPr>
          <p:cNvPr id="21" name="Text 18"/>
          <p:cNvSpPr txBox="1"/>
          <p:nvPr/>
        </p:nvSpPr>
        <p:spPr>
          <a:xfrm>
            <a:off x="822960" y="4498848"/>
            <a:ext cx="3749040" cy="457200"/>
          </a:xfrm>
          <a:prstGeom prst="rect">
            <a:avLst/>
          </a:prstGeom>
          <a:noFill/>
          <a:ln/>
        </p:spPr>
        <p:txBody>
          <a:bodyPr wrap="square" lIns="0" tIns="0" rIns="0" bIns="0" rtlCol="0" anchor="t"/>
          <a:lstStyle/>
          <a:p>
            <a:pPr algn="l" indent="0" marL="0">
              <a:buNone/>
            </a:pPr>
            <a:r>
              <a:rPr lang="en-US" sz="1200" dirty="0">
                <a:solidFill>
                  <a:srgbClr val="131B26"/>
                </a:solidFill>
                <a:latin typeface="Calibri" pitchFamily="34" charset="0"/>
                <a:ea typeface="Calibri" pitchFamily="34" charset="-122"/>
                <a:cs typeface="Calibri" pitchFamily="34" charset="-120"/>
              </a:rPr>
              <a:t>Serverless functions can exhaust MongoDB connections.</a:t>
            </a:r>
            <a:endParaRPr lang="en-US" sz="1200" dirty="0"/>
          </a:p>
        </p:txBody>
      </p:sp>
      <p:sp>
        <p:nvSpPr>
          <p:cNvPr id="22" name="Shape 19"/>
          <p:cNvSpPr/>
          <p:nvPr/>
        </p:nvSpPr>
        <p:spPr>
          <a:xfrm>
            <a:off x="4828032" y="4498848"/>
            <a:ext cx="365760" cy="0"/>
          </a:xfrm>
          <a:prstGeom prst="line">
            <a:avLst/>
          </a:prstGeom>
          <a:noFill/>
          <a:ln w="25400">
            <a:solidFill>
              <a:srgbClr val="004E90"/>
            </a:solidFill>
            <a:prstDash val="solid"/>
            <a:tailEnd type="triangle"/>
          </a:ln>
        </p:spPr>
      </p:sp>
      <p:sp>
        <p:nvSpPr>
          <p:cNvPr id="23" name="Shape 20"/>
          <p:cNvSpPr/>
          <p:nvPr/>
        </p:nvSpPr>
        <p:spPr>
          <a:xfrm>
            <a:off x="5266944" y="3986784"/>
            <a:ext cx="6373368" cy="1024128"/>
          </a:xfrm>
          <a:prstGeom prst="roundRect">
            <a:avLst>
              <a:gd name="adj" fmla="val 17857"/>
            </a:avLst>
          </a:prstGeom>
          <a:solidFill>
            <a:srgbClr val="CBEFD6"/>
          </a:solidFill>
          <a:ln w="12700">
            <a:solidFill>
              <a:srgbClr val="CBEFD6"/>
            </a:solidFill>
            <a:prstDash val="solid"/>
          </a:ln>
        </p:spPr>
      </p:sp>
      <p:sp>
        <p:nvSpPr>
          <p:cNvPr id="24" name="Text 21"/>
          <p:cNvSpPr txBox="1"/>
          <p:nvPr/>
        </p:nvSpPr>
        <p:spPr>
          <a:xfrm>
            <a:off x="5541264" y="3986784"/>
            <a:ext cx="5852160" cy="1024128"/>
          </a:xfrm>
          <a:prstGeom prst="rect">
            <a:avLst/>
          </a:prstGeom>
          <a:noFill/>
          <a:ln/>
        </p:spPr>
        <p:txBody>
          <a:bodyPr wrap="square" lIns="0" tIns="0" rIns="0" bIns="0" rtlCol="0" anchor="ctr"/>
          <a:lstStyle/>
          <a:p>
            <a:pPr algn="l" indent="0" marL="0">
              <a:buNone/>
            </a:pPr>
            <a:r>
              <a:rPr lang="en-US" sz="1400" dirty="0">
                <a:solidFill>
                  <a:srgbClr val="131B26"/>
                </a:solidFill>
                <a:latin typeface="Calibri" pitchFamily="34" charset="0"/>
                <a:ea typeface="Calibri" pitchFamily="34" charset="-122"/>
                <a:cs typeface="Calibri" pitchFamily="34" charset="-120"/>
              </a:rPr>
              <a:t>Used a singleton client, boot-time warm-up, and a hot-reload-safe global in development.</a:t>
            </a:r>
            <a:endParaRPr lang="en-US" sz="1400" dirty="0"/>
          </a:p>
        </p:txBody>
      </p:sp>
      <p:sp>
        <p:nvSpPr>
          <p:cNvPr id="25" name="Shape 22"/>
          <p:cNvSpPr/>
          <p:nvPr/>
        </p:nvSpPr>
        <p:spPr>
          <a:xfrm>
            <a:off x="548640" y="5157216"/>
            <a:ext cx="4206240" cy="1024128"/>
          </a:xfrm>
          <a:prstGeom prst="roundRect">
            <a:avLst>
              <a:gd name="adj" fmla="val 17857"/>
            </a:avLst>
          </a:prstGeom>
          <a:solidFill>
            <a:srgbClr val="FFD6CD"/>
          </a:solidFill>
          <a:ln w="12700">
            <a:solidFill>
              <a:srgbClr val="FFD6CD"/>
            </a:solidFill>
            <a:prstDash val="solid"/>
          </a:ln>
        </p:spPr>
      </p:sp>
      <p:sp>
        <p:nvSpPr>
          <p:cNvPr id="26" name="Text 23"/>
          <p:cNvSpPr txBox="1"/>
          <p:nvPr/>
        </p:nvSpPr>
        <p:spPr>
          <a:xfrm>
            <a:off x="822960" y="5312664"/>
            <a:ext cx="3749040" cy="320040"/>
          </a:xfrm>
          <a:prstGeom prst="rect">
            <a:avLst/>
          </a:prstGeom>
          <a:noFill/>
          <a:ln/>
        </p:spPr>
        <p:txBody>
          <a:bodyPr wrap="square" lIns="0" tIns="0" rIns="0" bIns="0" rtlCol="0" anchor="t"/>
          <a:lstStyle/>
          <a:p>
            <a:pPr algn="l" indent="0" marL="0">
              <a:buNone/>
            </a:pPr>
            <a:r>
              <a:rPr lang="en-US" sz="1500" b="1" dirty="0">
                <a:solidFill>
                  <a:srgbClr val="131B26"/>
                </a:solidFill>
                <a:latin typeface="Arial" pitchFamily="34" charset="0"/>
                <a:ea typeface="Arial" pitchFamily="34" charset="-122"/>
                <a:cs typeface="Arial" pitchFamily="34" charset="-120"/>
              </a:rPr>
              <a:t>Slow public pages</a:t>
            </a:r>
            <a:endParaRPr lang="en-US" sz="1500" dirty="0"/>
          </a:p>
        </p:txBody>
      </p:sp>
      <p:sp>
        <p:nvSpPr>
          <p:cNvPr id="27" name="Text 24"/>
          <p:cNvSpPr txBox="1"/>
          <p:nvPr/>
        </p:nvSpPr>
        <p:spPr>
          <a:xfrm>
            <a:off x="822960" y="5669280"/>
            <a:ext cx="3749040" cy="457200"/>
          </a:xfrm>
          <a:prstGeom prst="rect">
            <a:avLst/>
          </a:prstGeom>
          <a:noFill/>
          <a:ln/>
        </p:spPr>
        <p:txBody>
          <a:bodyPr wrap="square" lIns="0" tIns="0" rIns="0" bIns="0" rtlCol="0" anchor="t"/>
          <a:lstStyle/>
          <a:p>
            <a:pPr algn="l" indent="0" marL="0">
              <a:buNone/>
            </a:pPr>
            <a:r>
              <a:rPr lang="en-US" sz="1200" dirty="0">
                <a:solidFill>
                  <a:srgbClr val="131B26"/>
                </a:solidFill>
                <a:latin typeface="Calibri" pitchFamily="34" charset="0"/>
                <a:ea typeface="Calibri" pitchFamily="34" charset="-122"/>
                <a:cs typeface="Calibri" pitchFamily="34" charset="-120"/>
              </a:rPr>
              <a:t>Course and mentor pages were hit repeatedly by visitors.</a:t>
            </a:r>
            <a:endParaRPr lang="en-US" sz="1200" dirty="0"/>
          </a:p>
        </p:txBody>
      </p:sp>
      <p:sp>
        <p:nvSpPr>
          <p:cNvPr id="28" name="Shape 25"/>
          <p:cNvSpPr/>
          <p:nvPr/>
        </p:nvSpPr>
        <p:spPr>
          <a:xfrm>
            <a:off x="4828032" y="5669280"/>
            <a:ext cx="365760" cy="0"/>
          </a:xfrm>
          <a:prstGeom prst="line">
            <a:avLst/>
          </a:prstGeom>
          <a:noFill/>
          <a:ln w="25400">
            <a:solidFill>
              <a:srgbClr val="004E90"/>
            </a:solidFill>
            <a:prstDash val="solid"/>
            <a:tailEnd type="triangle"/>
          </a:ln>
        </p:spPr>
      </p:sp>
      <p:sp>
        <p:nvSpPr>
          <p:cNvPr id="29" name="Shape 26"/>
          <p:cNvSpPr/>
          <p:nvPr/>
        </p:nvSpPr>
        <p:spPr>
          <a:xfrm>
            <a:off x="5266944" y="5157216"/>
            <a:ext cx="6373368" cy="1024128"/>
          </a:xfrm>
          <a:prstGeom prst="roundRect">
            <a:avLst>
              <a:gd name="adj" fmla="val 17857"/>
            </a:avLst>
          </a:prstGeom>
          <a:solidFill>
            <a:srgbClr val="CBEFD6"/>
          </a:solidFill>
          <a:ln w="12700">
            <a:solidFill>
              <a:srgbClr val="CBEFD6"/>
            </a:solidFill>
            <a:prstDash val="solid"/>
          </a:ln>
        </p:spPr>
      </p:sp>
      <p:sp>
        <p:nvSpPr>
          <p:cNvPr id="30" name="Text 27"/>
          <p:cNvSpPr txBox="1"/>
          <p:nvPr/>
        </p:nvSpPr>
        <p:spPr>
          <a:xfrm>
            <a:off x="5541264" y="5157216"/>
            <a:ext cx="5852160" cy="1024128"/>
          </a:xfrm>
          <a:prstGeom prst="rect">
            <a:avLst/>
          </a:prstGeom>
          <a:noFill/>
          <a:ln/>
        </p:spPr>
        <p:txBody>
          <a:bodyPr wrap="square" lIns="0" tIns="0" rIns="0" bIns="0" rtlCol="0" anchor="ctr"/>
          <a:lstStyle/>
          <a:p>
            <a:pPr algn="l" indent="0" marL="0">
              <a:buNone/>
            </a:pPr>
            <a:r>
              <a:rPr lang="en-US" sz="1400" dirty="0">
                <a:solidFill>
                  <a:srgbClr val="131B26"/>
                </a:solidFill>
                <a:latin typeface="Calibri" pitchFamily="34" charset="0"/>
                <a:ea typeface="Calibri" pitchFamily="34" charset="-122"/>
                <a:cs typeface="Calibri" pitchFamily="34" charset="-120"/>
              </a:rPr>
              <a:t>Added a small TTL cache, applied only to data that is identical for every visitor.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D"/>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algn="l" indent="0" marL="0">
              <a:buNone/>
            </a:pPr>
            <a:r>
              <a:rPr lang="en-US" sz="1200" b="1" spc="300" kern="0" dirty="0">
                <a:solidFill>
                  <a:srgbClr val="004E90"/>
                </a:solidFill>
                <a:latin typeface="Calibri" pitchFamily="34" charset="0"/>
                <a:ea typeface="Calibri" pitchFamily="34" charset="-122"/>
                <a:cs typeface="Calibri" pitchFamily="34" charset="-120"/>
              </a:rPr>
              <a:t>TAKEAWAYS</a:t>
            </a:r>
            <a:endParaRPr lang="en-US" sz="1200" dirty="0"/>
          </a:p>
        </p:txBody>
      </p:sp>
      <p:sp>
        <p:nvSpPr>
          <p:cNvPr id="3" name="Text 1"/>
          <p:cNvSpPr txBox="1"/>
          <p:nvPr/>
        </p:nvSpPr>
        <p:spPr>
          <a:xfrm>
            <a:off x="548640" y="777240"/>
            <a:ext cx="9692640" cy="640080"/>
          </a:xfrm>
          <a:prstGeom prst="rect">
            <a:avLst/>
          </a:prstGeom>
          <a:noFill/>
          <a:ln/>
        </p:spPr>
        <p:txBody>
          <a:bodyPr wrap="square" lIns="0" tIns="0" rIns="0" bIns="0" rtlCol="0" anchor="t"/>
          <a:lstStyle/>
          <a:p>
            <a:pPr algn="l" indent="0" marL="0">
              <a:buNone/>
            </a:pPr>
            <a:r>
              <a:rPr lang="en-US" sz="3400" b="1" dirty="0">
                <a:solidFill>
                  <a:srgbClr val="131B26"/>
                </a:solidFill>
                <a:latin typeface="Arial" pitchFamily="34" charset="0"/>
                <a:ea typeface="Arial" pitchFamily="34" charset="-122"/>
                <a:cs typeface="Arial" pitchFamily="34" charset="-120"/>
              </a:rPr>
              <a:t>Learning Outcomes</a:t>
            </a:r>
            <a:endParaRPr lang="en-US" sz="3400" dirty="0"/>
          </a:p>
        </p:txBody>
      </p:sp>
      <p:pic>
        <p:nvPicPr>
          <p:cNvPr id="4" name="Image 0" descr="logo2x.png">    </p:cNvPr>
          <p:cNvPicPr>
            <a:picLocks noChangeAspect="1"/>
          </p:cNvPicPr>
          <p:nvPr/>
        </p:nvPicPr>
        <p:blipFill>
          <a:blip r:embed="rId1"/>
          <a:stretch>
            <a:fillRect/>
          </a:stretch>
        </p:blipFill>
        <p:spPr>
          <a:xfrm>
            <a:off x="11082528" y="384048"/>
            <a:ext cx="512064" cy="579730"/>
          </a:xfrm>
          <a:prstGeom prst="rect">
            <a:avLst/>
          </a:prstGeom>
        </p:spPr>
      </p:pic>
      <p:sp>
        <p:nvSpPr>
          <p:cNvPr id="5" name="Text 2"/>
          <p:cNvSpPr txBox="1"/>
          <p:nvPr/>
        </p:nvSpPr>
        <p:spPr>
          <a:xfrm>
            <a:off x="548640" y="6419088"/>
            <a:ext cx="5486400" cy="228600"/>
          </a:xfrm>
          <a:prstGeom prst="rect">
            <a:avLst/>
          </a:prstGeom>
          <a:noFill/>
          <a:ln/>
        </p:spPr>
        <p:txBody>
          <a:bodyPr wrap="square" lIns="0" tIns="0" rIns="0" bIns="0" rtlCol="0" anchor="t"/>
          <a:lstStyle/>
          <a:p>
            <a:pPr algn="l" indent="0" marL="0">
              <a:buNone/>
            </a:pPr>
            <a:r>
              <a:rPr lang="en-US" sz="1000" dirty="0">
                <a:solidFill>
                  <a:srgbClr val="606A74"/>
                </a:solidFill>
                <a:latin typeface="Calibri" pitchFamily="34" charset="0"/>
                <a:ea typeface="Calibri" pitchFamily="34" charset="-122"/>
                <a:cs typeface="Calibri" pitchFamily="34" charset="-120"/>
              </a:rPr>
              <a:t>Edurack  ·  Project Internship  ·  Vishal</a:t>
            </a:r>
            <a:endParaRPr lang="en-US" sz="1000" dirty="0"/>
          </a:p>
        </p:txBody>
      </p:sp>
      <p:sp>
        <p:nvSpPr>
          <p:cNvPr id="6" name="Text 3"/>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606A74"/>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691640"/>
            <a:ext cx="5440680" cy="1280160"/>
          </a:xfrm>
          <a:prstGeom prst="roundRect">
            <a:avLst>
              <a:gd name="adj" fmla="val 15714"/>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8" name="Shape 5"/>
          <p:cNvSpPr/>
          <p:nvPr/>
        </p:nvSpPr>
        <p:spPr>
          <a:xfrm>
            <a:off x="822960" y="2002536"/>
            <a:ext cx="658368" cy="658368"/>
          </a:xfrm>
          <a:prstGeom prst="ellipse">
            <a:avLst/>
          </a:prstGeom>
          <a:solidFill>
            <a:srgbClr val="D2ECFC"/>
          </a:solidFill>
          <a:ln w="12700">
            <a:solidFill>
              <a:srgbClr val="D2ECFC"/>
            </a:solidFill>
            <a:prstDash val="solid"/>
          </a:ln>
        </p:spPr>
      </p:sp>
      <p:pic>
        <p:nvPicPr>
          <p:cNvPr id="9" name="Image 1" descr="preencoded.png">    </p:cNvPr>
          <p:cNvPicPr>
            <a:picLocks noChangeAspect="1"/>
          </p:cNvPicPr>
          <p:nvPr/>
        </p:nvPicPr>
        <p:blipFill>
          <a:blip r:embed="rId2"/>
          <a:stretch>
            <a:fillRect/>
          </a:stretch>
        </p:blipFill>
        <p:spPr>
          <a:xfrm>
            <a:off x="987552" y="2167128"/>
            <a:ext cx="329184" cy="329184"/>
          </a:xfrm>
          <a:prstGeom prst="rect">
            <a:avLst/>
          </a:prstGeom>
        </p:spPr>
      </p:pic>
      <p:sp>
        <p:nvSpPr>
          <p:cNvPr id="10" name="Text 6"/>
          <p:cNvSpPr txBox="1"/>
          <p:nvPr/>
        </p:nvSpPr>
        <p:spPr>
          <a:xfrm>
            <a:off x="1737360" y="1938528"/>
            <a:ext cx="4069080" cy="320040"/>
          </a:xfrm>
          <a:prstGeom prst="rect">
            <a:avLst/>
          </a:prstGeom>
          <a:noFill/>
          <a:ln/>
        </p:spPr>
        <p:txBody>
          <a:bodyPr wrap="square" lIns="0" tIns="0" rIns="0" bIns="0" rtlCol="0" anchor="t"/>
          <a:lstStyle/>
          <a:p>
            <a:pPr algn="l" indent="0" marL="0">
              <a:buNone/>
            </a:pPr>
            <a:r>
              <a:rPr lang="en-US" sz="1700" b="1" dirty="0">
                <a:solidFill>
                  <a:srgbClr val="131B26"/>
                </a:solidFill>
                <a:latin typeface="Arial" pitchFamily="34" charset="0"/>
                <a:ea typeface="Arial" pitchFamily="34" charset="-122"/>
                <a:cs typeface="Arial" pitchFamily="34" charset="-120"/>
              </a:rPr>
              <a:t>Full stack development</a:t>
            </a:r>
            <a:endParaRPr lang="en-US" sz="1700" dirty="0"/>
          </a:p>
        </p:txBody>
      </p:sp>
      <p:sp>
        <p:nvSpPr>
          <p:cNvPr id="11" name="Text 7"/>
          <p:cNvSpPr txBox="1"/>
          <p:nvPr/>
        </p:nvSpPr>
        <p:spPr>
          <a:xfrm>
            <a:off x="1737360" y="2313432"/>
            <a:ext cx="4069080" cy="54864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Shipping a complete React, TypeScript, and server-function application.</a:t>
            </a:r>
            <a:endParaRPr lang="en-US" sz="1300" dirty="0"/>
          </a:p>
        </p:txBody>
      </p:sp>
      <p:sp>
        <p:nvSpPr>
          <p:cNvPr id="12" name="Shape 8"/>
          <p:cNvSpPr/>
          <p:nvPr/>
        </p:nvSpPr>
        <p:spPr>
          <a:xfrm>
            <a:off x="6199632" y="1691640"/>
            <a:ext cx="5440680" cy="1280160"/>
          </a:xfrm>
          <a:prstGeom prst="roundRect">
            <a:avLst>
              <a:gd name="adj" fmla="val 15714"/>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13" name="Shape 9"/>
          <p:cNvSpPr/>
          <p:nvPr/>
        </p:nvSpPr>
        <p:spPr>
          <a:xfrm>
            <a:off x="6473952" y="2002536"/>
            <a:ext cx="658368" cy="658368"/>
          </a:xfrm>
          <a:prstGeom prst="ellipse">
            <a:avLst/>
          </a:prstGeom>
          <a:solidFill>
            <a:srgbClr val="EDDEF9"/>
          </a:solidFill>
          <a:ln w="12700">
            <a:solidFill>
              <a:srgbClr val="EDDEF9"/>
            </a:solidFill>
            <a:prstDash val="solid"/>
          </a:ln>
        </p:spPr>
      </p:sp>
      <p:pic>
        <p:nvPicPr>
          <p:cNvPr id="14" name="Image 2" descr="preencoded.png">    </p:cNvPr>
          <p:cNvPicPr>
            <a:picLocks noChangeAspect="1"/>
          </p:cNvPicPr>
          <p:nvPr/>
        </p:nvPicPr>
        <p:blipFill>
          <a:blip r:embed="rId3"/>
          <a:stretch>
            <a:fillRect/>
          </a:stretch>
        </p:blipFill>
        <p:spPr>
          <a:xfrm>
            <a:off x="6638544" y="2167128"/>
            <a:ext cx="329184" cy="329184"/>
          </a:xfrm>
          <a:prstGeom prst="rect">
            <a:avLst/>
          </a:prstGeom>
        </p:spPr>
      </p:pic>
      <p:sp>
        <p:nvSpPr>
          <p:cNvPr id="15" name="Text 10"/>
          <p:cNvSpPr txBox="1"/>
          <p:nvPr/>
        </p:nvSpPr>
        <p:spPr>
          <a:xfrm>
            <a:off x="7388352" y="1938528"/>
            <a:ext cx="4069080" cy="320040"/>
          </a:xfrm>
          <a:prstGeom prst="rect">
            <a:avLst/>
          </a:prstGeom>
          <a:noFill/>
          <a:ln/>
        </p:spPr>
        <p:txBody>
          <a:bodyPr wrap="square" lIns="0" tIns="0" rIns="0" bIns="0" rtlCol="0" anchor="t"/>
          <a:lstStyle/>
          <a:p>
            <a:pPr algn="l" indent="0" marL="0">
              <a:buNone/>
            </a:pPr>
            <a:r>
              <a:rPr lang="en-US" sz="1700" b="1" dirty="0">
                <a:solidFill>
                  <a:srgbClr val="131B26"/>
                </a:solidFill>
                <a:latin typeface="Arial" pitchFamily="34" charset="0"/>
                <a:ea typeface="Arial" pitchFamily="34" charset="-122"/>
                <a:cs typeface="Arial" pitchFamily="34" charset="-120"/>
              </a:rPr>
              <a:t>Data modelling</a:t>
            </a:r>
            <a:endParaRPr lang="en-US" sz="1700" dirty="0"/>
          </a:p>
        </p:txBody>
      </p:sp>
      <p:sp>
        <p:nvSpPr>
          <p:cNvPr id="16" name="Text 11"/>
          <p:cNvSpPr txBox="1"/>
          <p:nvPr/>
        </p:nvSpPr>
        <p:spPr>
          <a:xfrm>
            <a:off x="7388352" y="2313432"/>
            <a:ext cx="4069080" cy="54864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Designing and querying a large MongoDB schema for many user roles.</a:t>
            </a:r>
            <a:endParaRPr lang="en-US" sz="1300" dirty="0"/>
          </a:p>
        </p:txBody>
      </p:sp>
      <p:sp>
        <p:nvSpPr>
          <p:cNvPr id="17" name="Shape 12"/>
          <p:cNvSpPr/>
          <p:nvPr/>
        </p:nvSpPr>
        <p:spPr>
          <a:xfrm>
            <a:off x="548640" y="3172968"/>
            <a:ext cx="5440680" cy="1280160"/>
          </a:xfrm>
          <a:prstGeom prst="roundRect">
            <a:avLst>
              <a:gd name="adj" fmla="val 15714"/>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18" name="Shape 13"/>
          <p:cNvSpPr/>
          <p:nvPr/>
        </p:nvSpPr>
        <p:spPr>
          <a:xfrm>
            <a:off x="822960" y="3483864"/>
            <a:ext cx="658368" cy="658368"/>
          </a:xfrm>
          <a:prstGeom prst="ellipse">
            <a:avLst/>
          </a:prstGeom>
          <a:solidFill>
            <a:srgbClr val="FFD6CD"/>
          </a:solidFill>
          <a:ln w="12700">
            <a:solidFill>
              <a:srgbClr val="FFD6CD"/>
            </a:solidFill>
            <a:prstDash val="solid"/>
          </a:ln>
        </p:spPr>
      </p:sp>
      <p:pic>
        <p:nvPicPr>
          <p:cNvPr id="19" name="Image 3" descr="preencoded.png">    </p:cNvPr>
          <p:cNvPicPr>
            <a:picLocks noChangeAspect="1"/>
          </p:cNvPicPr>
          <p:nvPr/>
        </p:nvPicPr>
        <p:blipFill>
          <a:blip r:embed="rId4"/>
          <a:stretch>
            <a:fillRect/>
          </a:stretch>
        </p:blipFill>
        <p:spPr>
          <a:xfrm>
            <a:off x="987552" y="3648456"/>
            <a:ext cx="329184" cy="329184"/>
          </a:xfrm>
          <a:prstGeom prst="rect">
            <a:avLst/>
          </a:prstGeom>
        </p:spPr>
      </p:pic>
      <p:sp>
        <p:nvSpPr>
          <p:cNvPr id="20" name="Text 14"/>
          <p:cNvSpPr txBox="1"/>
          <p:nvPr/>
        </p:nvSpPr>
        <p:spPr>
          <a:xfrm>
            <a:off x="1737360" y="3419856"/>
            <a:ext cx="4069080" cy="320040"/>
          </a:xfrm>
          <a:prstGeom prst="rect">
            <a:avLst/>
          </a:prstGeom>
          <a:noFill/>
          <a:ln/>
        </p:spPr>
        <p:txBody>
          <a:bodyPr wrap="square" lIns="0" tIns="0" rIns="0" bIns="0" rtlCol="0" anchor="t"/>
          <a:lstStyle/>
          <a:p>
            <a:pPr algn="l" indent="0" marL="0">
              <a:buNone/>
            </a:pPr>
            <a:r>
              <a:rPr lang="en-US" sz="1700" b="1" dirty="0">
                <a:solidFill>
                  <a:srgbClr val="131B26"/>
                </a:solidFill>
                <a:latin typeface="Arial" pitchFamily="34" charset="0"/>
                <a:ea typeface="Arial" pitchFamily="34" charset="-122"/>
                <a:cs typeface="Arial" pitchFamily="34" charset="-120"/>
              </a:rPr>
              <a:t>Secure engineering</a:t>
            </a:r>
            <a:endParaRPr lang="en-US" sz="1700" dirty="0"/>
          </a:p>
        </p:txBody>
      </p:sp>
      <p:sp>
        <p:nvSpPr>
          <p:cNvPr id="21" name="Text 15"/>
          <p:cNvSpPr txBox="1"/>
          <p:nvPr/>
        </p:nvSpPr>
        <p:spPr>
          <a:xfrm>
            <a:off x="1737360" y="3794760"/>
            <a:ext cx="4069080" cy="54864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Auth, hashing, signed URLs, and server-side validation as defaults.</a:t>
            </a:r>
            <a:endParaRPr lang="en-US" sz="1300" dirty="0"/>
          </a:p>
        </p:txBody>
      </p:sp>
      <p:sp>
        <p:nvSpPr>
          <p:cNvPr id="22" name="Shape 16"/>
          <p:cNvSpPr/>
          <p:nvPr/>
        </p:nvSpPr>
        <p:spPr>
          <a:xfrm>
            <a:off x="6199632" y="3172968"/>
            <a:ext cx="5440680" cy="1280160"/>
          </a:xfrm>
          <a:prstGeom prst="roundRect">
            <a:avLst>
              <a:gd name="adj" fmla="val 15714"/>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3" name="Shape 17"/>
          <p:cNvSpPr/>
          <p:nvPr/>
        </p:nvSpPr>
        <p:spPr>
          <a:xfrm>
            <a:off x="6473952" y="3483864"/>
            <a:ext cx="658368" cy="658368"/>
          </a:xfrm>
          <a:prstGeom prst="ellipse">
            <a:avLst/>
          </a:prstGeom>
          <a:solidFill>
            <a:srgbClr val="CBEFD6"/>
          </a:solidFill>
          <a:ln w="12700">
            <a:solidFill>
              <a:srgbClr val="CBEFD6"/>
            </a:solidFill>
            <a:prstDash val="solid"/>
          </a:ln>
        </p:spPr>
      </p:sp>
      <p:pic>
        <p:nvPicPr>
          <p:cNvPr id="24" name="Image 4" descr="preencoded.png">    </p:cNvPr>
          <p:cNvPicPr>
            <a:picLocks noChangeAspect="1"/>
          </p:cNvPicPr>
          <p:nvPr/>
        </p:nvPicPr>
        <p:blipFill>
          <a:blip r:embed="rId5"/>
          <a:stretch>
            <a:fillRect/>
          </a:stretch>
        </p:blipFill>
        <p:spPr>
          <a:xfrm>
            <a:off x="6638544" y="3648456"/>
            <a:ext cx="329184" cy="329184"/>
          </a:xfrm>
          <a:prstGeom prst="rect">
            <a:avLst/>
          </a:prstGeom>
        </p:spPr>
      </p:pic>
      <p:sp>
        <p:nvSpPr>
          <p:cNvPr id="25" name="Text 18"/>
          <p:cNvSpPr txBox="1"/>
          <p:nvPr/>
        </p:nvSpPr>
        <p:spPr>
          <a:xfrm>
            <a:off x="7388352" y="3419856"/>
            <a:ext cx="4069080" cy="320040"/>
          </a:xfrm>
          <a:prstGeom prst="rect">
            <a:avLst/>
          </a:prstGeom>
          <a:noFill/>
          <a:ln/>
        </p:spPr>
        <p:txBody>
          <a:bodyPr wrap="square" lIns="0" tIns="0" rIns="0" bIns="0" rtlCol="0" anchor="t"/>
          <a:lstStyle/>
          <a:p>
            <a:pPr algn="l" indent="0" marL="0">
              <a:buNone/>
            </a:pPr>
            <a:r>
              <a:rPr lang="en-US" sz="1700" b="1" dirty="0">
                <a:solidFill>
                  <a:srgbClr val="131B26"/>
                </a:solidFill>
                <a:latin typeface="Arial" pitchFamily="34" charset="0"/>
                <a:ea typeface="Arial" pitchFamily="34" charset="-122"/>
                <a:cs typeface="Arial" pitchFamily="34" charset="-120"/>
              </a:rPr>
              <a:t>Payments</a:t>
            </a:r>
            <a:endParaRPr lang="en-US" sz="1700" dirty="0"/>
          </a:p>
        </p:txBody>
      </p:sp>
      <p:sp>
        <p:nvSpPr>
          <p:cNvPr id="26" name="Text 19"/>
          <p:cNvSpPr txBox="1"/>
          <p:nvPr/>
        </p:nvSpPr>
        <p:spPr>
          <a:xfrm>
            <a:off x="7388352" y="3794760"/>
            <a:ext cx="4069080" cy="54864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Integrating a gateway safely, with server-side pricing and verification.</a:t>
            </a:r>
            <a:endParaRPr lang="en-US" sz="1300" dirty="0"/>
          </a:p>
        </p:txBody>
      </p:sp>
      <p:sp>
        <p:nvSpPr>
          <p:cNvPr id="27" name="Shape 20"/>
          <p:cNvSpPr/>
          <p:nvPr/>
        </p:nvSpPr>
        <p:spPr>
          <a:xfrm>
            <a:off x="548640" y="4654296"/>
            <a:ext cx="5440680" cy="1280160"/>
          </a:xfrm>
          <a:prstGeom prst="roundRect">
            <a:avLst>
              <a:gd name="adj" fmla="val 15714"/>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28" name="Shape 21"/>
          <p:cNvSpPr/>
          <p:nvPr/>
        </p:nvSpPr>
        <p:spPr>
          <a:xfrm>
            <a:off x="822960" y="4965192"/>
            <a:ext cx="658368" cy="658368"/>
          </a:xfrm>
          <a:prstGeom prst="ellipse">
            <a:avLst/>
          </a:prstGeom>
          <a:solidFill>
            <a:srgbClr val="F7ECBE"/>
          </a:solidFill>
          <a:ln w="12700">
            <a:solidFill>
              <a:srgbClr val="F7ECBE"/>
            </a:solidFill>
            <a:prstDash val="solid"/>
          </a:ln>
        </p:spPr>
      </p:sp>
      <p:pic>
        <p:nvPicPr>
          <p:cNvPr id="29" name="Image 5" descr="preencoded.png">    </p:cNvPr>
          <p:cNvPicPr>
            <a:picLocks noChangeAspect="1"/>
          </p:cNvPicPr>
          <p:nvPr/>
        </p:nvPicPr>
        <p:blipFill>
          <a:blip r:embed="rId6"/>
          <a:stretch>
            <a:fillRect/>
          </a:stretch>
        </p:blipFill>
        <p:spPr>
          <a:xfrm>
            <a:off x="987552" y="5129784"/>
            <a:ext cx="329184" cy="329184"/>
          </a:xfrm>
          <a:prstGeom prst="rect">
            <a:avLst/>
          </a:prstGeom>
        </p:spPr>
      </p:pic>
      <p:sp>
        <p:nvSpPr>
          <p:cNvPr id="30" name="Text 22"/>
          <p:cNvSpPr txBox="1"/>
          <p:nvPr/>
        </p:nvSpPr>
        <p:spPr>
          <a:xfrm>
            <a:off x="1737360" y="4901184"/>
            <a:ext cx="4069080" cy="320040"/>
          </a:xfrm>
          <a:prstGeom prst="rect">
            <a:avLst/>
          </a:prstGeom>
          <a:noFill/>
          <a:ln/>
        </p:spPr>
        <p:txBody>
          <a:bodyPr wrap="square" lIns="0" tIns="0" rIns="0" bIns="0" rtlCol="0" anchor="t"/>
          <a:lstStyle/>
          <a:p>
            <a:pPr algn="l" indent="0" marL="0">
              <a:buNone/>
            </a:pPr>
            <a:r>
              <a:rPr lang="en-US" sz="1700" b="1" dirty="0">
                <a:solidFill>
                  <a:srgbClr val="131B26"/>
                </a:solidFill>
                <a:latin typeface="Arial" pitchFamily="34" charset="0"/>
                <a:ea typeface="Arial" pitchFamily="34" charset="-122"/>
                <a:cs typeface="Arial" pitchFamily="34" charset="-120"/>
              </a:rPr>
              <a:t>Performance</a:t>
            </a:r>
            <a:endParaRPr lang="en-US" sz="1700" dirty="0"/>
          </a:p>
        </p:txBody>
      </p:sp>
      <p:sp>
        <p:nvSpPr>
          <p:cNvPr id="31" name="Text 23"/>
          <p:cNvSpPr txBox="1"/>
          <p:nvPr/>
        </p:nvSpPr>
        <p:spPr>
          <a:xfrm>
            <a:off x="1737360" y="5276088"/>
            <a:ext cx="4069080" cy="54864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Caching, connection reuse, and resumable large-file uploads.</a:t>
            </a:r>
            <a:endParaRPr lang="en-US" sz="1300" dirty="0"/>
          </a:p>
        </p:txBody>
      </p:sp>
      <p:sp>
        <p:nvSpPr>
          <p:cNvPr id="32" name="Shape 24"/>
          <p:cNvSpPr/>
          <p:nvPr/>
        </p:nvSpPr>
        <p:spPr>
          <a:xfrm>
            <a:off x="6199632" y="4654296"/>
            <a:ext cx="5440680" cy="1280160"/>
          </a:xfrm>
          <a:prstGeom prst="roundRect">
            <a:avLst>
              <a:gd name="adj" fmla="val 15714"/>
            </a:avLst>
          </a:prstGeom>
          <a:solidFill>
            <a:srgbClr val="FFFFFF"/>
          </a:solidFill>
          <a:ln w="9525">
            <a:solidFill>
              <a:srgbClr val="DDE2E6"/>
            </a:solidFill>
            <a:prstDash val="solid"/>
          </a:ln>
          <a:effectLst>
            <a:outerShdw sx="100000" sy="100000" kx="0" ky="0" algn="bl" rotWithShape="0" blurRad="127000" dist="25400" dir="5400000">
              <a:srgbClr val="0F172A">
                <a:alpha val="9000"/>
              </a:srgbClr>
            </a:outerShdw>
          </a:effectLst>
        </p:spPr>
      </p:sp>
      <p:sp>
        <p:nvSpPr>
          <p:cNvPr id="33" name="Shape 25"/>
          <p:cNvSpPr/>
          <p:nvPr/>
        </p:nvSpPr>
        <p:spPr>
          <a:xfrm>
            <a:off x="6473952" y="4965192"/>
            <a:ext cx="658368" cy="658368"/>
          </a:xfrm>
          <a:prstGeom prst="ellipse">
            <a:avLst/>
          </a:prstGeom>
          <a:solidFill>
            <a:srgbClr val="C7EEEA"/>
          </a:solidFill>
          <a:ln w="12700">
            <a:solidFill>
              <a:srgbClr val="C7EEEA"/>
            </a:solidFill>
            <a:prstDash val="solid"/>
          </a:ln>
        </p:spPr>
      </p:sp>
      <p:pic>
        <p:nvPicPr>
          <p:cNvPr id="34" name="Image 6" descr="preencoded.png">    </p:cNvPr>
          <p:cNvPicPr>
            <a:picLocks noChangeAspect="1"/>
          </p:cNvPicPr>
          <p:nvPr/>
        </p:nvPicPr>
        <p:blipFill>
          <a:blip r:embed="rId7"/>
          <a:stretch>
            <a:fillRect/>
          </a:stretch>
        </p:blipFill>
        <p:spPr>
          <a:xfrm>
            <a:off x="6638544" y="5129784"/>
            <a:ext cx="329184" cy="329184"/>
          </a:xfrm>
          <a:prstGeom prst="rect">
            <a:avLst/>
          </a:prstGeom>
        </p:spPr>
      </p:pic>
      <p:sp>
        <p:nvSpPr>
          <p:cNvPr id="35" name="Text 26"/>
          <p:cNvSpPr txBox="1"/>
          <p:nvPr/>
        </p:nvSpPr>
        <p:spPr>
          <a:xfrm>
            <a:off x="7388352" y="4901184"/>
            <a:ext cx="4069080" cy="320040"/>
          </a:xfrm>
          <a:prstGeom prst="rect">
            <a:avLst/>
          </a:prstGeom>
          <a:noFill/>
          <a:ln/>
        </p:spPr>
        <p:txBody>
          <a:bodyPr wrap="square" lIns="0" tIns="0" rIns="0" bIns="0" rtlCol="0" anchor="t"/>
          <a:lstStyle/>
          <a:p>
            <a:pPr algn="l" indent="0" marL="0">
              <a:buNone/>
            </a:pPr>
            <a:r>
              <a:rPr lang="en-US" sz="1700" b="1" dirty="0">
                <a:solidFill>
                  <a:srgbClr val="131B26"/>
                </a:solidFill>
                <a:latin typeface="Arial" pitchFamily="34" charset="0"/>
                <a:ea typeface="Arial" pitchFamily="34" charset="-122"/>
                <a:cs typeface="Arial" pitchFamily="34" charset="-120"/>
              </a:rPr>
              <a:t>Shipping to production</a:t>
            </a:r>
            <a:endParaRPr lang="en-US" sz="1700" dirty="0"/>
          </a:p>
        </p:txBody>
      </p:sp>
      <p:sp>
        <p:nvSpPr>
          <p:cNvPr id="36" name="Text 27"/>
          <p:cNvSpPr txBox="1"/>
          <p:nvPr/>
        </p:nvSpPr>
        <p:spPr>
          <a:xfrm>
            <a:off x="7388352" y="5276088"/>
            <a:ext cx="4069080" cy="548640"/>
          </a:xfrm>
          <a:prstGeom prst="rect">
            <a:avLst/>
          </a:prstGeom>
          <a:noFill/>
          <a:ln/>
        </p:spPr>
        <p:txBody>
          <a:bodyPr wrap="square" lIns="0" tIns="0" rIns="0" bIns="0" rtlCol="0" anchor="t"/>
          <a:lstStyle/>
          <a:p>
            <a:pPr algn="l" indent="0" marL="0">
              <a:buNone/>
            </a:pPr>
            <a:r>
              <a:rPr lang="en-US" sz="1300" dirty="0">
                <a:solidFill>
                  <a:srgbClr val="606A74"/>
                </a:solidFill>
                <a:latin typeface="Calibri" pitchFamily="34" charset="0"/>
                <a:ea typeface="Calibri" pitchFamily="34" charset="-122"/>
                <a:cs typeface="Calibri" pitchFamily="34" charset="-120"/>
              </a:rPr>
              <a:t>Deploying, debugging live issues, and launching to real users.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0E14"/>
        </a:solidFill>
      </p:bgPr>
    </p:bg>
    <p:spTree>
      <p:nvGrpSpPr>
        <p:cNvPr id="1" name=""/>
        <p:cNvGrpSpPr/>
        <p:nvPr/>
      </p:nvGrpSpPr>
      <p:grpSpPr>
        <a:xfrm>
          <a:off x="0" y="0"/>
          <a:ext cx="0" cy="0"/>
          <a:chOff x="0" y="0"/>
          <a:chExt cx="0" cy="0"/>
        </a:xfrm>
      </p:grpSpPr>
      <p:sp>
        <p:nvSpPr>
          <p:cNvPr id="2" name="Shape 0"/>
          <p:cNvSpPr/>
          <p:nvPr/>
        </p:nvSpPr>
        <p:spPr>
          <a:xfrm>
            <a:off x="7589520" y="822960"/>
            <a:ext cx="4023360" cy="5212080"/>
          </a:xfrm>
          <a:prstGeom prst="roundRect">
            <a:avLst>
              <a:gd name="adj" fmla="val 9091"/>
            </a:avLst>
          </a:prstGeom>
          <a:solidFill>
            <a:srgbClr val="11161E"/>
          </a:solidFill>
          <a:ln w="9525">
            <a:solidFill>
              <a:srgbClr val="1F2A37"/>
            </a:solidFill>
            <a:prstDash val="solid"/>
          </a:ln>
        </p:spPr>
      </p:sp>
      <p:pic>
        <p:nvPicPr>
          <p:cNvPr id="3" name="Image 0" descr="photo_round.png">    </p:cNvPr>
          <p:cNvPicPr>
            <a:picLocks noChangeAspect="1"/>
          </p:cNvPicPr>
          <p:nvPr/>
        </p:nvPicPr>
        <p:blipFill>
          <a:blip r:embed="rId1"/>
          <a:stretch>
            <a:fillRect/>
          </a:stretch>
        </p:blipFill>
        <p:spPr>
          <a:xfrm>
            <a:off x="8229600" y="1188720"/>
            <a:ext cx="2743200" cy="2743200"/>
          </a:xfrm>
          <a:prstGeom prst="rect">
            <a:avLst/>
          </a:prstGeom>
        </p:spPr>
      </p:pic>
      <p:sp>
        <p:nvSpPr>
          <p:cNvPr id="4" name="Text 1"/>
          <p:cNvSpPr txBox="1"/>
          <p:nvPr/>
        </p:nvSpPr>
        <p:spPr>
          <a:xfrm>
            <a:off x="7589520" y="4114800"/>
            <a:ext cx="4023360" cy="457200"/>
          </a:xfrm>
          <a:prstGeom prst="rect">
            <a:avLst/>
          </a:prstGeom>
          <a:noFill/>
          <a:ln/>
        </p:spPr>
        <p:txBody>
          <a:bodyPr wrap="square" lIns="0" tIns="0" rIns="0" bIns="0" rtlCol="0" anchor="t"/>
          <a:lstStyle/>
          <a:p>
            <a:pPr algn="ctr" indent="0" marL="0">
              <a:buNone/>
            </a:pPr>
            <a:r>
              <a:rPr lang="en-US" sz="2600" b="1" dirty="0">
                <a:solidFill>
                  <a:srgbClr val="ECEFF2"/>
                </a:solidFill>
                <a:latin typeface="Arial" pitchFamily="34" charset="0"/>
                <a:ea typeface="Arial" pitchFamily="34" charset="-122"/>
                <a:cs typeface="Arial" pitchFamily="34" charset="-120"/>
              </a:rPr>
              <a:t>Vishal</a:t>
            </a:r>
            <a:endParaRPr lang="en-US" sz="2600" dirty="0"/>
          </a:p>
        </p:txBody>
      </p:sp>
      <p:sp>
        <p:nvSpPr>
          <p:cNvPr id="5" name="Text 2"/>
          <p:cNvSpPr txBox="1"/>
          <p:nvPr/>
        </p:nvSpPr>
        <p:spPr>
          <a:xfrm>
            <a:off x="7589520" y="4617720"/>
            <a:ext cx="4023360" cy="320040"/>
          </a:xfrm>
          <a:prstGeom prst="rect">
            <a:avLst/>
          </a:prstGeom>
          <a:noFill/>
          <a:ln/>
        </p:spPr>
        <p:txBody>
          <a:bodyPr wrap="square" lIns="0" tIns="0" rIns="0" bIns="0" rtlCol="0" anchor="t"/>
          <a:lstStyle/>
          <a:p>
            <a:pPr algn="ctr" indent="0" marL="0">
              <a:buNone/>
            </a:pPr>
            <a:r>
              <a:rPr lang="en-US" sz="1500" b="1" dirty="0">
                <a:solidFill>
                  <a:srgbClr val="499FE3"/>
                </a:solidFill>
                <a:latin typeface="Calibri" pitchFamily="34" charset="0"/>
                <a:ea typeface="Calibri" pitchFamily="34" charset="-122"/>
                <a:cs typeface="Calibri" pitchFamily="34" charset="-120"/>
              </a:rPr>
              <a:t>Core Full Stack Developer</a:t>
            </a:r>
            <a:endParaRPr lang="en-US" sz="1500" dirty="0"/>
          </a:p>
        </p:txBody>
      </p:sp>
      <p:sp>
        <p:nvSpPr>
          <p:cNvPr id="6" name="Text 3"/>
          <p:cNvSpPr txBox="1"/>
          <p:nvPr/>
        </p:nvSpPr>
        <p:spPr>
          <a:xfrm>
            <a:off x="7589520" y="5029200"/>
            <a:ext cx="4023360" cy="320040"/>
          </a:xfrm>
          <a:prstGeom prst="rect">
            <a:avLst/>
          </a:prstGeom>
          <a:noFill/>
          <a:ln/>
        </p:spPr>
        <p:txBody>
          <a:bodyPr wrap="square" lIns="0" tIns="0" rIns="0" bIns="0" rtlCol="0" anchor="t"/>
          <a:lstStyle/>
          <a:p>
            <a:pPr algn="ctr" indent="0" marL="0">
              <a:buNone/>
            </a:pPr>
            <a:r>
              <a:rPr lang="en-US" sz="1400" dirty="0">
                <a:solidFill>
                  <a:srgbClr val="85919B"/>
                </a:solidFill>
                <a:latin typeface="Calibri" pitchFamily="34" charset="0"/>
                <a:ea typeface="Calibri" pitchFamily="34" charset="-122"/>
                <a:cs typeface="Calibri" pitchFamily="34" charset="-120"/>
              </a:rPr>
              <a:t>Edurack</a:t>
            </a:r>
            <a:endParaRPr lang="en-US" sz="1400" dirty="0"/>
          </a:p>
        </p:txBody>
      </p:sp>
      <p:pic>
        <p:nvPicPr>
          <p:cNvPr id="7" name="Image 1" descr="logo2x.png">    </p:cNvPr>
          <p:cNvPicPr>
            <a:picLocks noChangeAspect="1"/>
          </p:cNvPicPr>
          <p:nvPr/>
        </p:nvPicPr>
        <p:blipFill>
          <a:blip r:embed="rId2"/>
          <a:stretch>
            <a:fillRect/>
          </a:stretch>
        </p:blipFill>
        <p:spPr>
          <a:xfrm>
            <a:off x="548640" y="914400"/>
            <a:ext cx="822960" cy="932688"/>
          </a:xfrm>
          <a:prstGeom prst="rect">
            <a:avLst/>
          </a:prstGeom>
        </p:spPr>
      </p:pic>
      <p:sp>
        <p:nvSpPr>
          <p:cNvPr id="8" name="Text 4"/>
          <p:cNvSpPr txBox="1"/>
          <p:nvPr/>
        </p:nvSpPr>
        <p:spPr>
          <a:xfrm>
            <a:off x="548640" y="2194560"/>
            <a:ext cx="6766560" cy="914400"/>
          </a:xfrm>
          <a:prstGeom prst="rect">
            <a:avLst/>
          </a:prstGeom>
          <a:noFill/>
          <a:ln/>
        </p:spPr>
        <p:txBody>
          <a:bodyPr wrap="square" lIns="0" tIns="0" rIns="0" bIns="0" rtlCol="0" anchor="t"/>
          <a:lstStyle/>
          <a:p>
            <a:pPr algn="l" indent="0" marL="0">
              <a:buNone/>
            </a:pPr>
            <a:r>
              <a:rPr lang="en-US" sz="6000" b="1" dirty="0">
                <a:solidFill>
                  <a:srgbClr val="ECEFF2"/>
                </a:solidFill>
                <a:latin typeface="Arial" pitchFamily="34" charset="0"/>
                <a:ea typeface="Arial" pitchFamily="34" charset="-122"/>
                <a:cs typeface="Arial" pitchFamily="34" charset="-120"/>
              </a:rPr>
              <a:t>Thank you</a:t>
            </a:r>
            <a:endParaRPr lang="en-US" sz="6000" dirty="0"/>
          </a:p>
        </p:txBody>
      </p:sp>
      <p:sp>
        <p:nvSpPr>
          <p:cNvPr id="9" name="Text 5"/>
          <p:cNvSpPr txBox="1"/>
          <p:nvPr/>
        </p:nvSpPr>
        <p:spPr>
          <a:xfrm>
            <a:off x="548640" y="3246120"/>
            <a:ext cx="6583680" cy="731520"/>
          </a:xfrm>
          <a:prstGeom prst="rect">
            <a:avLst/>
          </a:prstGeom>
          <a:noFill/>
          <a:ln/>
        </p:spPr>
        <p:txBody>
          <a:bodyPr wrap="square" lIns="0" tIns="0" rIns="0" bIns="0" rtlCol="0" anchor="t"/>
          <a:lstStyle/>
          <a:p>
            <a:pPr algn="l" indent="0" marL="0">
              <a:buNone/>
            </a:pPr>
            <a:r>
              <a:rPr lang="en-US" sz="2200" dirty="0">
                <a:solidFill>
                  <a:srgbClr val="85919B"/>
                </a:solidFill>
                <a:latin typeface="Calibri" pitchFamily="34" charset="0"/>
                <a:ea typeface="Calibri" pitchFamily="34" charset="-122"/>
                <a:cs typeface="Calibri" pitchFamily="34" charset="-120"/>
              </a:rPr>
              <a:t>Edurack is live in production.</a:t>
            </a:r>
            <a:endParaRPr lang="en-US" sz="2200" dirty="0"/>
          </a:p>
        </p:txBody>
      </p:sp>
      <p:sp>
        <p:nvSpPr>
          <p:cNvPr id="10" name="Shape 6"/>
          <p:cNvSpPr/>
          <p:nvPr/>
        </p:nvSpPr>
        <p:spPr>
          <a:xfrm>
            <a:off x="548640" y="4343400"/>
            <a:ext cx="4754880" cy="822960"/>
          </a:xfrm>
          <a:prstGeom prst="roundRect">
            <a:avLst>
              <a:gd name="adj" fmla="val 50000"/>
            </a:avLst>
          </a:prstGeom>
          <a:solidFill>
            <a:srgbClr val="1A2B39"/>
          </a:solidFill>
          <a:ln w="9525">
            <a:solidFill>
              <a:srgbClr val="1A2B39"/>
            </a:solidFill>
            <a:prstDash val="solid"/>
          </a:ln>
        </p:spPr>
      </p:sp>
      <p:sp>
        <p:nvSpPr>
          <p:cNvPr id="11" name="Shape 7"/>
          <p:cNvSpPr/>
          <p:nvPr/>
        </p:nvSpPr>
        <p:spPr>
          <a:xfrm>
            <a:off x="749808" y="4526280"/>
            <a:ext cx="457200" cy="457200"/>
          </a:xfrm>
          <a:prstGeom prst="ellipse">
            <a:avLst/>
          </a:prstGeom>
          <a:solidFill>
            <a:srgbClr val="090E14"/>
          </a:solidFill>
          <a:ln w="12700">
            <a:solidFill>
              <a:srgbClr val="090E14"/>
            </a:solidFill>
            <a:prstDash val="solid"/>
          </a:ln>
        </p:spPr>
      </p:sp>
      <p:pic>
        <p:nvPicPr>
          <p:cNvPr id="12" name="Image 2" descr="preencoded.png">    </p:cNvPr>
          <p:cNvPicPr>
            <a:picLocks noChangeAspect="1"/>
          </p:cNvPicPr>
          <p:nvPr/>
        </p:nvPicPr>
        <p:blipFill>
          <a:blip r:embed="rId3"/>
          <a:stretch>
            <a:fillRect/>
          </a:stretch>
        </p:blipFill>
        <p:spPr>
          <a:xfrm>
            <a:off x="864108" y="4640580"/>
            <a:ext cx="228600" cy="228600"/>
          </a:xfrm>
          <a:prstGeom prst="rect">
            <a:avLst/>
          </a:prstGeom>
        </p:spPr>
      </p:pic>
      <p:sp>
        <p:nvSpPr>
          <p:cNvPr id="13" name="Text 8"/>
          <p:cNvSpPr txBox="1"/>
          <p:nvPr/>
        </p:nvSpPr>
        <p:spPr>
          <a:xfrm>
            <a:off x="1417320" y="4343400"/>
            <a:ext cx="3657600" cy="822960"/>
          </a:xfrm>
          <a:prstGeom prst="rect">
            <a:avLst/>
          </a:prstGeom>
          <a:noFill/>
          <a:ln/>
        </p:spPr>
        <p:txBody>
          <a:bodyPr wrap="square" lIns="0" tIns="0" rIns="0" bIns="0" rtlCol="0" anchor="ctr"/>
          <a:lstStyle/>
          <a:p>
            <a:pPr algn="l" indent="0" marL="0">
              <a:buNone/>
            </a:pPr>
            <a:r>
              <a:rPr lang="en-US" sz="2200" b="1" dirty="0">
                <a:solidFill>
                  <a:srgbClr val="ECEFF2"/>
                </a:solidFill>
                <a:latin typeface="Arial" pitchFamily="34" charset="0"/>
                <a:ea typeface="Arial" pitchFamily="34" charset="-122"/>
                <a:cs typeface="Arial" pitchFamily="34" charset="-120"/>
              </a:rPr>
              <a:t>www.edurack.in</a:t>
            </a:r>
            <a:endParaRPr lang="en-US" sz="2200" dirty="0"/>
          </a:p>
        </p:txBody>
      </p:sp>
      <p:sp>
        <p:nvSpPr>
          <p:cNvPr id="14" name="Text 9"/>
          <p:cNvSpPr txBox="1"/>
          <p:nvPr/>
        </p:nvSpPr>
        <p:spPr>
          <a:xfrm>
            <a:off x="548640" y="5532120"/>
            <a:ext cx="4572000" cy="365760"/>
          </a:xfrm>
          <a:prstGeom prst="rect">
            <a:avLst/>
          </a:prstGeom>
          <a:noFill/>
          <a:ln/>
        </p:spPr>
        <p:txBody>
          <a:bodyPr wrap="square" lIns="0" tIns="0" rIns="0" bIns="0" rtlCol="0" anchor="t"/>
          <a:lstStyle/>
          <a:p>
            <a:pPr algn="l" indent="0" marL="0">
              <a:buNone/>
            </a:pPr>
            <a:r>
              <a:rPr lang="en-US" sz="1600" dirty="0">
                <a:solidFill>
                  <a:srgbClr val="85919B"/>
                </a:solidFill>
                <a:latin typeface="Calibri" pitchFamily="34" charset="0"/>
                <a:ea typeface="Calibri" pitchFamily="34" charset="-122"/>
                <a:cs typeface="Calibri" pitchFamily="34" charset="-120"/>
              </a:rPr>
              <a:t>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Edurack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Edurack – Project Internship Presentation</dc:title>
  <dc:subject>PptxGenJS Presentation</dc:subject>
  <dc:creator>Vishal</dc:creator>
  <cp:lastModifiedBy>Vishal</cp:lastModifiedBy>
  <cp:revision>1</cp:revision>
  <dcterms:created xsi:type="dcterms:W3CDTF">2026-09-20T06:17:11Z</dcterms:created>
  <dcterms:modified xsi:type="dcterms:W3CDTF">2026-09-20T06:17:11Z</dcterms:modified>
</cp:coreProperties>
</file>